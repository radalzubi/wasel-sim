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9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280160"/>
            <a:ext cx="4114800" cy="4114800"/>
          </a:xfrm>
          <a:prstGeom prst="ellipse">
            <a:avLst/>
          </a:prstGeom>
          <a:solidFill>
            <a:srgbClr val="111D3A"/>
          </a:solidFill>
          <a:ln w="19050">
            <a:solidFill>
              <a:srgbClr val="C9A4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3291840"/>
            <a:ext cx="1828800" cy="1828800"/>
          </a:xfrm>
          <a:prstGeom prst="ellipse">
            <a:avLst/>
          </a:prstGeom>
          <a:solidFill>
            <a:srgbClr val="172244"/>
          </a:solidFill>
          <a:ln w="12700">
            <a:solidFill>
              <a:srgbClr val="C9A44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40080"/>
            <a:ext cx="82296" cy="3840480"/>
          </a:xfrm>
          <a:prstGeom prst="rect">
            <a:avLst/>
          </a:prstGeom>
          <a:solidFill>
            <a:srgbClr val="C9A441"/>
          </a:solidFill>
          <a:ln w="12700">
            <a:solidFill>
              <a:srgbClr val="C9A4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502920"/>
            <a:ext cx="6858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3A5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وصل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914400" y="54864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WASEL</a:t>
            </a:r>
            <a:endParaRPr lang="en-US" sz="6200" dirty="0"/>
          </a:p>
        </p:txBody>
      </p:sp>
      <p:sp>
        <p:nvSpPr>
          <p:cNvPr id="7" name="Shape 5"/>
          <p:cNvSpPr/>
          <p:nvPr/>
        </p:nvSpPr>
        <p:spPr>
          <a:xfrm>
            <a:off x="914400" y="1572768"/>
            <a:ext cx="3657600" cy="41148"/>
          </a:xfrm>
          <a:prstGeom prst="rect">
            <a:avLst/>
          </a:prstGeom>
          <a:solidFill>
            <a:srgbClr val="C9A441"/>
          </a:solidFill>
          <a:ln w="12700">
            <a:solidFill>
              <a:srgbClr val="C9A4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71907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Jordan's First Subscription-Based Ride-Hailing Platform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224028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 move Jordan forward — fairly."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2715768"/>
            <a:ext cx="5029200" cy="22860"/>
          </a:xfrm>
          <a:prstGeom prst="rect">
            <a:avLst/>
          </a:prstGeom>
          <a:solidFill>
            <a:srgbClr val="2E4170"/>
          </a:solidFill>
          <a:ln w="12700">
            <a:solidFill>
              <a:srgbClr val="2E41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85292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441"/>
                </a:solidFill>
              </a:rPr>
              <a:t>SEED ROUND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JD 472,000  (~$665K USD)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32004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94A8"/>
                </a:solidFill>
              </a:rPr>
              <a:t>PRESENTED TO  </a:t>
            </a:r>
            <a:pPr indent="0" marL="0">
              <a:buNone/>
            </a:pPr>
            <a:r>
              <a:rPr lang="en-US" sz="1100" dirty="0">
                <a:solidFill>
                  <a:srgbClr val="A8B8D8"/>
                </a:solidFill>
              </a:rPr>
              <a:t>Hussam Khoury  ·  President, Jabbar Internet Group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35204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  ·  Confidential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14400" y="4663440"/>
            <a:ext cx="91440" cy="91440"/>
          </a:xfrm>
          <a:prstGeom prst="ellipse">
            <a:avLst/>
          </a:prstGeom>
          <a:solidFill>
            <a:srgbClr val="C9A441"/>
          </a:solidFill>
          <a:ln w="12700">
            <a:solidFill>
              <a:srgbClr val="C9A44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15568" y="4663440"/>
            <a:ext cx="91440" cy="91440"/>
          </a:xfrm>
          <a:prstGeom prst="ellipse">
            <a:avLst/>
          </a:prstGeom>
          <a:solidFill>
            <a:srgbClr val="2E4170"/>
          </a:solidFill>
          <a:ln w="12700">
            <a:solidFill>
              <a:srgbClr val="2E417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16736" y="4663440"/>
            <a:ext cx="91440" cy="91440"/>
          </a:xfrm>
          <a:prstGeom prst="ellipse">
            <a:avLst/>
          </a:prstGeom>
          <a:solidFill>
            <a:srgbClr val="2E4170"/>
          </a:solidFill>
          <a:ln w="12700">
            <a:solidFill>
              <a:srgbClr val="2E417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17904" y="4663440"/>
            <a:ext cx="91440" cy="91440"/>
          </a:xfrm>
          <a:prstGeom prst="ellipse">
            <a:avLst/>
          </a:prstGeom>
          <a:solidFill>
            <a:srgbClr val="2E4170"/>
          </a:solidFill>
          <a:ln w="12700">
            <a:solidFill>
              <a:srgbClr val="2E41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19072" y="4663440"/>
            <a:ext cx="91440" cy="91440"/>
          </a:xfrm>
          <a:prstGeom prst="ellipse">
            <a:avLst/>
          </a:prstGeom>
          <a:solidFill>
            <a:srgbClr val="2E4170"/>
          </a:solidFill>
          <a:ln w="12700">
            <a:solidFill>
              <a:srgbClr val="2E417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20240" y="4663440"/>
            <a:ext cx="91440" cy="91440"/>
          </a:xfrm>
          <a:prstGeom prst="ellipse">
            <a:avLst/>
          </a:prstGeom>
          <a:solidFill>
            <a:srgbClr val="2E4170"/>
          </a:solidFill>
          <a:ln w="12700">
            <a:solidFill>
              <a:srgbClr val="2E417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21408" y="4663440"/>
            <a:ext cx="91440" cy="91440"/>
          </a:xfrm>
          <a:prstGeom prst="ellipse">
            <a:avLst/>
          </a:prstGeom>
          <a:solidFill>
            <a:srgbClr val="2E4170"/>
          </a:solidFill>
          <a:ln w="12700">
            <a:solidFill>
              <a:srgbClr val="2E417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22576" y="4663440"/>
            <a:ext cx="91440" cy="91440"/>
          </a:xfrm>
          <a:prstGeom prst="ellipse">
            <a:avLst/>
          </a:prstGeom>
          <a:solidFill>
            <a:srgbClr val="2E4170"/>
          </a:solidFill>
          <a:ln w="12700">
            <a:solidFill>
              <a:srgbClr val="2E417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23744" y="4663440"/>
            <a:ext cx="91440" cy="91440"/>
          </a:xfrm>
          <a:prstGeom prst="ellipse">
            <a:avLst/>
          </a:prstGeom>
          <a:solidFill>
            <a:srgbClr val="2E4170"/>
          </a:solidFill>
          <a:ln w="12700">
            <a:solidFill>
              <a:srgbClr val="2E41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24912" y="4663440"/>
            <a:ext cx="91440" cy="91440"/>
          </a:xfrm>
          <a:prstGeom prst="ellipse">
            <a:avLst/>
          </a:prstGeom>
          <a:solidFill>
            <a:srgbClr val="2E4170"/>
          </a:solidFill>
          <a:ln w="12700">
            <a:solidFill>
              <a:srgbClr val="2E417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26080" y="4663440"/>
            <a:ext cx="91440" cy="91440"/>
          </a:xfrm>
          <a:prstGeom prst="ellipse">
            <a:avLst/>
          </a:prstGeom>
          <a:solidFill>
            <a:srgbClr val="2E4170"/>
          </a:solidFill>
          <a:ln w="12700">
            <a:solidFill>
              <a:srgbClr val="2E417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127248" y="4663440"/>
            <a:ext cx="91440" cy="91440"/>
          </a:xfrm>
          <a:prstGeom prst="ellipse">
            <a:avLst/>
          </a:prstGeom>
          <a:solidFill>
            <a:srgbClr val="2E4170"/>
          </a:solidFill>
          <a:ln w="12700">
            <a:solidFill>
              <a:srgbClr val="2E417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64008" cy="640080"/>
          </a:xfrm>
          <a:prstGeom prst="rect">
            <a:avLst/>
          </a:prstGeom>
          <a:solidFill>
            <a:srgbClr val="C9A441"/>
          </a:solidFill>
          <a:ln w="12700">
            <a:solidFill>
              <a:srgbClr val="C9A4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 takes 30% of every fare. Every trip. Every driver. Forever.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8321040" cy="22860"/>
          </a:xfrm>
          <a:prstGeom prst="rect">
            <a:avLst/>
          </a:prstGeom>
          <a:solidFill>
            <a:srgbClr val="E8ECF2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92624"/>
            <a:ext cx="7315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8"/>
                </a:solidFill>
              </a:rPr>
              <a:t>WASEL  ·  Confidential  ·  Seed Round 2026</a:t>
            </a:r>
            <a:pPr indent="0" marL="0">
              <a:buNone/>
            </a:pPr>
            <a:r>
              <a:rPr lang="en-US" sz="800" dirty="0">
                <a:solidFill>
                  <a:srgbClr val="C9A441"/>
                </a:solidFill>
              </a:rPr>
              <a:t>   |   02 / Problem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858000" y="4992624"/>
            <a:ext cx="1920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4A8"/>
                </a:solidFill>
              </a:rPr>
              <a:t>wg1 / Husam Khoury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11480" y="1143000"/>
            <a:ext cx="3931920" cy="3611880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132588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C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 2.88M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502920" y="233172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from Jordanian drivers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single month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3017520"/>
            <a:ext cx="3200400" cy="22860"/>
          </a:xfrm>
          <a:prstGeom prst="rect">
            <a:avLst/>
          </a:prstGeom>
          <a:solidFill>
            <a:srgbClr val="2E4170"/>
          </a:solidFill>
          <a:ln w="12700">
            <a:solidFill>
              <a:srgbClr val="2E41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1272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C96A"/>
                </a:solidFill>
              </a:rPr>
              <a:t>11,600 </a:t>
            </a:r>
            <a:pPr algn="ctr" indent="0" marL="0">
              <a:buNone/>
            </a:pPr>
            <a:r>
              <a:rPr lang="en-US" sz="1100" dirty="0">
                <a:solidFill>
                  <a:srgbClr val="A8B8D8"/>
                </a:solidFill>
              </a:rPr>
              <a:t>licensed drivers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3429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C96A"/>
                </a:solidFill>
              </a:rPr>
              <a:t>×  JD 248/month </a:t>
            </a:r>
            <a:pPr algn="ctr" indent="0" marL="0">
              <a:buNone/>
            </a:pPr>
            <a:r>
              <a:rPr lang="en-US" sz="1100" dirty="0">
                <a:solidFill>
                  <a:srgbClr val="A8B8D8"/>
                </a:solidFill>
              </a:rPr>
              <a:t>lost to commission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749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8D8"/>
                </a:solidFill>
              </a:rPr>
              <a:t>By </a:t>
            </a:r>
            <a:pPr algn="ctr" indent="0" marL="0">
              <a:buNone/>
            </a:pPr>
            <a:r>
              <a:rPr lang="en-US" sz="1000" b="1" dirty="0">
                <a:solidFill>
                  <a:srgbClr val="C9A441"/>
                </a:solidFill>
              </a:rPr>
              <a:t>two foreign multinationals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44348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LTRC Jordan, Dec 2024 · Author calculation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617720" y="1170432"/>
            <a:ext cx="411480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17720" y="1170432"/>
            <a:ext cx="50292" cy="10241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82312" y="1261872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DRIVER:  30% extracted per trip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782312" y="1554480"/>
            <a:ext cx="3822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trips/day on Uber → JD 12.70 net. Same driver on Wasel → JD 21.33 net. The gap: JD 248/month, JD 2,976/year.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17720" y="2340864"/>
            <a:ext cx="411480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17720" y="2340864"/>
            <a:ext cx="50292" cy="102412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2432304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RIDER:  Surge with no warning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782312" y="2724912"/>
            <a:ext cx="3822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Fares spike 1.5–3× at rush hour and rain — the exact moments riders need the service. Price shown after commitment.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17720" y="3511296"/>
            <a:ext cx="411480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17720" y="3511296"/>
            <a:ext cx="50292" cy="10241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82312" y="3602736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MARKET:  Zero Jordanian ownership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782312" y="3895344"/>
            <a:ext cx="3822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Jordan's licensed ride-hailing is foreign-owned. Uber's Sept 2025 Israeli drone investment triggered active boycott. No local alternative exists.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64008" cy="640080"/>
          </a:xfrm>
          <a:prstGeom prst="rect">
            <a:avLst/>
          </a:prstGeom>
          <a:solidFill>
            <a:srgbClr val="C9A441"/>
          </a:solidFill>
          <a:ln w="12700">
            <a:solidFill>
              <a:srgbClr val="C9A4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flat fee. Both sides pay. Revenue decoupled from trip volume.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8321040" cy="22860"/>
          </a:xfrm>
          <a:prstGeom prst="rect">
            <a:avLst/>
          </a:prstGeom>
          <a:solidFill>
            <a:srgbClr val="E8ECF2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92624"/>
            <a:ext cx="7315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8"/>
                </a:solidFill>
              </a:rPr>
              <a:t>WASEL  ·  Confidential  ·  Seed Round 2026</a:t>
            </a:r>
            <a:pPr indent="0" marL="0">
              <a:buNone/>
            </a:pPr>
            <a:r>
              <a:rPr lang="en-US" sz="800" dirty="0">
                <a:solidFill>
                  <a:srgbClr val="C9A441"/>
                </a:solidFill>
              </a:rPr>
              <a:t>   |   03 / Solution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858000" y="4992624"/>
            <a:ext cx="1920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4A8"/>
                </a:solidFill>
              </a:rPr>
              <a:t>wg1 / Husam Khoury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370832" y="1143000"/>
            <a:ext cx="36576" cy="3566160"/>
          </a:xfrm>
          <a:prstGeom prst="rect">
            <a:avLst/>
          </a:prstGeom>
          <a:solidFill>
            <a:srgbClr val="E8ECF2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920" y="2331720"/>
            <a:ext cx="914400" cy="914400"/>
          </a:xfrm>
          <a:prstGeom prst="ellipse">
            <a:avLst/>
          </a:prstGeom>
          <a:solidFill>
            <a:srgbClr val="1C2951"/>
          </a:solidFill>
          <a:ln w="25400">
            <a:solidFill>
              <a:srgbClr val="C9A4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0" y="248716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وصل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11480" y="117043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 DRIVER SIDE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1600200"/>
            <a:ext cx="35204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1600200"/>
            <a:ext cx="50292" cy="868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16733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951"/>
                </a:solidFill>
              </a:rPr>
              <a:t>STANDARD  </a:t>
            </a:r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</a:rPr>
              <a:t>JD 20 / mo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" y="194767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trips · Keep 100% of fares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66928" y="21671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+JD 123/mo net vs Uber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2606040"/>
            <a:ext cx="35204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2606040"/>
            <a:ext cx="50292" cy="868680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26791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951"/>
                </a:solidFill>
              </a:rPr>
              <a:t>PLUS  </a:t>
            </a:r>
            <a:pPr indent="0" marL="0">
              <a:buNone/>
            </a:pPr>
            <a:r>
              <a:rPr lang="en-US" sz="1200" b="1" dirty="0">
                <a:solidFill>
                  <a:srgbClr val="1C2951"/>
                </a:solidFill>
              </a:rPr>
              <a:t>JD 35 / mo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6928" y="295351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dispatch · Earnings report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66928" y="317296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+JD 178/mo net vs Uber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11480" y="3611880"/>
            <a:ext cx="35204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11480" y="3611880"/>
            <a:ext cx="50292" cy="868680"/>
          </a:xfrm>
          <a:prstGeom prst="rect">
            <a:avLst/>
          </a:prstGeom>
          <a:solidFill>
            <a:srgbClr val="C9A441"/>
          </a:solidFill>
          <a:ln w="12700">
            <a:solidFill>
              <a:srgbClr val="C9A44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36850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951"/>
                </a:solidFill>
              </a:rPr>
              <a:t>PRO  </a:t>
            </a:r>
            <a:pPr indent="0" marL="0">
              <a:buNone/>
            </a:pPr>
            <a:r>
              <a:rPr lang="en-US" sz="1200" b="1" dirty="0">
                <a:solidFill>
                  <a:srgbClr val="C9A441"/>
                </a:solidFill>
              </a:rPr>
              <a:t>JD 55 / mo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6928" y="39593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 + corporate priority · Pro badge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66928" y="417880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+JD 248/mo net vs Uber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00600" y="11704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RIDER SIDE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800600" y="1600200"/>
            <a:ext cx="3840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1600200"/>
            <a:ext cx="50292" cy="868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56048" y="16733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951"/>
                </a:solidFill>
              </a:rPr>
              <a:t>WASEL GO  </a:t>
            </a:r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</a:rPr>
              <a:t>JD 5 / mo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56048" y="194767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free ride/week · Standard dispatch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956048" y="216712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Entry-level — 55% of subscriber mix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00600" y="2606040"/>
            <a:ext cx="3840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00600" y="2606040"/>
            <a:ext cx="50292" cy="868680"/>
          </a:xfrm>
          <a:prstGeom prst="rect">
            <a:avLst/>
          </a:prstGeom>
          <a:solidFill>
            <a:srgbClr val="C9A441"/>
          </a:solidFill>
          <a:ln w="12700">
            <a:solidFill>
              <a:srgbClr val="C9A44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56048" y="26791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951"/>
                </a:solidFill>
              </a:rPr>
              <a:t>WASEL PASS  </a:t>
            </a:r>
            <a:pPr indent="0" marL="0">
              <a:buNone/>
            </a:pPr>
            <a:r>
              <a:rPr lang="en-US" sz="1200" b="1" dirty="0">
                <a:solidFill>
                  <a:srgbClr val="C9A441"/>
                </a:solidFill>
              </a:rPr>
              <a:t>JD 10 / mo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956048" y="295351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 cap · Preferred driver · Price lock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956048" y="31729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 — 35% of subscriber mix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800600" y="3611880"/>
            <a:ext cx="3840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00600" y="3611880"/>
            <a:ext cx="50292" cy="868680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56048" y="36850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951"/>
                </a:solidFill>
              </a:rPr>
              <a:t>BUSINESS  </a:t>
            </a:r>
            <a:pPr indent="0" marL="0">
              <a:buNone/>
            </a:pPr>
            <a:r>
              <a:rPr lang="en-US" sz="1200" b="1" dirty="0">
                <a:solidFill>
                  <a:srgbClr val="1C2951"/>
                </a:solidFill>
              </a:rPr>
              <a:t>JD 25 / mo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956048" y="395935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Invoiced billing · Priority · Dashboard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956048" y="417880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accounts — 10% of mix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11480" y="4572000"/>
            <a:ext cx="8321040" cy="274320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45902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441"/>
                </a:solidFill>
              </a:rPr>
              <a:t>BLENDED DRIVER ARPU  </a:t>
            </a:r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JD 33/mo   </a:t>
            </a:r>
            <a:pPr algn="ctr" indent="0" marL="0">
              <a:buNone/>
            </a:pPr>
            <a:r>
              <a:rPr lang="en-US" sz="1000" dirty="0">
                <a:solidFill>
                  <a:srgbClr val="8A94A8"/>
                </a:solidFill>
              </a:rPr>
              <a:t>  ·  </a:t>
            </a:r>
            <a:pPr algn="ctr" indent="0" marL="0">
              <a:buNone/>
            </a:pPr>
            <a:r>
              <a:rPr lang="en-US" sz="1000" b="1" dirty="0">
                <a:solidFill>
                  <a:srgbClr val="C9A441"/>
                </a:solidFill>
              </a:rPr>
              <a:t>  RIDER ARPU  </a:t>
            </a:r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JD 8.75/mo   </a:t>
            </a:r>
            <a:pPr algn="ctr" indent="0" marL="0">
              <a:buNone/>
            </a:pPr>
            <a:r>
              <a:rPr lang="en-US" sz="1000" dirty="0">
                <a:solidFill>
                  <a:srgbClr val="8A94A8"/>
                </a:solidFill>
              </a:rPr>
              <a:t>  ·  </a:t>
            </a:r>
            <a:pPr algn="ctr" indent="0" marL="0">
              <a:buNone/>
            </a:pPr>
            <a:r>
              <a:rPr lang="en-US" sz="1000" b="1" dirty="0">
                <a:solidFill>
                  <a:srgbClr val="C9A441"/>
                </a:solidFill>
              </a:rPr>
              <a:t>  YEAR 1 REVENUE  </a:t>
            </a:r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JD 284,000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64008" cy="640080"/>
          </a:xfrm>
          <a:prstGeom prst="rect">
            <a:avLst/>
          </a:prstGeom>
          <a:solidFill>
            <a:srgbClr val="C9A441"/>
          </a:solidFill>
          <a:ln w="12700">
            <a:solidFill>
              <a:srgbClr val="C9A4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GCC. The other Arab world — bigger, underserved, and ours.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8321040" cy="22860"/>
          </a:xfrm>
          <a:prstGeom prst="rect">
            <a:avLst/>
          </a:prstGeom>
          <a:solidFill>
            <a:srgbClr val="E8ECF2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92624"/>
            <a:ext cx="7315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8"/>
                </a:solidFill>
              </a:rPr>
              <a:t>WASEL  ·  Confidential  ·  Seed Round 2026</a:t>
            </a:r>
            <a:pPr indent="0" marL="0">
              <a:buNone/>
            </a:pPr>
            <a:r>
              <a:rPr lang="en-US" sz="800" dirty="0">
                <a:solidFill>
                  <a:srgbClr val="C9A441"/>
                </a:solidFill>
              </a:rPr>
              <a:t>   |   04 / Market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858000" y="4992624"/>
            <a:ext cx="1920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4A8"/>
                </a:solidFill>
              </a:rPr>
              <a:t>wg1 / Husam Khoury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65760" y="1188720"/>
            <a:ext cx="4023360" cy="868680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" y="12801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122529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$78M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75488" y="1673352"/>
            <a:ext cx="3803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subscription pool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5488" y="1847088"/>
            <a:ext cx="3803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Jordan + Iraq + Egypt at full penetration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77240" y="2212848"/>
            <a:ext cx="3200400" cy="868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86968" y="23042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54480" y="224942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$23M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886968" y="2697480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Reachable licensed markets Y1–Y3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86968" y="2871216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Jordan + Iraq launch markets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188720" y="3236976"/>
            <a:ext cx="2377440" cy="868680"/>
          </a:xfrm>
          <a:prstGeom prst="rect">
            <a:avLst/>
          </a:prstGeom>
          <a:solidFill>
            <a:srgbClr val="C9A441"/>
          </a:solidFill>
          <a:ln w="12700">
            <a:solidFill>
              <a:srgbClr val="C9A44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298448" y="3328416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965960" y="327355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$9.2M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1298448" y="3721608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5 projection, 8 cities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298448" y="3895344"/>
            <a:ext cx="2157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13,966 drivers — 11.8% penetration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754880" y="114300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CONTEXT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1481328"/>
            <a:ext cx="39776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1481328"/>
            <a:ext cx="50292" cy="685800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9472" y="15544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$4.29B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035040" y="15544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 ride-hailing 2023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919472" y="186537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$12.4B by 2032 at 13.4% CAGR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919472" y="2039112"/>
            <a:ext cx="3566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Astute Analytica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754880" y="2286000"/>
            <a:ext cx="39776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2286000"/>
            <a:ext cx="50292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19472" y="235915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$75M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035040" y="23591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Jordan market by 2029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919472" y="267004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5.22% CAGR — Wasel's beachhead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919472" y="2843784"/>
            <a:ext cx="3566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Statista 2025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754880" y="3090672"/>
            <a:ext cx="39776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54880" y="3090672"/>
            <a:ext cx="50292" cy="685800"/>
          </a:xfrm>
          <a:prstGeom prst="rect">
            <a:avLst/>
          </a:prstGeom>
          <a:solidFill>
            <a:srgbClr val="C9A441"/>
          </a:solidFill>
          <a:ln w="12700">
            <a:solidFill>
              <a:srgbClr val="C9A44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19472" y="31638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$2.19B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6035040" y="316382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Non-GCC MENA GTV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919472" y="34747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Wasel's arena — highest commission pain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919472" y="3648456"/>
            <a:ext cx="3566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Derived multi-source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754880" y="3895344"/>
            <a:ext cx="39776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754880" y="3895344"/>
            <a:ext cx="50292" cy="6858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19472" y="396849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6035040" y="396849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local brands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919472" y="42793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category is owned by multinationals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919472" y="4453128"/>
            <a:ext cx="3566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LTRC Jordan, Dec 2024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29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64008" cy="640080"/>
          </a:xfrm>
          <a:prstGeom prst="rect">
            <a:avLst/>
          </a:prstGeom>
          <a:solidFill>
            <a:srgbClr val="C9A441"/>
          </a:solidFill>
          <a:ln w="12700">
            <a:solidFill>
              <a:srgbClr val="C9A4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structural forces converge in a window that will not repeat.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8321040" cy="22860"/>
          </a:xfrm>
          <a:prstGeom prst="rect">
            <a:avLst/>
          </a:prstGeom>
          <a:solidFill>
            <a:srgbClr val="2E4170"/>
          </a:solidFill>
          <a:ln w="12700">
            <a:solidFill>
              <a:srgbClr val="2E41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43000"/>
            <a:ext cx="2697480" cy="3611880"/>
          </a:xfrm>
          <a:prstGeom prst="rect">
            <a:avLst/>
          </a:prstGeom>
          <a:solidFill>
            <a:srgbClr val="111D3A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143000"/>
            <a:ext cx="2697480" cy="502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9496" y="1207008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39496" y="17190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BOYCOTT WINDOW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39496" y="2103120"/>
            <a:ext cx="1097280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9496" y="21031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12–18 MONTHS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39496" y="2395728"/>
            <a:ext cx="239572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 2025: Uber invested in Flytrex, an Israeli drone company.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0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boycott across Jordan, KSA, Egypt — Middle East Monitor, BDS Coalition, App-Based Transport Workers Alliance (100K+ drivers).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0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Careem is 100% Uber-owned. Same contagion applies.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0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multiplier: 1.25× — same JD budget, 25% more drivers.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91840" y="1143000"/>
            <a:ext cx="2697480" cy="3611880"/>
          </a:xfrm>
          <a:prstGeom prst="rect">
            <a:avLst/>
          </a:prstGeom>
          <a:solidFill>
            <a:srgbClr val="111D3A"/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1143000"/>
            <a:ext cx="2697480" cy="5029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19856" y="1207008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3419856" y="17190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CONSOLIDATION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419856" y="2103120"/>
            <a:ext cx="1097280" cy="20116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19856" y="21031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HAPPENING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419856" y="2395728"/>
            <a:ext cx="239572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Jordan's Ministry of Digital Economy blocked 66 unlicensed apps by Sept 2025 (24 in 2024, 42 more by Sept 2025).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0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4 licensed platforms remain. Every blocked app pushes riders and drivers toward the licensed 4.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0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Wasel's LTRC licence (JD 125,000 entry cost) is already secured — it's a moat, not a cost.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72200" y="1143000"/>
            <a:ext cx="2697480" cy="3611880"/>
          </a:xfrm>
          <a:prstGeom prst="rect">
            <a:avLst/>
          </a:prstGeom>
          <a:solidFill>
            <a:srgbClr val="111D3A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72200" y="1143000"/>
            <a:ext cx="2697480" cy="502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0216" y="1207008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6300216" y="17190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TIMING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300216" y="2103120"/>
            <a:ext cx="1097280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0216" y="21031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MATURITY PEAK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300216" y="2395728"/>
            <a:ext cx="239572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subscription familiarity is at an all-time high (Netflix, Spotify, Amazon Prime) — even in Jordan and MENA.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0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Jordanian drivers already pay JD 400/year in LTRC fees — they understand platform access costs.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0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platform has launched subscription in Jordan or Iraq. First mover owns the category permanently.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11D3A"/>
          </a:solidFill>
          <a:ln w="12700">
            <a:solidFill>
              <a:srgbClr val="111D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992624"/>
            <a:ext cx="8412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WASEL  ·  Confidential  ·  Seed Round 2026  ·  05 / Why Now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64008" cy="640080"/>
          </a:xfrm>
          <a:prstGeom prst="rect">
            <a:avLst/>
          </a:prstGeom>
          <a:solidFill>
            <a:srgbClr val="C9A441"/>
          </a:solidFill>
          <a:ln w="12700">
            <a:solidFill>
              <a:srgbClr val="C9A4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Jordan — not adapted from San Francisco.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8321040" cy="22860"/>
          </a:xfrm>
          <a:prstGeom prst="rect">
            <a:avLst/>
          </a:prstGeom>
          <a:solidFill>
            <a:srgbClr val="E8ECF2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92624"/>
            <a:ext cx="7315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8"/>
                </a:solidFill>
              </a:rPr>
              <a:t>WASEL  ·  Confidential  ·  Seed Round 2026</a:t>
            </a:r>
            <a:pPr indent="0" marL="0">
              <a:buNone/>
            </a:pPr>
            <a:r>
              <a:rPr lang="en-US" sz="800" dirty="0">
                <a:solidFill>
                  <a:srgbClr val="C9A441"/>
                </a:solidFill>
              </a:rPr>
              <a:t>   |   06 / Product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858000" y="4992624"/>
            <a:ext cx="1920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4A8"/>
                </a:solidFill>
              </a:rPr>
              <a:t>wg1 / Husam Khoury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11480" y="11155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APP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1463040"/>
            <a:ext cx="3840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1463040"/>
            <a:ext cx="50292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53619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WhatsApp-First Onboarding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179222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Sign-up in 90 seconds via WhatsApp link. No app download at step one — critical for Jordanian driver adoption.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2267712"/>
            <a:ext cx="3840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2267712"/>
            <a:ext cx="50292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34086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 Dashboard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6928" y="259689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net income, subscription payback date, and real-time comparison vs. Uber commission — the value case made visible every day.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3072384"/>
            <a:ext cx="3840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3072384"/>
            <a:ext cx="50292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314553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Member Badge (Mu'assis)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6928" y="340156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500 drivers: permanent numbered badge visible to every rider. Costs JD 2 to produce. Worth more than any cash incentive.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1480" y="3877056"/>
            <a:ext cx="3840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1480" y="3877056"/>
            <a:ext cx="50292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395020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Offline-Capable Booking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6928" y="420624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receive and confirm trips even on low data connectivity — essential for Jordan's patchy coverage zones.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72000" y="111556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 APP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1463040"/>
            <a:ext cx="4160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0" y="1463040"/>
            <a:ext cx="50292" cy="685800"/>
          </a:xfrm>
          <a:prstGeom prst="rect">
            <a:avLst/>
          </a:prstGeom>
          <a:solidFill>
            <a:srgbClr val="C9A441"/>
          </a:solidFill>
          <a:ln w="12700">
            <a:solidFill>
              <a:srgbClr val="C9A44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36592" y="1536192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Wasel Lock™ — Pre-Trip Price Guarantee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36592" y="1792224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fare locked before booking. No surge. No surprise. Fare shown and guaranteed before commitment.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0" y="2267712"/>
            <a:ext cx="4160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72000" y="2267712"/>
            <a:ext cx="50292" cy="685800"/>
          </a:xfrm>
          <a:prstGeom prst="rect">
            <a:avLst/>
          </a:prstGeom>
          <a:solidFill>
            <a:srgbClr val="C9A441"/>
          </a:solidFill>
          <a:ln w="12700">
            <a:solidFill>
              <a:srgbClr val="C9A44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36592" y="2340864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Wasel Safe Trip™ — Safety Suite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36592" y="2596896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WhatsApp live trip share to family. Driver photo + plate shown before booking. SOS prominent, not buried.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0" y="3072384"/>
            <a:ext cx="4160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572000" y="3072384"/>
            <a:ext cx="50292" cy="685800"/>
          </a:xfrm>
          <a:prstGeom prst="rect">
            <a:avLst/>
          </a:prstGeom>
          <a:solidFill>
            <a:srgbClr val="C9A441"/>
          </a:solidFill>
          <a:ln w="12700">
            <a:solidFill>
              <a:srgbClr val="C9A44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36592" y="314553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Driver System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736592" y="3401568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3 trips with same driver (4.5+), rider pins them. Creates platform-specific relationship that cannot transfer.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72000" y="3877056"/>
            <a:ext cx="4160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572000" y="3877056"/>
            <a:ext cx="50292" cy="685800"/>
          </a:xfrm>
          <a:prstGeom prst="rect">
            <a:avLst/>
          </a:prstGeom>
          <a:solidFill>
            <a:srgbClr val="C9A441"/>
          </a:solidFill>
          <a:ln w="12700">
            <a:solidFill>
              <a:srgbClr val="C9A44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36592" y="3950208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 + Variable Reward Mechanics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736592" y="4206240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5-ride streaks unlock discounts. 1-in-12 rides is free (surprise &gt; expected). Habit formation engineered from day one.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64008" cy="640080"/>
          </a:xfrm>
          <a:prstGeom prst="rect">
            <a:avLst/>
          </a:prstGeom>
          <a:solidFill>
            <a:srgbClr val="C9A441"/>
          </a:solidFill>
          <a:ln w="12700">
            <a:solidFill>
              <a:srgbClr val="C9A4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that compounds. Not revenue that fluctuates.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8321040" cy="22860"/>
          </a:xfrm>
          <a:prstGeom prst="rect">
            <a:avLst/>
          </a:prstGeom>
          <a:solidFill>
            <a:srgbClr val="E8ECF2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92624"/>
            <a:ext cx="7315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8"/>
                </a:solidFill>
              </a:rPr>
              <a:t>WASEL  ·  Confidential  ·  Seed Round 2026</a:t>
            </a:r>
            <a:pPr indent="0" marL="0">
              <a:buNone/>
            </a:pPr>
            <a:r>
              <a:rPr lang="en-US" sz="800" dirty="0">
                <a:solidFill>
                  <a:srgbClr val="C9A441"/>
                </a:solidFill>
              </a:rPr>
              <a:t>   |   07 / Business Model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858000" y="4992624"/>
            <a:ext cx="1920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4A8"/>
                </a:solidFill>
              </a:rPr>
              <a:t>wg1 / Husam Khoury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11480" y="1143000"/>
            <a:ext cx="26974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1143000"/>
            <a:ext cx="2697480" cy="384048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1161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86968" y="116128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AT LAUNCH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886968" y="134416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Subscriptions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76072" y="16276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10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 JD 20/mo  ·  40% mix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76072" y="2011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10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 JD 35/mo  ·  40% mix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76072" y="23957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10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 JD 55/mo  ·  20% mix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76072" y="277977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10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ARPU: JD 33/month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76072" y="4023360"/>
            <a:ext cx="2359152" cy="256032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4032504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JD 154K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Year 1 Revenue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310128" y="1143000"/>
            <a:ext cx="26974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10128" y="1143000"/>
            <a:ext cx="269748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19856" y="1161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785616" y="116128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7+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785616" y="134416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 Subscriptions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74720" y="16276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10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Wasel Go  JD 5/mo  ·  55% mix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74720" y="2011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10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Wasel Pass  JD 10/mo  ·  35% mix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474720" y="23957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10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 JD 25/mo  ·  10% mix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0" y="277977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10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ARPU: JD 8.75/month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474720" y="4023360"/>
            <a:ext cx="2359152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93008" y="4032504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JD 130K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Year 1 Revenue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208776" y="1143000"/>
            <a:ext cx="26974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208776" y="1143000"/>
            <a:ext cx="2697480" cy="384048"/>
          </a:xfrm>
          <a:prstGeom prst="rect">
            <a:avLst/>
          </a:prstGeom>
          <a:solidFill>
            <a:srgbClr val="C9A441"/>
          </a:solidFill>
          <a:ln w="12700">
            <a:solidFill>
              <a:srgbClr val="C9A44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18504" y="1161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684264" y="116128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2+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684264" y="134416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Ancillary Revenue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373368" y="16276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10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account fleet billing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373368" y="2011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10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insurance brokerage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373368" y="23957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10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management SaaS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373368" y="277977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10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Anonymised mobility data licensing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373368" y="4023360"/>
            <a:ext cx="2359152" cy="256032"/>
          </a:xfrm>
          <a:prstGeom prst="rect">
            <a:avLst/>
          </a:prstGeom>
          <a:solidFill>
            <a:srgbClr val="C9A441"/>
          </a:solidFill>
          <a:ln w="12700">
            <a:solidFill>
              <a:srgbClr val="C9A44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91656" y="4032504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1.4–1.6×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Revenue multiplier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11480" y="4443984"/>
            <a:ext cx="8321040" cy="384048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446227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441"/>
                </a:solidFill>
              </a:rPr>
              <a:t>YEAR 1 TOTAL ARR  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JD 284,000   </a:t>
            </a:r>
            <a:pPr algn="ctr" indent="0" marL="0">
              <a:buNone/>
            </a:pPr>
            <a:r>
              <a:rPr lang="en-US" sz="1000" dirty="0">
                <a:solidFill>
                  <a:srgbClr val="A8B8D8"/>
                </a:solidFill>
              </a:rPr>
              <a:t>  ·  Revenue decoupled from trip volume  ·  No negative unit economics possible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64008" cy="640080"/>
          </a:xfrm>
          <a:prstGeom prst="rect">
            <a:avLst/>
          </a:prstGeom>
          <a:solidFill>
            <a:srgbClr val="C9A441"/>
          </a:solidFill>
          <a:ln w="12700">
            <a:solidFill>
              <a:srgbClr val="C9A4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LTV:CAC of 13.9×  ·  Payback &lt; 1 month  ·  Break-even at 10% market share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8321040" cy="22860"/>
          </a:xfrm>
          <a:prstGeom prst="rect">
            <a:avLst/>
          </a:prstGeom>
          <a:solidFill>
            <a:srgbClr val="E8ECF2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92624"/>
            <a:ext cx="7315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8"/>
                </a:solidFill>
              </a:rPr>
              <a:t>WASEL  ·  Confidential  ·  Seed Round 2026</a:t>
            </a:r>
            <a:pPr indent="0" marL="0">
              <a:buNone/>
            </a:pPr>
            <a:r>
              <a:rPr lang="en-US" sz="800" dirty="0">
                <a:solidFill>
                  <a:srgbClr val="C9A441"/>
                </a:solidFill>
              </a:rPr>
              <a:t>   |   08 / Unit Economics  [CRITICAL SLIDE]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858000" y="4992624"/>
            <a:ext cx="1920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4A8"/>
                </a:solidFill>
              </a:rPr>
              <a:t>wg1 / Husam Khoury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11480" y="1170432"/>
            <a:ext cx="1600200" cy="1078992"/>
          </a:xfrm>
          <a:prstGeom prst="rect">
            <a:avLst/>
          </a:prstGeom>
          <a:solidFill>
            <a:srgbClr val="FFFFFF"/>
          </a:solidFill>
          <a:ln w="19050">
            <a:solidFill>
              <a:srgbClr val="E8EC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1170432"/>
            <a:ext cx="1600200" cy="50292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1280160"/>
            <a:ext cx="1453896" cy="4855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 33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84632" y="1742298"/>
            <a:ext cx="1453896" cy="258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ARPU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" y="2001256"/>
            <a:ext cx="1453896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 blended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084832" y="1170432"/>
            <a:ext cx="1600200" cy="1078992"/>
          </a:xfrm>
          <a:prstGeom prst="rect">
            <a:avLst/>
          </a:prstGeom>
          <a:solidFill>
            <a:srgbClr val="FFFFFF"/>
          </a:solidFill>
          <a:ln w="19050">
            <a:solidFill>
              <a:srgbClr val="E8EC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084832" y="1170432"/>
            <a:ext cx="1600200" cy="502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57984" y="1280160"/>
            <a:ext cx="1453896" cy="4855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 18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157984" y="1742298"/>
            <a:ext cx="1453896" cy="258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CAC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57984" y="2001256"/>
            <a:ext cx="1453896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loaded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758184" y="1170432"/>
            <a:ext cx="1600200" cy="1078992"/>
          </a:xfrm>
          <a:prstGeom prst="rect">
            <a:avLst/>
          </a:prstGeom>
          <a:solidFill>
            <a:srgbClr val="FFFFFF"/>
          </a:solidFill>
          <a:ln w="19050">
            <a:solidFill>
              <a:srgbClr val="E8EC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758184" y="1170432"/>
            <a:ext cx="1600200" cy="50292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31336" y="1280160"/>
            <a:ext cx="1453896" cy="4855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 540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3831336" y="1742298"/>
            <a:ext cx="1453896" cy="258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LTV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31336" y="2001256"/>
            <a:ext cx="1453896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24-month at 2%/mo churn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31536" y="1170432"/>
            <a:ext cx="1600200" cy="1078992"/>
          </a:xfrm>
          <a:prstGeom prst="rect">
            <a:avLst/>
          </a:prstGeom>
          <a:solidFill>
            <a:srgbClr val="FFFFFF"/>
          </a:solidFill>
          <a:ln w="19050">
            <a:solidFill>
              <a:srgbClr val="E8EC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31536" y="1170432"/>
            <a:ext cx="1600200" cy="50292"/>
          </a:xfrm>
          <a:prstGeom prst="rect">
            <a:avLst/>
          </a:prstGeom>
          <a:solidFill>
            <a:srgbClr val="C9A441"/>
          </a:solidFill>
          <a:ln w="12700">
            <a:solidFill>
              <a:srgbClr val="C9A44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04688" y="1280160"/>
            <a:ext cx="1453896" cy="4855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13.9×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5504688" y="1742298"/>
            <a:ext cx="1453896" cy="258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: CAC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04688" y="2001256"/>
            <a:ext cx="1453896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Wasel TAM Analysis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104888" y="1170432"/>
            <a:ext cx="1627632" cy="1078992"/>
          </a:xfrm>
          <a:prstGeom prst="rect">
            <a:avLst/>
          </a:prstGeom>
          <a:solidFill>
            <a:srgbClr val="FFFFFF"/>
          </a:solidFill>
          <a:ln w="19050">
            <a:solidFill>
              <a:srgbClr val="E8EC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104888" y="1170432"/>
            <a:ext cx="1627632" cy="5029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78040" y="1280160"/>
            <a:ext cx="1481328" cy="4855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mo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7178040" y="1742298"/>
            <a:ext cx="1481328" cy="258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178040" y="2001256"/>
            <a:ext cx="1481328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contributes from day 2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11480" y="23957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BREAK-EVEN AT 1,200 DRIVERS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11480" y="2670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of Jordan's licensed market — not dominance, just viability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11480" y="2944368"/>
            <a:ext cx="2377440" cy="274320"/>
          </a:xfrm>
          <a:prstGeom prst="rect">
            <a:avLst/>
          </a:prstGeom>
          <a:solidFill>
            <a:srgbClr val="1C2951"/>
          </a:solidFill>
          <a:ln w="6350">
            <a:solidFill>
              <a:srgbClr val="E8ECF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" y="2944368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788920" y="2944368"/>
            <a:ext cx="1828800" cy="274320"/>
          </a:xfrm>
          <a:prstGeom prst="rect">
            <a:avLst/>
          </a:prstGeom>
          <a:solidFill>
            <a:srgbClr val="1C2951"/>
          </a:solidFill>
          <a:ln w="6350">
            <a:solidFill>
              <a:srgbClr val="E8ECF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62072" y="2944368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BREAK-EVEN (1,200 DRIVERS)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617720" y="2944368"/>
            <a:ext cx="1417320" cy="274320"/>
          </a:xfrm>
          <a:prstGeom prst="rect">
            <a:avLst/>
          </a:prstGeom>
          <a:solidFill>
            <a:srgbClr val="1C2951"/>
          </a:solidFill>
          <a:ln w="6350">
            <a:solidFill>
              <a:srgbClr val="E8ECF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90872" y="2944368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YEAR 1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11480" y="3218688"/>
            <a:ext cx="2377440" cy="228600"/>
          </a:xfrm>
          <a:prstGeom prst="rect">
            <a:avLst/>
          </a:prstGeom>
          <a:solidFill>
            <a:srgbClr val="F0F3F8"/>
          </a:solidFill>
          <a:ln w="6350">
            <a:solidFill>
              <a:srgbClr val="E8ECF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" y="3218688"/>
            <a:ext cx="2231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subscriptions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788920" y="3218688"/>
            <a:ext cx="1828800" cy="228600"/>
          </a:xfrm>
          <a:prstGeom prst="rect">
            <a:avLst/>
          </a:prstGeom>
          <a:solidFill>
            <a:srgbClr val="F0F3F8"/>
          </a:solidFill>
          <a:ln w="6350">
            <a:solidFill>
              <a:srgbClr val="E8ECF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862072" y="3218688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 39,600 / month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617720" y="3218688"/>
            <a:ext cx="1417320" cy="228600"/>
          </a:xfrm>
          <a:prstGeom prst="rect">
            <a:avLst/>
          </a:prstGeom>
          <a:solidFill>
            <a:srgbClr val="F0F3F8"/>
          </a:solidFill>
          <a:ln w="6350">
            <a:solidFill>
              <a:srgbClr val="E8ECF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90872" y="3218688"/>
            <a:ext cx="1271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to target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11480" y="3447288"/>
            <a:ext cx="23774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4632" y="3447288"/>
            <a:ext cx="2231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 subscriptions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2788920" y="3447288"/>
            <a:ext cx="18288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862072" y="3447288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 17,500 / month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617720" y="3447288"/>
            <a:ext cx="141732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90872" y="3447288"/>
            <a:ext cx="1271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 10,800 / month Y1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11480" y="3675888"/>
            <a:ext cx="2377440" cy="228600"/>
          </a:xfrm>
          <a:prstGeom prst="rect">
            <a:avLst/>
          </a:prstGeom>
          <a:solidFill>
            <a:srgbClr val="F0F3F8"/>
          </a:solidFill>
          <a:ln w="6350">
            <a:solidFill>
              <a:srgbClr val="E8ECF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4632" y="3675888"/>
            <a:ext cx="2231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monthly revenue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2788920" y="3675888"/>
            <a:ext cx="1828800" cy="228600"/>
          </a:xfrm>
          <a:prstGeom prst="rect">
            <a:avLst/>
          </a:prstGeom>
          <a:solidFill>
            <a:srgbClr val="F0F3F8"/>
          </a:solidFill>
          <a:ln w="6350">
            <a:solidFill>
              <a:srgbClr val="E8ECF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862072" y="3675888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 57,100 / month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617720" y="3675888"/>
            <a:ext cx="1417320" cy="228600"/>
          </a:xfrm>
          <a:prstGeom prst="rect">
            <a:avLst/>
          </a:prstGeom>
          <a:solidFill>
            <a:srgbClr val="F0F3F8"/>
          </a:solidFill>
          <a:ln w="6350">
            <a:solidFill>
              <a:srgbClr val="E8ECF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690872" y="3675888"/>
            <a:ext cx="1271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11480" y="3904488"/>
            <a:ext cx="23774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4632" y="3904488"/>
            <a:ext cx="2231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monthly OPEX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2788920" y="3904488"/>
            <a:ext cx="18288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862072" y="3904488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 41,500 / month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617720" y="3904488"/>
            <a:ext cx="141732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690872" y="3904488"/>
            <a:ext cx="1271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 38,300 / month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411480" y="4133088"/>
            <a:ext cx="2377440" cy="228600"/>
          </a:xfrm>
          <a:prstGeom prst="rect">
            <a:avLst/>
          </a:prstGeom>
          <a:solidFill>
            <a:srgbClr val="F0F3F8"/>
          </a:solidFill>
          <a:ln w="6350">
            <a:solidFill>
              <a:srgbClr val="E8ECF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84632" y="4133088"/>
            <a:ext cx="2231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surplus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2788920" y="4133088"/>
            <a:ext cx="1828800" cy="228600"/>
          </a:xfrm>
          <a:prstGeom prst="rect">
            <a:avLst/>
          </a:prstGeom>
          <a:solidFill>
            <a:srgbClr val="F0F3F8"/>
          </a:solidFill>
          <a:ln w="6350">
            <a:solidFill>
              <a:srgbClr val="E8ECF2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862072" y="4133088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 15,600 / month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4617720" y="4133088"/>
            <a:ext cx="1417320" cy="228600"/>
          </a:xfrm>
          <a:prstGeom prst="rect">
            <a:avLst/>
          </a:prstGeom>
          <a:solidFill>
            <a:srgbClr val="F0F3F8"/>
          </a:solidFill>
          <a:ln w="6350">
            <a:solidFill>
              <a:srgbClr val="E8ECF2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690872" y="4133088"/>
            <a:ext cx="1271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Year 2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411480" y="4361688"/>
            <a:ext cx="23774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2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84632" y="4361688"/>
            <a:ext cx="2231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to break-even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2788920" y="4361688"/>
            <a:ext cx="18288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2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862072" y="4361688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14–18 post-launch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4617720" y="4361688"/>
            <a:ext cx="141732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2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690872" y="4361688"/>
            <a:ext cx="1271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5943600" y="2395728"/>
            <a:ext cx="2788920" cy="2377440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9" name="Text 77"/>
          <p:cNvSpPr/>
          <p:nvPr/>
        </p:nvSpPr>
        <p:spPr>
          <a:xfrm>
            <a:off x="6080760" y="248716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MODEL WORKS</a:t>
            </a:r>
            <a:endParaRPr lang="en-US" sz="1050" dirty="0"/>
          </a:p>
        </p:txBody>
      </p:sp>
      <p:sp>
        <p:nvSpPr>
          <p:cNvPr id="80" name="Text 78"/>
          <p:cNvSpPr/>
          <p:nvPr/>
        </p:nvSpPr>
        <p:spPr>
          <a:xfrm>
            <a:off x="6080760" y="283464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C0CAD8"/>
                </a:solidFill>
              </a:rPr>
              <a:t>Revenue booked before driver takes a trip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6080760" y="313639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C0CAD8"/>
                </a:solidFill>
              </a:rPr>
              <a:t>76% contribution margin per driver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6080760" y="343814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C0CAD8"/>
                </a:solidFill>
              </a:rPr>
              <a:t>No incentive spend to compete on price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6080760" y="373989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C0CAD8"/>
                </a:solidFill>
              </a:rPr>
              <a:t>Dual-side revenue — both sides pay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6080760" y="404164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C0CAD8"/>
                </a:solidFill>
              </a:rPr>
              <a:t>1,200 drivers = break-even (10% of market)</a:t>
            </a:r>
            <a:endParaRPr lang="en-US" sz="1100" dirty="0"/>
          </a:p>
        </p:txBody>
      </p:sp>
      <p:sp>
        <p:nvSpPr>
          <p:cNvPr id="85" name="Text 83"/>
          <p:cNvSpPr/>
          <p:nvPr/>
        </p:nvSpPr>
        <p:spPr>
          <a:xfrm>
            <a:off x="6080760" y="434340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C0CAD8"/>
                </a:solidFill>
              </a:rPr>
              <a:t>LTV:CAC 13.9× from day-one assumptions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29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64008" cy="640080"/>
          </a:xfrm>
          <a:prstGeom prst="rect">
            <a:avLst/>
          </a:prstGeom>
          <a:solidFill>
            <a:srgbClr val="C9A441"/>
          </a:solidFill>
          <a:ln w="12700">
            <a:solidFill>
              <a:srgbClr val="C9A4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Dynamics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Supply-first cold start. Demand follows. The flywheel compounds without discounts.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8321040" cy="22860"/>
          </a:xfrm>
          <a:prstGeom prst="rect">
            <a:avLst/>
          </a:prstGeom>
          <a:solidFill>
            <a:srgbClr val="2E4170"/>
          </a:solidFill>
          <a:ln w="12700">
            <a:solidFill>
              <a:srgbClr val="2E41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84248" y="1847088"/>
            <a:ext cx="2066544" cy="2066544"/>
          </a:xfrm>
          <a:prstGeom prst="ellipse">
            <a:avLst/>
          </a:prstGeom>
          <a:solidFill>
            <a:srgbClr val="172244"/>
          </a:solidFill>
          <a:ln w="19050">
            <a:solidFill>
              <a:srgbClr val="C9A44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14600" y="2377440"/>
            <a:ext cx="1005840" cy="1005840"/>
          </a:xfrm>
          <a:prstGeom prst="ellipse">
            <a:avLst/>
          </a:prstGeom>
          <a:solidFill>
            <a:srgbClr val="C9A441"/>
          </a:solidFill>
          <a:ln w="12700">
            <a:solidFill>
              <a:srgbClr val="C9A4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14600" y="251460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WASEL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FLYWHEEL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673352" y="2624328"/>
            <a:ext cx="768096" cy="51206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73352" y="2624328"/>
            <a:ext cx="768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Drivers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supply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633472" y="1664208"/>
            <a:ext cx="768096" cy="512064"/>
          </a:xfrm>
          <a:prstGeom prst="ellipse">
            <a:avLst/>
          </a:prstGeom>
          <a:solidFill>
            <a:srgbClr val="C9A441"/>
          </a:solidFill>
          <a:ln w="12700">
            <a:solidFill>
              <a:srgbClr val="C9A44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33472" y="1664208"/>
            <a:ext cx="768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ETA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reliability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593592" y="2624328"/>
            <a:ext cx="768096" cy="51206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93592" y="2624328"/>
            <a:ext cx="768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Riders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demand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633472" y="3584448"/>
            <a:ext cx="768096" cy="512064"/>
          </a:xfrm>
          <a:prstGeom prst="ellipse">
            <a:avLst/>
          </a:prstGeom>
          <a:solidFill>
            <a:srgbClr val="C9A441"/>
          </a:solidFill>
          <a:ln w="12700">
            <a:solidFill>
              <a:srgbClr val="C9A44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33472" y="3584448"/>
            <a:ext cx="768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Trips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utilisation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11480" y="3977640"/>
            <a:ext cx="5303520" cy="365760"/>
          </a:xfrm>
          <a:prstGeom prst="rect">
            <a:avLst/>
          </a:prstGeom>
          <a:solidFill>
            <a:srgbClr val="111D3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02336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A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START RULE: No rider acquisition until 80+ active drivers in pilot zone. Supply before demand. Always.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40680" y="11430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MOATS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1508760"/>
            <a:ext cx="3291840" cy="493776"/>
          </a:xfrm>
          <a:prstGeom prst="rect">
            <a:avLst/>
          </a:prstGeom>
          <a:solidFill>
            <a:srgbClr val="111D3A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40680" y="1508760"/>
            <a:ext cx="50292" cy="4937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77840" y="156362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28090"/>
                </a:solidFill>
              </a:rPr>
              <a:t>SUPPLY · 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Driver Identity Lock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577840" y="178308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Member badge = platform-specific social capital. Cannot be transferred.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440680" y="2093976"/>
            <a:ext cx="3291840" cy="493776"/>
          </a:xfrm>
          <a:prstGeom prst="rect">
            <a:avLst/>
          </a:prstGeom>
          <a:solidFill>
            <a:srgbClr val="111D3A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40680" y="2093976"/>
            <a:ext cx="50292" cy="4937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77840" y="214884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28090"/>
                </a:solidFill>
              </a:rPr>
              <a:t>SUPPLY · 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Financial Commitment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577840" y="2368296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already paid = sunk cost anchor. Churn requires forfeiting paid period.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440680" y="2679192"/>
            <a:ext cx="3291840" cy="493776"/>
          </a:xfrm>
          <a:prstGeom prst="rect">
            <a:avLst/>
          </a:prstGeom>
          <a:solidFill>
            <a:srgbClr val="111D3A"/>
          </a:solidFill>
          <a:ln w="10160">
            <a:solidFill>
              <a:srgbClr val="C9A44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40680" y="2679192"/>
            <a:ext cx="50292" cy="493776"/>
          </a:xfrm>
          <a:prstGeom prst="rect">
            <a:avLst/>
          </a:prstGeom>
          <a:solidFill>
            <a:srgbClr val="C9A441"/>
          </a:solidFill>
          <a:ln w="12700">
            <a:solidFill>
              <a:srgbClr val="C9A44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77840" y="273405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9A441"/>
                </a:solidFill>
              </a:rPr>
              <a:t>DEMAND · 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Preferred Driver Bond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577840" y="295351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rides + pinning creates a non-portable personal relationship.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440680" y="3264408"/>
            <a:ext cx="3291840" cy="493776"/>
          </a:xfrm>
          <a:prstGeom prst="rect">
            <a:avLst/>
          </a:prstGeom>
          <a:solidFill>
            <a:srgbClr val="111D3A"/>
          </a:solidFill>
          <a:ln w="10160">
            <a:solidFill>
              <a:srgbClr val="C9A44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40680" y="3264408"/>
            <a:ext cx="50292" cy="493776"/>
          </a:xfrm>
          <a:prstGeom prst="rect">
            <a:avLst/>
          </a:prstGeom>
          <a:solidFill>
            <a:srgbClr val="C9A441"/>
          </a:solidFill>
          <a:ln w="12700">
            <a:solidFill>
              <a:srgbClr val="C9A44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77840" y="331927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9A441"/>
                </a:solidFill>
              </a:rPr>
              <a:t>DEMAND · 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Stored Wallet Credit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577840" y="353872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Abandoning Wasel means forfeiting wallet balance. Psychological switching cost.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440680" y="3849624"/>
            <a:ext cx="3291840" cy="493776"/>
          </a:xfrm>
          <a:prstGeom prst="rect">
            <a:avLst/>
          </a:prstGeom>
          <a:solidFill>
            <a:srgbClr val="111D3A"/>
          </a:solidFill>
          <a:ln w="10160">
            <a:solidFill>
              <a:srgbClr val="C0392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40680" y="3849624"/>
            <a:ext cx="50292" cy="4937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77840" y="390448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0392B"/>
                </a:solidFill>
              </a:rPr>
              <a:t>REGULATORY · 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JD 125,000 Entry Barrier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5577840" y="412394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LTRC licence + bank guarantee blocks underfunded competitors permanently.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11D3A"/>
          </a:solidFill>
          <a:ln w="12700">
            <a:solidFill>
              <a:srgbClr val="111D3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992624"/>
            <a:ext cx="8412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WASEL  ·  Confidential  ·  Seed Round 2026  ·  09 / Marketplace Dynamics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64008" cy="640080"/>
          </a:xfrm>
          <a:prstGeom prst="rect">
            <a:avLst/>
          </a:prstGeom>
          <a:solidFill>
            <a:srgbClr val="C9A441"/>
          </a:solidFill>
          <a:ln w="12700">
            <a:solidFill>
              <a:srgbClr val="C9A4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&amp; Validation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Pre-launch — but the hardest foundations are already built.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8321040" cy="22860"/>
          </a:xfrm>
          <a:prstGeom prst="rect">
            <a:avLst/>
          </a:prstGeom>
          <a:solidFill>
            <a:srgbClr val="E8ECF2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92624"/>
            <a:ext cx="7315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8"/>
                </a:solidFill>
              </a:rPr>
              <a:t>WASEL  ·  Confidential  ·  Seed Round 2026</a:t>
            </a:r>
            <a:pPr indent="0" marL="0">
              <a:buNone/>
            </a:pPr>
            <a:r>
              <a:rPr lang="en-US" sz="800" dirty="0">
                <a:solidFill>
                  <a:srgbClr val="C9A441"/>
                </a:solidFill>
              </a:rPr>
              <a:t>   |   10 / Traction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858000" y="4992624"/>
            <a:ext cx="1920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4A8"/>
                </a:solidFill>
              </a:rPr>
              <a:t>wg1 / Husam Khoury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11480" y="1243584"/>
            <a:ext cx="914400" cy="20116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2435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841248" y="1444752"/>
            <a:ext cx="54864" cy="420624"/>
          </a:xfrm>
          <a:prstGeom prst="rect">
            <a:avLst/>
          </a:prstGeom>
          <a:solidFill>
            <a:srgbClr val="E8ECF2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63040" y="12070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LTRC ride-hailing operator licence secured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63040" y="148132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of 4 licensed platforms in Jordan · Entry cost: JD 125,000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1865376"/>
            <a:ext cx="914400" cy="20116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186537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841248" y="2066544"/>
            <a:ext cx="54864" cy="420624"/>
          </a:xfrm>
          <a:prstGeom prst="rect">
            <a:avLst/>
          </a:prstGeom>
          <a:solidFill>
            <a:srgbClr val="E8ECF2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63040" y="18288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11,600-driver pool mapped by zone and income profile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463040" y="210312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500 Founding Member targets identified across 5 priority Amman zones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2487168"/>
            <a:ext cx="914400" cy="20116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4871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841248" y="2688336"/>
            <a:ext cx="54864" cy="420624"/>
          </a:xfrm>
          <a:prstGeom prst="rect">
            <a:avLst/>
          </a:prstGeom>
          <a:solidFill>
            <a:srgbClr val="E8ECF2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63040" y="24505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Boycott tailwind independently documented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463040" y="272491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East Monitor · BDS Coalition · App-Based Transport Workers Alliance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11480" y="3108960"/>
            <a:ext cx="914400" cy="20116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1089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841248" y="3310128"/>
            <a:ext cx="54864" cy="420624"/>
          </a:xfrm>
          <a:prstGeom prst="rect">
            <a:avLst/>
          </a:prstGeom>
          <a:solidFill>
            <a:srgbClr val="E8ECF2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63040" y="307238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 unlicensed competitors eliminated by government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463040" y="334670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Digital Economy blocked 24 in 2024, 42 more by Sept 2025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11480" y="3730752"/>
            <a:ext cx="914400" cy="20116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37307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BUILD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841248" y="3931920"/>
            <a:ext cx="54864" cy="420624"/>
          </a:xfrm>
          <a:prstGeom prst="rect">
            <a:avLst/>
          </a:prstGeom>
          <a:solidFill>
            <a:srgbClr val="E8ECF2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63040" y="36941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(app, backend, WhatsApp flow)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463040" y="396849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development sprints — iOS + Android target Month 5 app store launch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11480" y="4352544"/>
            <a:ext cx="914400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435254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7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1463040" y="43159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launch — pilot zone, Amman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463040" y="459028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Gate: 80+ active drivers, &lt; 6 min avg ETA, 0 safety incidents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257800" y="1143000"/>
            <a:ext cx="3474720" cy="868680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394960" y="120700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 MoM Driver Growth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394960" y="15087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revised DOWN from 30% — defensible from first principles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257800" y="21031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ANCHORS: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257800" y="2377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2D3142"/>
                </a:solidFill>
              </a:rPr>
              <a:t>500+ driver targets pre-identified before Month 1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257800" y="27249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2D3142"/>
                </a:solidFill>
              </a:rPr>
              <a:t>1.25× boycott acquisition efficiency (documented)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257800" y="30723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2D3142"/>
                </a:solidFill>
              </a:rPr>
              <a:t>WhatsApp referral network: 40K+ drivers in groups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257800" y="34198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2D3142"/>
                </a:solidFill>
              </a:rPr>
              <a:t>Founding Member badge drives organic word-of-mouth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257800" y="37673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2D3142"/>
                </a:solidFill>
              </a:rPr>
              <a:t>36,200 rider demand by Month 12 (89% coverage)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257800" y="4114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2D3142"/>
                </a:solidFill>
              </a:rPr>
              <a:t>20 corporate clients by Month 6 = demand floor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64008" cy="640080"/>
          </a:xfrm>
          <a:prstGeom prst="rect">
            <a:avLst/>
          </a:prstGeom>
          <a:solidFill>
            <a:srgbClr val="C9A441"/>
          </a:solidFill>
          <a:ln w="12700">
            <a:solidFill>
              <a:srgbClr val="C9A4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Strategy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phases. Fourteen months to Series A. Zero assumptions that require luck.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8321040" cy="22860"/>
          </a:xfrm>
          <a:prstGeom prst="rect">
            <a:avLst/>
          </a:prstGeom>
          <a:solidFill>
            <a:srgbClr val="E8ECF2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92624"/>
            <a:ext cx="7315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8"/>
                </a:solidFill>
              </a:rPr>
              <a:t>WASEL  ·  Confidential  ·  Seed Round 2026</a:t>
            </a:r>
            <a:pPr indent="0" marL="0">
              <a:buNone/>
            </a:pPr>
            <a:r>
              <a:rPr lang="en-US" sz="800" dirty="0">
                <a:solidFill>
                  <a:srgbClr val="C9A441"/>
                </a:solidFill>
              </a:rPr>
              <a:t>   |   11 / Strategy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858000" y="4992624"/>
            <a:ext cx="1920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4A8"/>
                </a:solidFill>
              </a:rPr>
              <a:t>wg1 / Husam Khoury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11480" y="1170432"/>
            <a:ext cx="1325880" cy="1691640"/>
          </a:xfrm>
          <a:prstGeom prst="rect">
            <a:avLst/>
          </a:prstGeom>
          <a:solidFill>
            <a:srgbClr val="111D3A"/>
          </a:solidFill>
          <a:ln w="12700">
            <a:solidFill>
              <a:srgbClr val="111D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120700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78408" y="123444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M1–M2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02920" y="1591056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196596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8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LTRC, seed close, founding team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737360" y="1938528"/>
            <a:ext cx="137160" cy="54864"/>
          </a:xfrm>
          <a:prstGeom prst="rect">
            <a:avLst/>
          </a:prstGeom>
          <a:solidFill>
            <a:srgbClr val="E8ECF2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944368"/>
            <a:ext cx="1051560" cy="384048"/>
          </a:xfrm>
          <a:prstGeom prst="rect">
            <a:avLst/>
          </a:prstGeom>
          <a:solidFill>
            <a:srgbClr val="F5F7FA"/>
          </a:solidFill>
          <a:ln w="15240">
            <a:solidFill>
              <a:srgbClr val="111D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" y="294436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1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Licence + seed closed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874520" y="1170432"/>
            <a:ext cx="1325880" cy="1691640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965960" y="120700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441448" y="123444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M2–M5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965960" y="1591056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965960" y="196596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8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build, 200+ driver waitlist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00400" y="1938528"/>
            <a:ext cx="137160" cy="54864"/>
          </a:xfrm>
          <a:prstGeom prst="rect">
            <a:avLst/>
          </a:prstGeom>
          <a:solidFill>
            <a:srgbClr val="E8ECF2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11680" y="2944368"/>
            <a:ext cx="1051560" cy="384048"/>
          </a:xfrm>
          <a:prstGeom prst="rect">
            <a:avLst/>
          </a:prstGeom>
          <a:solidFill>
            <a:srgbClr val="F5F7FA"/>
          </a:solidFill>
          <a:ln w="15240">
            <a:solidFill>
              <a:srgbClr val="1C295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39112" y="294436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App store approved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337560" y="1170432"/>
            <a:ext cx="1325880" cy="1691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429000" y="120700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904488" y="123444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M5–M7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429000" y="1591056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429000" y="196596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8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80+ active drivers, &lt; 6 min ETA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663440" y="1938528"/>
            <a:ext cx="137160" cy="54864"/>
          </a:xfrm>
          <a:prstGeom prst="rect">
            <a:avLst/>
          </a:prstGeom>
          <a:solidFill>
            <a:srgbClr val="E8ECF2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74720" y="2944368"/>
            <a:ext cx="1051560" cy="384048"/>
          </a:xfrm>
          <a:prstGeom prst="rect">
            <a:avLst/>
          </a:prstGeom>
          <a:solidFill>
            <a:srgbClr val="F5F7FA"/>
          </a:solidFill>
          <a:ln w="1524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02152" y="294436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80 drivers · ETA target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800600" y="1170432"/>
            <a:ext cx="1325880" cy="1691640"/>
          </a:xfrm>
          <a:prstGeom prst="rect">
            <a:avLst/>
          </a:prstGeom>
          <a:solidFill>
            <a:srgbClr val="C9A441"/>
          </a:solidFill>
          <a:ln w="12700">
            <a:solidFill>
              <a:srgbClr val="C9A44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892040" y="120700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367528" y="123444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M7–M10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892040" y="1591056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92040" y="196596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8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codes, subscriptions open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126480" y="1938528"/>
            <a:ext cx="137160" cy="54864"/>
          </a:xfrm>
          <a:prstGeom prst="rect">
            <a:avLst/>
          </a:prstGeom>
          <a:solidFill>
            <a:srgbClr val="E8ECF2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937760" y="2944368"/>
            <a:ext cx="1051560" cy="384048"/>
          </a:xfrm>
          <a:prstGeom prst="rect">
            <a:avLst/>
          </a:prstGeom>
          <a:solidFill>
            <a:srgbClr val="F5F7FA"/>
          </a:solidFill>
          <a:ln w="15240">
            <a:solidFill>
              <a:srgbClr val="C9A44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65192" y="294436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200 drivers · 1K riders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263640" y="1170432"/>
            <a:ext cx="1325880" cy="16916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355080" y="120700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6830568" y="123444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M10–M12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355080" y="1591056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355080" y="196596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8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gates, paid media, OOH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589520" y="1938528"/>
            <a:ext cx="137160" cy="54864"/>
          </a:xfrm>
          <a:prstGeom prst="rect">
            <a:avLst/>
          </a:prstGeom>
          <a:solidFill>
            <a:srgbClr val="E8ECF2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00800" y="2944368"/>
            <a:ext cx="1051560" cy="384048"/>
          </a:xfrm>
          <a:prstGeom prst="rect">
            <a:avLst/>
          </a:prstGeom>
          <a:solidFill>
            <a:srgbClr val="F5F7FA"/>
          </a:solidFill>
          <a:ln w="15240">
            <a:solidFill>
              <a:srgbClr val="E67E2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28232" y="294436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400 drivers · 4K riders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7726680" y="1170432"/>
            <a:ext cx="1325880" cy="16916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7818120" y="120700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8293608" y="123444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M12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818120" y="1591056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7818120" y="196596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8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drivers, JD 284K ARR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7863840" y="2944368"/>
            <a:ext cx="1051560" cy="384048"/>
          </a:xfrm>
          <a:prstGeom prst="rect">
            <a:avLst/>
          </a:prstGeom>
          <a:solidFill>
            <a:srgbClr val="F5F7FA"/>
          </a:solidFill>
          <a:ln w="15240">
            <a:solidFill>
              <a:srgbClr val="27AE6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891272" y="294436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Series A roadshow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411480" y="1993392"/>
            <a:ext cx="8321040" cy="54864"/>
          </a:xfrm>
          <a:prstGeom prst="rect">
            <a:avLst/>
          </a:prstGeom>
          <a:solidFill>
            <a:srgbClr val="E8ECF2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11480" y="34930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ALLOCATION  ·  JD 472,000 (~$665K)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411480" y="3822192"/>
            <a:ext cx="13258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411480" y="3822192"/>
            <a:ext cx="397764" cy="59436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4632" y="3895344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 JD 140K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484632" y="4087368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1874520" y="3822192"/>
            <a:ext cx="13258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1874520" y="3822192"/>
            <a:ext cx="238658" cy="5943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947672" y="3895344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  JD 85K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1947672" y="4087368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Acquisition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3337560" y="3822192"/>
            <a:ext cx="13258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3337560" y="3822192"/>
            <a:ext cx="185623" cy="59436"/>
          </a:xfrm>
          <a:prstGeom prst="rect">
            <a:avLst/>
          </a:prstGeom>
          <a:solidFill>
            <a:srgbClr val="C9A441"/>
          </a:solidFill>
          <a:ln w="12700">
            <a:solidFill>
              <a:srgbClr val="C9A44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410712" y="3895344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  JD 65K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3410712" y="4087368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 Acquisition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4800600" y="3822192"/>
            <a:ext cx="13258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4800600" y="3822192"/>
            <a:ext cx="397764" cy="59436"/>
          </a:xfrm>
          <a:prstGeom prst="rect">
            <a:avLst/>
          </a:prstGeom>
          <a:solidFill>
            <a:srgbClr val="2D3142"/>
          </a:solidFill>
          <a:ln w="12700">
            <a:solidFill>
              <a:srgbClr val="2D3142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873752" y="3895344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 JD 144K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4873752" y="4087368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Personnel (14 FTE)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6263640" y="3822192"/>
            <a:ext cx="13258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6263640" y="3822192"/>
            <a:ext cx="39776" cy="59436"/>
          </a:xfrm>
          <a:prstGeom prst="rect">
            <a:avLst/>
          </a:prstGeom>
          <a:solidFill>
            <a:srgbClr val="8A94A8"/>
          </a:solidFill>
          <a:ln w="12700">
            <a:solidFill>
              <a:srgbClr val="8A94A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336792" y="3895344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  JD 15K</a:t>
            </a:r>
            <a:endParaRPr lang="en-US" sz="1050" dirty="0"/>
          </a:p>
        </p:txBody>
      </p:sp>
      <p:sp>
        <p:nvSpPr>
          <p:cNvPr id="77" name="Text 75"/>
          <p:cNvSpPr/>
          <p:nvPr/>
        </p:nvSpPr>
        <p:spPr>
          <a:xfrm>
            <a:off x="6336792" y="4087368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+ Regulatory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7726680" y="3822192"/>
            <a:ext cx="13258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7726680" y="3822192"/>
            <a:ext cx="66294" cy="5943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799832" y="3895344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 JD 23K</a:t>
            </a:r>
            <a:endParaRPr lang="en-US" sz="1050" dirty="0"/>
          </a:p>
        </p:txBody>
      </p:sp>
      <p:sp>
        <p:nvSpPr>
          <p:cNvPr id="81" name="Text 79"/>
          <p:cNvSpPr/>
          <p:nvPr/>
        </p:nvSpPr>
        <p:spPr>
          <a:xfrm>
            <a:off x="7799832" y="4087368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Capital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29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172244"/>
          </a:solidFill>
          <a:ln w="15240">
            <a:solidFill>
              <a:srgbClr val="C9A4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74320"/>
            <a:ext cx="64008" cy="640080"/>
          </a:xfrm>
          <a:prstGeom prst="rect">
            <a:avLst/>
          </a:prstGeom>
          <a:solidFill>
            <a:srgbClr val="C9A441"/>
          </a:solidFill>
          <a:ln w="12700">
            <a:solidFill>
              <a:srgbClr val="C9A44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&amp; The Ask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Souq moment for non-GCC mobility. The window is open. Now.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005840"/>
            <a:ext cx="8321040" cy="22860"/>
          </a:xfrm>
          <a:prstGeom prst="rect">
            <a:avLst/>
          </a:prstGeom>
          <a:solidFill>
            <a:srgbClr val="2E4170"/>
          </a:solidFill>
          <a:ln w="12700">
            <a:solidFill>
              <a:srgbClr val="2E41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170432"/>
            <a:ext cx="1920240" cy="1417320"/>
          </a:xfrm>
          <a:prstGeom prst="rect">
            <a:avLst/>
          </a:prstGeom>
          <a:solidFill>
            <a:srgbClr val="111D3A"/>
          </a:solidFill>
          <a:ln w="15240">
            <a:solidFill>
              <a:srgbClr val="0280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170432"/>
            <a:ext cx="1920240" cy="502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9496" y="12344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9496" y="15087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$311K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39496" y="19202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drivers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39496" y="21031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Amman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532888" y="1170432"/>
            <a:ext cx="1920240" cy="1417320"/>
          </a:xfrm>
          <a:prstGeom prst="rect">
            <a:avLst/>
          </a:prstGeom>
          <a:solidFill>
            <a:srgbClr val="111D3A"/>
          </a:solidFill>
          <a:ln w="15240">
            <a:solidFill>
              <a:srgbClr val="02809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32888" y="1170432"/>
            <a:ext cx="1920240" cy="502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60904" y="12344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60904" y="15087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$1.96M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2660904" y="19202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 drivers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660904" y="21031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Jordan cities + Iraq entry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654296" y="1170432"/>
            <a:ext cx="1920240" cy="1417320"/>
          </a:xfrm>
          <a:prstGeom prst="rect">
            <a:avLst/>
          </a:prstGeom>
          <a:solidFill>
            <a:srgbClr val="111D3A"/>
          </a:solidFill>
          <a:ln w="15240">
            <a:solidFill>
              <a:srgbClr val="C9A44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54296" y="1170432"/>
            <a:ext cx="1920240" cy="50292"/>
          </a:xfrm>
          <a:prstGeom prst="rect">
            <a:avLst/>
          </a:prstGeom>
          <a:solidFill>
            <a:srgbClr val="C9A441"/>
          </a:solidFill>
          <a:ln w="12700">
            <a:solidFill>
              <a:srgbClr val="C9A44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82312" y="12344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82312" y="15087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$4.11M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4782312" y="19202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10,000+ drivers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82312" y="21031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Jordan mature + Iraq growth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775704" y="1170432"/>
            <a:ext cx="1920240" cy="1417320"/>
          </a:xfrm>
          <a:prstGeom prst="rect">
            <a:avLst/>
          </a:prstGeom>
          <a:solidFill>
            <a:srgbClr val="111D3A"/>
          </a:solidFill>
          <a:ln w="15240">
            <a:solidFill>
              <a:srgbClr val="C9A44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75704" y="1170432"/>
            <a:ext cx="1920240" cy="50292"/>
          </a:xfrm>
          <a:prstGeom prst="rect">
            <a:avLst/>
          </a:prstGeom>
          <a:solidFill>
            <a:srgbClr val="C9A441"/>
          </a:solidFill>
          <a:ln w="12700">
            <a:solidFill>
              <a:srgbClr val="C9A44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03720" y="12344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03720" y="15087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$9.22M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6903720" y="19202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13,966 drivers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903720" y="21031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markets: Jordan, Iraq, Egypt, Levant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11480" y="2724912"/>
            <a:ext cx="5349240" cy="594360"/>
          </a:xfrm>
          <a:prstGeom prst="rect">
            <a:avLst/>
          </a:prstGeom>
          <a:solidFill>
            <a:srgbClr val="0D1830"/>
          </a:solidFill>
          <a:ln w="12700">
            <a:solidFill>
              <a:srgbClr val="2E417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2761488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8"/>
                </a:solidFill>
              </a:rPr>
              <a:t>Maktoob  </a:t>
            </a:r>
            <a:pPr indent="0" marL="0">
              <a:buNone/>
            </a:pPr>
            <a:r>
              <a:rPr lang="en-US" sz="1000" b="1" dirty="0">
                <a:solidFill>
                  <a:srgbClr val="E8C96A"/>
                </a:solidFill>
              </a:rPr>
              <a:t>$164M</a:t>
            </a:r>
            <a:pPr indent="0" marL="0">
              <a:buNone/>
            </a:pPr>
            <a:r>
              <a:rPr lang="en-US" sz="1000" dirty="0">
                <a:solidFill>
                  <a:srgbClr val="8A94A8"/>
                </a:solidFill>
              </a:rPr>
              <a:t> to Yahoo  ·  </a:t>
            </a:r>
            <a:pPr indent="0" marL="0">
              <a:buNone/>
            </a:pPr>
            <a:r>
              <a:rPr lang="en-US" sz="1000" dirty="0">
                <a:solidFill>
                  <a:srgbClr val="8A94A8"/>
                </a:solidFill>
              </a:rPr>
              <a:t>Souq  </a:t>
            </a:r>
            <a:pPr indent="0" marL="0">
              <a:buNone/>
            </a:pPr>
            <a:r>
              <a:rPr lang="en-US" sz="1000" b="1" dirty="0">
                <a:solidFill>
                  <a:srgbClr val="E8C96A"/>
                </a:solidFill>
              </a:rPr>
              <a:t>$580M</a:t>
            </a:r>
            <a:pPr indent="0" marL="0">
              <a:buNone/>
            </a:pPr>
            <a:r>
              <a:rPr lang="en-US" sz="1000" dirty="0">
                <a:solidFill>
                  <a:srgbClr val="8A94A8"/>
                </a:solidFill>
              </a:rPr>
              <a:t> to Amazon  ·  </a:t>
            </a:r>
            <a:pPr indent="0" marL="0">
              <a:buNone/>
            </a:pPr>
            <a:r>
              <a:rPr lang="en-US" sz="1000" b="1" dirty="0">
                <a:solidFill>
                  <a:srgbClr val="C9A441"/>
                </a:solidFill>
              </a:rPr>
              <a:t>Wasel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?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" y="3017520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seen this film before. You know how it ends.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989320" y="2724912"/>
            <a:ext cx="2743200" cy="1938528"/>
          </a:xfrm>
          <a:prstGeom prst="rect">
            <a:avLst/>
          </a:prstGeom>
          <a:solidFill>
            <a:srgbClr val="C9A441"/>
          </a:solidFill>
          <a:ln w="12700">
            <a:solidFill>
              <a:srgbClr val="C9A44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126480" y="279806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126480" y="3072384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 472,000</a:t>
            </a:r>
            <a:endParaRPr lang="en-US" sz="3000" dirty="0"/>
          </a:p>
        </p:txBody>
      </p:sp>
      <p:sp>
        <p:nvSpPr>
          <p:cNvPr id="37" name="Text 35"/>
          <p:cNvSpPr/>
          <p:nvPr/>
        </p:nvSpPr>
        <p:spPr>
          <a:xfrm>
            <a:off x="6126480" y="359359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~$665,000 USD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236208" y="3877056"/>
            <a:ext cx="2249424" cy="20117"/>
          </a:xfrm>
          <a:prstGeom prst="rect">
            <a:avLst/>
          </a:prstGeom>
          <a:solidFill>
            <a:srgbClr val="111D3A"/>
          </a:solidFill>
          <a:ln w="12700">
            <a:solidFill>
              <a:srgbClr val="111D3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26480" y="393192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→ Series A → Regional Exit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126480" y="414223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1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69× return at 5× ARR conservative exit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11480" y="4315968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questions do you have about the model?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11D3A"/>
          </a:solidFill>
          <a:ln w="12700">
            <a:solidFill>
              <a:srgbClr val="111D3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992624"/>
            <a:ext cx="8412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WASEL  ·  Confidential  ·  Seed Round 2026  ·  JD 472,000  ·  March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Wasel — Seed Round Pitch Deck</dc:title>
  <dc:subject>PptxGenJS Presentation</dc:subject>
  <dc:creator>Wasel</dc:creator>
  <cp:lastModifiedBy>Wasel</cp:lastModifiedBy>
  <cp:revision>1</cp:revision>
  <dcterms:created xsi:type="dcterms:W3CDTF">2026-04-01T01:55:45Z</dcterms:created>
  <dcterms:modified xsi:type="dcterms:W3CDTF">2026-04-01T01:55:45Z</dcterms:modified>
</cp:coreProperties>
</file>