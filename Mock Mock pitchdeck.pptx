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6" r:id="rId2"/>
    <p:sldId id="262" r:id="rId3"/>
    <p:sldId id="263" r:id="rId4"/>
    <p:sldId id="264" r:id="rId5"/>
    <p:sldId id="26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C2C2"/>
    <a:srgbClr val="919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62"/>
    <p:restoredTop sz="94716"/>
  </p:normalViewPr>
  <p:slideViewPr>
    <p:cSldViewPr snapToGrid="0">
      <p:cViewPr>
        <p:scale>
          <a:sx n="89" d="100"/>
          <a:sy n="89" d="100"/>
        </p:scale>
        <p:origin x="2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rPr lang="en-US" sz="1600" b="1">
                <a:solidFill>
                  <a:srgbClr val="FFFFFF"/>
                </a:solidFill>
                <a:latin typeface="Inter"/>
              </a:rPr>
              <a:t>Total Revenue (JOD thousands)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v>Subscription Revenue</c:v>
          </c:tx>
          <c:spPr>
            <a:solidFill>
              <a:srgbClr val="00D4AA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Year 1</c:v>
              </c:pt>
              <c:pt idx="1">
                <c:v>Year 2</c:v>
              </c:pt>
              <c:pt idx="2">
                <c:v>Year 3</c:v>
              </c:pt>
              <c:pt idx="3">
                <c:v>Year 4</c:v>
              </c:pt>
              <c:pt idx="4">
                <c:v>Year 5</c:v>
              </c:pt>
            </c:strLit>
          </c:cat>
          <c:val>
            <c:numLit>
              <c:formatCode>General</c:formatCode>
              <c:ptCount val="5"/>
              <c:pt idx="0">
                <c:v>157</c:v>
              </c:pt>
              <c:pt idx="1">
                <c:v>962</c:v>
              </c:pt>
              <c:pt idx="2">
                <c:v>2016</c:v>
              </c:pt>
              <c:pt idx="3">
                <c:v>3573</c:v>
              </c:pt>
              <c:pt idx="4">
                <c:v>5548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612-7A4A-BFFC-36ACADAA1570}"/>
            </c:ext>
          </c:extLst>
        </c:ser>
        <c:ser>
          <c:idx val="1"/>
          <c:order val="1"/>
          <c:tx>
            <c:v>Ancillary Revenue</c:v>
          </c:tx>
          <c:spPr>
            <a:solidFill>
              <a:srgbClr val="4FC3F7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Year 1</c:v>
              </c:pt>
              <c:pt idx="1">
                <c:v>Year 2</c:v>
              </c:pt>
              <c:pt idx="2">
                <c:v>Year 3</c:v>
              </c:pt>
              <c:pt idx="3">
                <c:v>Year 4</c:v>
              </c:pt>
              <c:pt idx="4">
                <c:v>Year 5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28</c:v>
              </c:pt>
              <c:pt idx="2">
                <c:v>139</c:v>
              </c:pt>
              <c:pt idx="3">
                <c:v>423</c:v>
              </c:pt>
              <c:pt idx="4">
                <c:v>991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612-7A4A-BFFC-36ACADAA15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8899AA"/>
                </a:solidFill>
                <a:latin typeface="Inter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2A3550"/>
            </a:solidFill>
          </a:ln>
        </c:spPr>
        <c:txPr>
          <a:bodyPr/>
          <a:lstStyle/>
          <a:p>
            <a:pPr>
              <a:defRPr sz="1400">
                <a:solidFill>
                  <a:srgbClr val="8899AA"/>
                </a:solidFill>
                <a:latin typeface="Inter"/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8899AA"/>
              </a:solidFill>
              <a:latin typeface="Inter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FFFFFF"/>
                </a:solidFill>
                <a:latin typeface="Inter"/>
              </a:defRPr>
            </a:pPr>
            <a:r>
              <a:rPr lang="en-US" sz="1600" b="1">
                <a:solidFill>
                  <a:srgbClr val="FFFFFF"/>
                </a:solidFill>
                <a:latin typeface="Inter"/>
              </a:rPr>
              <a:t>EBITDA (JOD thousands) and Margin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EBITDA (JOD K)</c:v>
          </c:tx>
          <c:spPr>
            <a:solidFill>
              <a:srgbClr val="00D4AA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Inte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Year 1</c:v>
              </c:pt>
              <c:pt idx="1">
                <c:v>Year 2</c:v>
              </c:pt>
              <c:pt idx="2">
                <c:v>Year 3</c:v>
              </c:pt>
              <c:pt idx="3">
                <c:v>Year 4</c:v>
              </c:pt>
              <c:pt idx="4">
                <c:v>Year 5</c:v>
              </c:pt>
            </c:strLit>
          </c:cat>
          <c:val>
            <c:numLit>
              <c:formatCode>General</c:formatCode>
              <c:ptCount val="5"/>
              <c:pt idx="0">
                <c:v>-790</c:v>
              </c:pt>
              <c:pt idx="1">
                <c:v>121</c:v>
              </c:pt>
              <c:pt idx="2">
                <c:v>888</c:v>
              </c:pt>
              <c:pt idx="3">
                <c:v>2237</c:v>
              </c:pt>
              <c:pt idx="4">
                <c:v>4225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374-6546-A8C3-B7EEEDAE04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8899AA"/>
                </a:solidFill>
                <a:latin typeface="Inter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2A3550"/>
            </a:solidFill>
          </a:ln>
        </c:spPr>
        <c:txPr>
          <a:bodyPr/>
          <a:lstStyle/>
          <a:p>
            <a:pPr>
              <a:defRPr sz="1400">
                <a:solidFill>
                  <a:srgbClr val="8899AA"/>
                </a:solidFill>
                <a:latin typeface="Inter"/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8899AA"/>
              </a:solidFill>
              <a:latin typeface="Inter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8BF4B-111D-0696-EB5D-4F5DCA6C9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67A0BC-0E66-BD95-5034-15D61A80C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056CD-5E13-22F0-0C5B-4268C21AD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12579-8222-8D4B-9F89-AE443FAA8C3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CCB01-3D7A-9835-AB16-0A9CE723F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191E0-EAA0-F0D6-FF9C-4A93A956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2767-2C28-F64C-8DC5-720838DEE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79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C1A95-14DB-E5F8-EE46-85B0BDA91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C76D0-2BE3-E984-9324-01C6B59B4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B2C61-D960-8EDC-AF80-2BE9280AF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12579-8222-8D4B-9F89-AE443FAA8C3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6FF08-B311-5E26-B9A3-C900A9218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2074B-376C-3AEA-E33B-74701742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2767-2C28-F64C-8DC5-720838DEE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23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69C8-32FA-0C90-7268-59E913E1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98942-6465-363F-51D0-54089AEE1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15668-6657-D486-8BA9-CA5E908DE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12579-8222-8D4B-9F89-AE443FAA8C3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26421-F702-EDF1-6FA6-7C4E862A5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DE345-1192-E7B9-DB75-9A870828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2767-2C28-F64C-8DC5-720838DEE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6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8EB9-F529-F208-EFC9-5157B7C97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53BA9-C62F-E773-78F8-A13744E73A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25A812-40B8-BEC8-73DC-AFF24618B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2745B-7E6B-C47B-E851-F7382E22F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12579-8222-8D4B-9F89-AE443FAA8C3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C2F3E-E583-4E8A-DA21-FD817636C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77D2B-2CEB-C422-A642-3E71D320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2767-2C28-F64C-8DC5-720838DEE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1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ED49-AECC-1C2A-262D-3B51AA188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B15CC-CABA-5517-E267-1A217FAA4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20D24-FE75-136D-946F-528C35BB9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C83C8E-72BE-782A-C5A8-088461993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83DBF-E4FF-472C-36F9-06CF6527A7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B0C3B4-2B0F-8FAC-D87C-C914649C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12579-8222-8D4B-9F89-AE443FAA8C3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CF573-2020-9F9C-B975-1E3163B02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D639DE-5DDE-E204-FD8B-8290BDD8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2767-2C28-F64C-8DC5-720838DEE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1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5AD0B-04CC-2DED-253F-0DBE37E1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20E204-4C5C-FC01-6E87-11238E45E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12579-8222-8D4B-9F89-AE443FAA8C3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F8CF1-61EA-C389-7BD0-1A75998BF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052A4-86D4-A3A4-1DA8-07C47612F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2767-2C28-F64C-8DC5-720838DEE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62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2ADF1F-F9E8-7E91-1D78-E1109B0B2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12579-8222-8D4B-9F89-AE443FAA8C3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79F924-74CC-7CC8-52D3-E9C765B5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77CBB-288C-CEA3-A60B-1C5A6D64D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2767-2C28-F64C-8DC5-720838DEE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89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923F-EFE9-F123-CD78-F1D251DD2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E6798-5DA2-A22A-B8D8-9DAFAFB7B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76A7F-A922-A276-85EE-24DD074DE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C6477-651B-88BC-135B-E958E9AF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12579-8222-8D4B-9F89-AE443FAA8C3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31E87-631D-F4D8-B4C8-42E4B4360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41E8A-E602-AC90-18D3-79CC6C2AE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2767-2C28-F64C-8DC5-720838DEE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76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12AF1-2398-CD70-24FD-BFF865986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396CB-10C2-74BE-B822-3FF0DCA18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C281D-F77F-1572-98C7-BA6CE2D2F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D7585-8BEE-9273-FFFE-F91EC5A78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12579-8222-8D4B-9F89-AE443FAA8C3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6A5D7-FF00-C268-DC74-0D5CA25F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137FC-B32C-D00A-CE7A-6599CD03A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2767-2C28-F64C-8DC5-720838DEE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477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3CE1-379C-153B-45B8-9D12B5451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CA0CA-4AFE-B6B8-A4D5-A6DF8F833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000DD-9514-15CF-3E0D-DC58BC22A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12579-8222-8D4B-9F89-AE443FAA8C3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DB983-A267-2C2F-B241-C985F611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A9213-4EC5-197F-E8AB-6A0100BC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2767-2C28-F64C-8DC5-720838DEE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32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756605-4E54-CFEF-91B8-7CE44A26C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5BC99-9CEE-46AF-EDE4-E06B32B62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CE6B1-55C2-A843-4354-37A95929D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12579-8222-8D4B-9F89-AE443FAA8C3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D01BF-3837-A456-DB01-2D6DDA23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3151D-FCE7-A191-1309-7797C5F7F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2767-2C28-F64C-8DC5-720838DEE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1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120"/>
            </a:gs>
            <a:gs pos="100000">
              <a:srgbClr val="0F1A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D7C62D-BC27-DDFB-602A-902ECB3AD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8AD3B-EF68-E53C-156B-397DA3A90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C2ACF-44E6-8A2C-866C-773BA0D68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212579-8222-8D4B-9F89-AE443FAA8C3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830F3-64D8-DC70-898F-CEA30AD67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6BC44-3D17-E1D9-4C10-A079CD465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D2767-2C28-F64C-8DC5-720838DEEDD5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 Bar"/>
          <p:cNvSpPr/>
          <p:nvPr/>
        </p:nvSpPr>
        <p:spPr>
          <a:xfrm>
            <a:off x="0" y="6705600"/>
            <a:ext cx="12192000" cy="45720"/>
          </a:xfrm>
          <a:prstGeom prst="rect">
            <a:avLst/>
          </a:prstGeom>
          <a:gradFill>
            <a:gsLst>
              <a:gs pos="0">
                <a:srgbClr val="00D4AA"/>
              </a:gs>
              <a:gs pos="50000">
                <a:srgbClr val="4FC3F7"/>
              </a:gs>
              <a:gs pos="100000">
                <a:srgbClr val="E040F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Corner Accent"/>
          <p:cNvSpPr/>
          <p:nvPr/>
        </p:nvSpPr>
        <p:spPr>
          <a:xfrm>
            <a:off x="10972800" y="0"/>
            <a:ext cx="1219200" cy="1219200"/>
          </a:xfrm>
          <a:prstGeom prst="ellipse">
            <a:avLst/>
          </a:prstGeom>
          <a:gradFill>
            <a:gsLst>
              <a:gs pos="0">
                <a:srgbClr val="00D4AA">
                  <a:alpha val="8000"/>
                </a:srgbClr>
              </a:gs>
              <a:gs pos="100000">
                <a:srgbClr val="00D4A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9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0D8E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eco Circle"/>
          <p:cNvSpPr/>
          <p:nvPr/>
        </p:nvSpPr>
        <p:spPr>
          <a:xfrm>
            <a:off x="7620000" y="-914400"/>
            <a:ext cx="5486400" cy="5486400"/>
          </a:xfrm>
          <a:prstGeom prst="ellipse">
            <a:avLst/>
          </a:prstGeom>
          <a:gradFill>
            <a:gsLst>
              <a:gs pos="0">
                <a:srgbClr val="00D4AA">
                  <a:alpha val="6000"/>
                </a:srgbClr>
              </a:gs>
              <a:gs pos="100000">
                <a:srgbClr val="4FC3F7">
                  <a:alpha val="2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itle"/>
          <p:cNvSpPr/>
          <p:nvPr/>
        </p:nvSpPr>
        <p:spPr>
          <a:xfrm>
            <a:off x="914400" y="1828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6000" b="1" dirty="0">
                <a:solidFill>
                  <a:srgbClr val="FFFFFF"/>
                </a:solidFill>
                <a:latin typeface="Montserrat"/>
              </a:rPr>
              <a:t>WASEL</a:t>
            </a:r>
          </a:p>
        </p:txBody>
      </p:sp>
      <p:sp>
        <p:nvSpPr>
          <p:cNvPr id="52" name="Tagline"/>
          <p:cNvSpPr/>
          <p:nvPr/>
        </p:nvSpPr>
        <p:spPr>
          <a:xfrm>
            <a:off x="914400" y="297180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2400" dirty="0">
                <a:solidFill>
                  <a:srgbClr val="00D4AA"/>
                </a:solidFill>
                <a:latin typeface="Inter"/>
              </a:rPr>
              <a:t>The subscription platform where drivers keep 100%</a:t>
            </a:r>
          </a:p>
        </p:txBody>
      </p:sp>
      <p:sp>
        <p:nvSpPr>
          <p:cNvPr id="53" name="Subtitle"/>
          <p:cNvSpPr/>
          <p:nvPr/>
        </p:nvSpPr>
        <p:spPr>
          <a:xfrm>
            <a:off x="914400" y="3886200"/>
            <a:ext cx="10363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1600" dirty="0">
                <a:solidFill>
                  <a:srgbClr val="8899AA"/>
                </a:solidFill>
                <a:latin typeface="Inter"/>
              </a:rPr>
              <a:t>Ride-Hailing  |  Amman, Jordan  |  Seed Round  |  February 2026</a:t>
            </a:r>
          </a:p>
        </p:txBody>
      </p:sp>
      <p:sp>
        <p:nvSpPr>
          <p:cNvPr id="54" name="Accent Line"/>
          <p:cNvSpPr/>
          <p:nvPr/>
        </p:nvSpPr>
        <p:spPr>
          <a:xfrm>
            <a:off x="914400" y="3733800"/>
            <a:ext cx="3657600" cy="0"/>
          </a:xfrm>
          <a:prstGeom prst="line">
            <a:avLst/>
          </a:prstGeom>
          <a:ln w="38100">
            <a:solidFill>
              <a:srgbClr val="00D4AA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78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"/>
          <p:cNvSpPr/>
          <p:nvPr/>
        </p:nvSpPr>
        <p:spPr>
          <a:xfrm>
            <a:off x="609600" y="2286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/>
              </a:rPr>
              <a:t>THE PROBLEM</a:t>
            </a:r>
          </a:p>
        </p:txBody>
      </p:sp>
      <p:sp>
        <p:nvSpPr>
          <p:cNvPr id="61" name="Subtitle"/>
          <p:cNvSpPr/>
          <p:nvPr/>
        </p:nvSpPr>
        <p:spPr>
          <a:xfrm>
            <a:off x="609600" y="914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1800" dirty="0">
                <a:solidFill>
                  <a:srgbClr val="8899AA"/>
                </a:solidFill>
                <a:latin typeface="Inter"/>
              </a:rPr>
              <a:t>Drivers in Jordan, Iraq, and Egypt lose up to 30% of every fare to commission platforms</a:t>
            </a:r>
          </a:p>
        </p:txBody>
      </p:sp>
      <p:sp>
        <p:nvSpPr>
          <p:cNvPr id="62" name="Big Stat"/>
          <p:cNvSpPr/>
          <p:nvPr/>
        </p:nvSpPr>
        <p:spPr>
          <a:xfrm>
            <a:off x="609600" y="1600200"/>
            <a:ext cx="4572000" cy="22860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FF5252"/>
            </a:solidFill>
          </a:ln>
        </p:spPr>
        <p:txBody>
          <a:bodyPr wrap="square" lIns="182880" rIns="182880" anchor="ctr"/>
          <a:lstStyle/>
          <a:p>
            <a:pPr algn="l">
              <a:buNone/>
            </a:pPr>
            <a:r>
              <a:rPr lang="en-US" sz="6000" b="1" dirty="0">
                <a:solidFill>
                  <a:srgbClr val="FF5252"/>
                </a:solidFill>
                <a:latin typeface="Montserrat"/>
              </a:rPr>
              <a:t>30%</a:t>
            </a:r>
          </a:p>
          <a:p>
            <a:pPr algn="l">
              <a:buNone/>
            </a:pPr>
            <a:r>
              <a:rPr lang="en-US" sz="1800" dirty="0">
                <a:solidFill>
                  <a:srgbClr val="FFFFFF"/>
                </a:solidFill>
                <a:latin typeface="Inter"/>
              </a:rPr>
              <a:t>Commission taken per ride by Uber </a:t>
            </a:r>
            <a:r>
              <a:rPr lang="en-US" sz="1800" dirty="0">
                <a:solidFill>
                  <a:srgbClr val="8899AA"/>
                </a:solidFill>
                <a:latin typeface="Inter"/>
              </a:rPr>
              <a:t>&amp;</a:t>
            </a:r>
            <a:r>
              <a:rPr lang="en-US" sz="1800" dirty="0">
                <a:solidFill>
                  <a:srgbClr val="FFFFFF"/>
                </a:solidFill>
                <a:latin typeface="Inter"/>
              </a:rPr>
              <a:t> Careem</a:t>
            </a:r>
          </a:p>
          <a:p>
            <a:pPr algn="l">
              <a:buNone/>
            </a:pPr>
            <a:r>
              <a:rPr lang="en-US" sz="1600" dirty="0">
                <a:solidFill>
                  <a:srgbClr val="8899AA"/>
                </a:solidFill>
                <a:latin typeface="Inter"/>
              </a:rPr>
              <a:t>= JD 175/month lost per driver</a:t>
            </a:r>
          </a:p>
        </p:txBody>
      </p:sp>
      <p:sp>
        <p:nvSpPr>
          <p:cNvPr id="63" name="Pain Points"/>
          <p:cNvSpPr/>
          <p:nvPr/>
        </p:nvSpPr>
        <p:spPr>
          <a:xfrm>
            <a:off x="5791200" y="1600200"/>
            <a:ext cx="5791200" cy="2286000"/>
          </a:xfrm>
          <a:prstGeom prst="rect">
            <a:avLst/>
          </a:prstGeom>
          <a:noFill/>
          <a:ln>
            <a:noFill/>
          </a:ln>
        </p:spPr>
        <p:txBody>
          <a:bodyPr wrap="square" lIns="182880" anchor="ctr"/>
          <a:lstStyle/>
          <a:p>
            <a:pPr algn="l">
              <a:buNone/>
            </a:pPr>
            <a:r>
              <a:rPr lang="en-US" sz="1600" dirty="0">
                <a:solidFill>
                  <a:srgbClr val="FFB74D"/>
                </a:solidFill>
                <a:latin typeface="Inter"/>
              </a:rPr>
              <a:t>50,000+</a:t>
            </a:r>
            <a:r>
              <a:rPr lang="en-US" sz="1600" dirty="0">
                <a:solidFill>
                  <a:srgbClr val="FFFFFF"/>
                </a:solidFill>
                <a:latin typeface="Inter"/>
              </a:rPr>
              <a:t> unlicensed drivers in Jordan alone operating outside the system</a:t>
            </a:r>
          </a:p>
          <a:p>
            <a:pPr algn="l">
              <a:buNone/>
            </a:pPr>
            <a:r>
              <a:rPr lang="en-US" sz="1600" dirty="0">
                <a:solidFill>
                  <a:srgbClr val="FFB74D"/>
                </a:solidFill>
                <a:latin typeface="Inter"/>
              </a:rPr>
              <a:t>92%</a:t>
            </a:r>
            <a:r>
              <a:rPr lang="en-US" sz="1600" dirty="0">
                <a:solidFill>
                  <a:srgbClr val="FFFFFF"/>
                </a:solidFill>
                <a:latin typeface="Inter"/>
              </a:rPr>
              <a:t> of Jordan licenses held by Uber + Careem duopoly</a:t>
            </a:r>
          </a:p>
          <a:p>
            <a:pPr algn="l">
              <a:buNone/>
            </a:pPr>
            <a:r>
              <a:rPr lang="en-US" sz="1600" dirty="0">
                <a:solidFill>
                  <a:srgbClr val="FFB74D"/>
                </a:solidFill>
                <a:latin typeface="Inter"/>
              </a:rPr>
              <a:t>65%</a:t>
            </a:r>
            <a:r>
              <a:rPr lang="en-US" sz="1600" dirty="0">
                <a:solidFill>
                  <a:srgbClr val="FFFFFF"/>
                </a:solidFill>
                <a:latin typeface="Inter"/>
              </a:rPr>
              <a:t> of payments are cash-based, yet platforms push digital-first</a:t>
            </a:r>
          </a:p>
          <a:p>
            <a:pPr algn="l">
              <a:buNone/>
            </a:pPr>
            <a:r>
              <a:rPr lang="en-US" sz="1600" dirty="0">
                <a:solidFill>
                  <a:srgbClr val="FFB74D"/>
                </a:solidFill>
                <a:latin typeface="Inter"/>
              </a:rPr>
              <a:t>Zero</a:t>
            </a:r>
            <a:r>
              <a:rPr lang="en-US" sz="1600" dirty="0">
                <a:solidFill>
                  <a:srgbClr val="FFFFFF"/>
                </a:solidFill>
                <a:latin typeface="Inter"/>
              </a:rPr>
              <a:t> insurance or maintenance support from commission platforms</a:t>
            </a:r>
          </a:p>
        </p:txBody>
      </p:sp>
      <p:sp>
        <p:nvSpPr>
          <p:cNvPr id="64" name="Quote"/>
          <p:cNvSpPr/>
          <p:nvPr/>
        </p:nvSpPr>
        <p:spPr>
          <a:xfrm>
            <a:off x="609600" y="4343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600" i="1" dirty="0">
                <a:solidFill>
                  <a:srgbClr val="00D4AA"/>
                </a:solidFill>
                <a:latin typeface="Inter"/>
              </a:rPr>
              <a:t>"In markets where 30% means the difference between a living wage and poverty — there is no competition."</a:t>
            </a:r>
          </a:p>
        </p:txBody>
      </p:sp>
    </p:spTree>
    <p:extLst>
      <p:ext uri="{BB962C8B-B14F-4D97-AF65-F5344CB8AC3E}">
        <p14:creationId xmlns:p14="http://schemas.microsoft.com/office/powerpoint/2010/main" val="1582620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"/>
          <p:cNvSpPr/>
          <p:nvPr/>
        </p:nvSpPr>
        <p:spPr>
          <a:xfrm>
            <a:off x="609600" y="2286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/>
              </a:rPr>
              <a:t>MARKET OPPORTUNITY</a:t>
            </a:r>
          </a:p>
        </p:txBody>
      </p:sp>
      <p:sp>
        <p:nvSpPr>
          <p:cNvPr id="71" name="Sub"/>
          <p:cNvSpPr/>
          <p:nvPr/>
        </p:nvSpPr>
        <p:spPr>
          <a:xfrm>
            <a:off x="609600" y="9144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1600" dirty="0">
                <a:solidFill>
                  <a:srgbClr val="8899AA"/>
                </a:solidFill>
                <a:latin typeface="Inter"/>
              </a:rPr>
              <a:t>$2.15B+ combined ride-hailing market across Jordan, Iraq, and Egypt — growing at 9-14% CAGR</a:t>
            </a:r>
          </a:p>
        </p:txBody>
      </p:sp>
      <p:sp>
        <p:nvSpPr>
          <p:cNvPr id="100" name="Jordan Card"/>
          <p:cNvSpPr/>
          <p:nvPr/>
        </p:nvSpPr>
        <p:spPr>
          <a:xfrm>
            <a:off x="609600" y="1524000"/>
            <a:ext cx="3505200" cy="27432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00D4AA">
                <a:alpha val="40000"/>
              </a:srgbClr>
            </a:solidFill>
          </a:ln>
        </p:spPr>
        <p:txBody>
          <a:bodyPr wrap="square" lIns="182880" tIns="182880" rIns="182880" anchor="t"/>
          <a:lstStyle/>
          <a:p>
            <a:pPr algn="l">
              <a:buNone/>
            </a:pPr>
            <a:r>
              <a:rPr lang="en-US" sz="2200" b="1" dirty="0">
                <a:solidFill>
                  <a:srgbClr val="00D4AA"/>
                </a:solidFill>
                <a:latin typeface="Montserrat"/>
              </a:rPr>
              <a:t>Jordan</a:t>
            </a:r>
          </a:p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/>
              </a:rPr>
              <a:t>$61.5M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Market Size (GTV)</a:t>
            </a:r>
          </a:p>
          <a:p>
            <a:pPr algn="l">
              <a:buNone/>
            </a:pPr>
            <a:r>
              <a:rPr lang="en-US" sz="1600" dirty="0">
                <a:solidFill>
                  <a:srgbClr val="FFFFFF"/>
                </a:solidFill>
                <a:latin typeface="Inter"/>
              </a:rPr>
              <a:t>CAGR: </a:t>
            </a:r>
            <a:r>
              <a:rPr lang="en-US" sz="1600" b="1" dirty="0">
                <a:solidFill>
                  <a:srgbClr val="00D4AA"/>
                </a:solidFill>
                <a:latin typeface="Inter"/>
              </a:rPr>
              <a:t>5.2%</a:t>
            </a:r>
          </a:p>
          <a:p>
            <a:pPr algn="l">
              <a:buNone/>
            </a:pPr>
            <a:r>
              <a:rPr lang="en-US" sz="1600" dirty="0">
                <a:solidFill>
                  <a:srgbClr val="FFFFFF"/>
                </a:solidFill>
                <a:latin typeface="Inter"/>
              </a:rPr>
              <a:t>Drivers: </a:t>
            </a:r>
            <a:r>
              <a:rPr lang="en-US" sz="1600" b="1" dirty="0">
                <a:solidFill>
                  <a:srgbClr val="00D4AA"/>
                </a:solidFill>
                <a:latin typeface="Inter"/>
              </a:rPr>
              <a:t>22,000</a:t>
            </a:r>
          </a:p>
        </p:txBody>
      </p:sp>
      <p:sp>
        <p:nvSpPr>
          <p:cNvPr id="101" name="Iraq Card"/>
          <p:cNvSpPr/>
          <p:nvPr/>
        </p:nvSpPr>
        <p:spPr>
          <a:xfrm>
            <a:off x="4419600" y="1524000"/>
            <a:ext cx="3505200" cy="27432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4FC3F7">
                <a:alpha val="40000"/>
              </a:srgbClr>
            </a:solidFill>
          </a:ln>
        </p:spPr>
        <p:txBody>
          <a:bodyPr wrap="square" lIns="182880" tIns="182880" rIns="182880" anchor="t"/>
          <a:lstStyle/>
          <a:p>
            <a:pPr algn="l">
              <a:buNone/>
            </a:pPr>
            <a:r>
              <a:rPr lang="en-US" sz="2200" b="1" dirty="0">
                <a:solidFill>
                  <a:srgbClr val="4FC3F7"/>
                </a:solidFill>
                <a:latin typeface="Montserrat"/>
              </a:rPr>
              <a:t>Iraq</a:t>
            </a:r>
          </a:p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/>
              </a:rPr>
              <a:t>$120M+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Market Size (GTV)</a:t>
            </a:r>
          </a:p>
          <a:p>
            <a:pPr algn="l">
              <a:buNone/>
            </a:pPr>
            <a:r>
              <a:rPr lang="en-US" sz="1600" dirty="0">
                <a:solidFill>
                  <a:srgbClr val="FFFFFF"/>
                </a:solidFill>
                <a:latin typeface="Inter"/>
              </a:rPr>
              <a:t>CAGR: </a:t>
            </a:r>
            <a:r>
              <a:rPr lang="en-US" sz="1600" b="1" dirty="0">
                <a:solidFill>
                  <a:srgbClr val="4FC3F7"/>
                </a:solidFill>
                <a:latin typeface="Inter"/>
              </a:rPr>
              <a:t>12.0%</a:t>
            </a:r>
          </a:p>
          <a:p>
            <a:pPr algn="l">
              <a:buNone/>
            </a:pPr>
            <a:r>
              <a:rPr lang="en-US" sz="1600" dirty="0">
                <a:solidFill>
                  <a:srgbClr val="FFFFFF"/>
                </a:solidFill>
                <a:latin typeface="Inter"/>
              </a:rPr>
              <a:t>Drivers: </a:t>
            </a:r>
            <a:r>
              <a:rPr lang="en-US" sz="1600" b="1" dirty="0">
                <a:solidFill>
                  <a:srgbClr val="4FC3F7"/>
                </a:solidFill>
                <a:latin typeface="Inter"/>
              </a:rPr>
              <a:t>42,000</a:t>
            </a:r>
          </a:p>
        </p:txBody>
      </p:sp>
      <p:sp>
        <p:nvSpPr>
          <p:cNvPr id="102" name="Egypt Card"/>
          <p:cNvSpPr/>
          <p:nvPr/>
        </p:nvSpPr>
        <p:spPr>
          <a:xfrm>
            <a:off x="8229600" y="1524000"/>
            <a:ext cx="3505200" cy="27432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FFB74D">
                <a:alpha val="40000"/>
              </a:srgbClr>
            </a:solidFill>
          </a:ln>
        </p:spPr>
        <p:txBody>
          <a:bodyPr wrap="square" lIns="182880" tIns="182880" rIns="182880" anchor="t"/>
          <a:lstStyle/>
          <a:p>
            <a:pPr algn="l">
              <a:buNone/>
            </a:pPr>
            <a:r>
              <a:rPr lang="en-US" sz="2200" b="1" dirty="0">
                <a:solidFill>
                  <a:srgbClr val="FFB74D"/>
                </a:solidFill>
                <a:latin typeface="Montserrat"/>
              </a:rPr>
              <a:t>Egypt</a:t>
            </a:r>
          </a:p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/>
              </a:rPr>
              <a:t>$1.84B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Market Size (GTV)</a:t>
            </a:r>
          </a:p>
          <a:p>
            <a:pPr algn="l">
              <a:buNone/>
            </a:pPr>
            <a:r>
              <a:rPr lang="en-US" sz="1600" dirty="0">
                <a:solidFill>
                  <a:srgbClr val="FFFFFF"/>
                </a:solidFill>
                <a:latin typeface="Inter"/>
              </a:rPr>
              <a:t>CAGR: </a:t>
            </a:r>
            <a:r>
              <a:rPr lang="en-US" sz="1600" b="1" dirty="0">
                <a:solidFill>
                  <a:srgbClr val="FFB74D"/>
                </a:solidFill>
                <a:latin typeface="Inter"/>
              </a:rPr>
              <a:t>11.4%</a:t>
            </a:r>
          </a:p>
          <a:p>
            <a:pPr algn="l">
              <a:buNone/>
            </a:pPr>
            <a:r>
              <a:rPr lang="en-US" sz="1600" dirty="0">
                <a:solidFill>
                  <a:srgbClr val="FFFFFF"/>
                </a:solidFill>
                <a:latin typeface="Inter"/>
              </a:rPr>
              <a:t>Drivers: </a:t>
            </a:r>
            <a:r>
              <a:rPr lang="en-US" sz="1600" b="1" dirty="0">
                <a:solidFill>
                  <a:srgbClr val="FFB74D"/>
                </a:solidFill>
                <a:latin typeface="Inter"/>
              </a:rPr>
              <a:t>170,000</a:t>
            </a:r>
          </a:p>
        </p:txBody>
      </p:sp>
      <p:sp>
        <p:nvSpPr>
          <p:cNvPr id="75" name="Bottom Stats"/>
          <p:cNvSpPr/>
          <p:nvPr/>
        </p:nvSpPr>
        <p:spPr>
          <a:xfrm>
            <a:off x="609600" y="4572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600" dirty="0">
                <a:solidFill>
                  <a:srgbClr val="8899AA"/>
                </a:solidFill>
                <a:latin typeface="Inter"/>
              </a:rPr>
              <a:t>234,000 addressable drivers  |  $78M subscription TAM  |  Non-GCC sweet spot</a:t>
            </a:r>
          </a:p>
        </p:txBody>
      </p:sp>
    </p:spTree>
    <p:extLst>
      <p:ext uri="{BB962C8B-B14F-4D97-AF65-F5344CB8AC3E}">
        <p14:creationId xmlns:p14="http://schemas.microsoft.com/office/powerpoint/2010/main" val="92181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"/>
          <p:cNvSpPr/>
          <p:nvPr/>
        </p:nvSpPr>
        <p:spPr>
          <a:xfrm>
            <a:off x="609600" y="2286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/>
              </a:rPr>
              <a:t>TAM / SAM / SOM</a:t>
            </a:r>
          </a:p>
        </p:txBody>
      </p:sp>
      <p:sp>
        <p:nvSpPr>
          <p:cNvPr id="81" name="TAM Circle"/>
          <p:cNvSpPr/>
          <p:nvPr/>
        </p:nvSpPr>
        <p:spPr>
          <a:xfrm>
            <a:off x="1524000" y="1132954"/>
            <a:ext cx="4572000" cy="4572000"/>
          </a:xfrm>
          <a:prstGeom prst="ellipse">
            <a:avLst/>
          </a:prstGeom>
          <a:solidFill>
            <a:srgbClr val="00D4AA">
              <a:alpha val="15000"/>
            </a:srgbClr>
          </a:solidFill>
          <a:ln w="25400">
            <a:solidFill>
              <a:srgbClr val="00D4AA">
                <a:alpha val="60000"/>
              </a:srgbClr>
            </a:solidFill>
          </a:ln>
        </p:spPr>
        <p:txBody>
          <a:bodyPr tIns="182880" anchor="t"/>
          <a:lstStyle/>
          <a:p>
            <a:pPr algn="ctr">
              <a:buNone/>
            </a:pPr>
            <a:r>
              <a:rPr lang="en-US" sz="1400" b="1" dirty="0">
                <a:solidFill>
                  <a:srgbClr val="00D4AA"/>
                </a:solidFill>
                <a:latin typeface="Inter"/>
              </a:rPr>
              <a:t>TAM</a:t>
            </a:r>
          </a:p>
        </p:txBody>
      </p:sp>
      <p:sp>
        <p:nvSpPr>
          <p:cNvPr id="82" name="SAM Circle"/>
          <p:cNvSpPr/>
          <p:nvPr/>
        </p:nvSpPr>
        <p:spPr>
          <a:xfrm>
            <a:off x="2256020" y="2645828"/>
            <a:ext cx="3048000" cy="3048000"/>
          </a:xfrm>
          <a:prstGeom prst="ellipse">
            <a:avLst/>
          </a:prstGeom>
          <a:solidFill>
            <a:srgbClr val="4FC3F7">
              <a:alpha val="20000"/>
            </a:srgbClr>
          </a:solidFill>
          <a:ln w="25400">
            <a:solidFill>
              <a:srgbClr val="4FC3F7">
                <a:alpha val="60000"/>
              </a:srgbClr>
            </a:solidFill>
          </a:ln>
        </p:spPr>
        <p:txBody>
          <a:bodyPr tIns="182880" anchor="t"/>
          <a:lstStyle/>
          <a:p>
            <a:pPr algn="ctr">
              <a:buNone/>
            </a:pPr>
            <a:r>
              <a:rPr lang="en-US" sz="1400" b="1" dirty="0">
                <a:solidFill>
                  <a:srgbClr val="4FC3F7"/>
                </a:solidFill>
                <a:latin typeface="Inter"/>
              </a:rPr>
              <a:t>SAM</a:t>
            </a:r>
          </a:p>
        </p:txBody>
      </p:sp>
      <p:sp>
        <p:nvSpPr>
          <p:cNvPr id="83" name="SOM Circle"/>
          <p:cNvSpPr/>
          <p:nvPr/>
        </p:nvSpPr>
        <p:spPr>
          <a:xfrm>
            <a:off x="2957495" y="4027763"/>
            <a:ext cx="1676400" cy="1676400"/>
          </a:xfrm>
          <a:prstGeom prst="ellipse">
            <a:avLst/>
          </a:prstGeom>
          <a:solidFill>
            <a:srgbClr val="FFB74D">
              <a:alpha val="25000"/>
            </a:srgbClr>
          </a:solidFill>
          <a:ln w="25400">
            <a:solidFill>
              <a:srgbClr val="FFB74D">
                <a:alpha val="70000"/>
              </a:srgbClr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400" b="1" dirty="0">
                <a:solidFill>
                  <a:srgbClr val="FFB74D"/>
                </a:solidFill>
                <a:latin typeface="Inter"/>
              </a:rPr>
              <a:t>SOM</a:t>
            </a:r>
          </a:p>
        </p:txBody>
      </p:sp>
      <p:sp>
        <p:nvSpPr>
          <p:cNvPr id="90" name="TAM Desc"/>
          <p:cNvSpPr/>
          <p:nvPr/>
        </p:nvSpPr>
        <p:spPr>
          <a:xfrm>
            <a:off x="6858000" y="1143000"/>
            <a:ext cx="4876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1400" b="1" dirty="0">
                <a:solidFill>
                  <a:srgbClr val="00D4AA"/>
                </a:solidFill>
                <a:latin typeface="Inter"/>
              </a:rPr>
              <a:t>TAM</a:t>
            </a:r>
          </a:p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/>
              </a:rPr>
              <a:t>$2.15B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Gross ride-hailing GTV — Jordan + Iraq + Egypt</a:t>
            </a:r>
          </a:p>
          <a:p>
            <a:pPr algn="l">
              <a:buNone/>
            </a:pPr>
            <a:r>
              <a:rPr lang="en-US" sz="1400" dirty="0">
                <a:solidFill>
                  <a:srgbClr val="00D4AA"/>
                </a:solidFill>
                <a:latin typeface="Inter"/>
              </a:rPr>
              <a:t>$78M subscription revenue layer</a:t>
            </a:r>
          </a:p>
        </p:txBody>
      </p:sp>
      <p:sp>
        <p:nvSpPr>
          <p:cNvPr id="91" name="SAM Desc"/>
          <p:cNvSpPr/>
          <p:nvPr/>
        </p:nvSpPr>
        <p:spPr>
          <a:xfrm>
            <a:off x="6858000" y="2590800"/>
            <a:ext cx="4876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1400" b="1" dirty="0">
                <a:solidFill>
                  <a:srgbClr val="4FC3F7"/>
                </a:solidFill>
                <a:latin typeface="Inter"/>
              </a:rPr>
              <a:t>SAM</a:t>
            </a:r>
          </a:p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/>
              </a:rPr>
              <a:t>$1.2B / $48M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Cities we will operate in across 8 markets</a:t>
            </a:r>
          </a:p>
          <a:p>
            <a:pPr algn="l">
              <a:buNone/>
            </a:pPr>
            <a:r>
              <a:rPr lang="en-US" sz="1400" dirty="0">
                <a:solidFill>
                  <a:srgbClr val="4FC3F7"/>
                </a:solidFill>
                <a:latin typeface="Inter"/>
              </a:rPr>
              <a:t>75-85% of each country market</a:t>
            </a:r>
          </a:p>
        </p:txBody>
      </p:sp>
      <p:sp>
        <p:nvSpPr>
          <p:cNvPr id="92" name="SOM Desc"/>
          <p:cNvSpPr/>
          <p:nvPr/>
        </p:nvSpPr>
        <p:spPr>
          <a:xfrm>
            <a:off x="6858000" y="4038600"/>
            <a:ext cx="4876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1400" b="1" dirty="0">
                <a:solidFill>
                  <a:srgbClr val="FFB74D"/>
                </a:solidFill>
                <a:latin typeface="Inter"/>
              </a:rPr>
              <a:t>SOM</a:t>
            </a:r>
          </a:p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/>
              </a:rPr>
              <a:t>$9.2M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Year 5 realistic revenue target</a:t>
            </a:r>
          </a:p>
          <a:p>
            <a:pPr algn="l">
              <a:buNone/>
            </a:pPr>
            <a:r>
              <a:rPr lang="en-US" sz="1400" dirty="0">
                <a:solidFill>
                  <a:srgbClr val="FFB74D"/>
                </a:solidFill>
                <a:latin typeface="Inter"/>
              </a:rPr>
              <a:t>13,966 drivers | 11.8% of SAM</a:t>
            </a:r>
          </a:p>
        </p:txBody>
      </p:sp>
    </p:spTree>
    <p:extLst>
      <p:ext uri="{BB962C8B-B14F-4D97-AF65-F5344CB8AC3E}">
        <p14:creationId xmlns:p14="http://schemas.microsoft.com/office/powerpoint/2010/main" val="832401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"/>
          <p:cNvSpPr/>
          <p:nvPr/>
        </p:nvSpPr>
        <p:spPr>
          <a:xfrm>
            <a:off x="609600" y="2286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/>
              </a:rPr>
              <a:t>THE SOLUTION</a:t>
            </a:r>
          </a:p>
        </p:txBody>
      </p:sp>
      <p:sp>
        <p:nvSpPr>
          <p:cNvPr id="111" name="Value Prop"/>
          <p:cNvSpPr/>
          <p:nvPr/>
        </p:nvSpPr>
        <p:spPr>
          <a:xfrm>
            <a:off x="609600" y="114300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00D4AA">
                <a:alpha val="40000"/>
              </a:srgbClr>
            </a:solidFill>
          </a:ln>
        </p:spPr>
        <p:txBody>
          <a:bodyPr wrap="square" lIns="274320" rIns="274320" anchor="ctr"/>
          <a:lstStyle/>
          <a:p>
            <a:pPr algn="l">
              <a:buNone/>
            </a:pPr>
            <a:r>
              <a:rPr lang="en-US" sz="1600" dirty="0">
                <a:solidFill>
                  <a:srgbClr val="00D4AA"/>
                </a:solidFill>
                <a:latin typeface="Inter"/>
              </a:rPr>
              <a:t>FLAT MONTHLY FEE</a:t>
            </a:r>
          </a:p>
          <a:p>
            <a:pPr algn="l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/>
              </a:rPr>
              <a:t>JD 20-55/mo</a:t>
            </a:r>
          </a:p>
          <a:p>
            <a:pPr algn="l">
              <a:buNone/>
            </a:pPr>
            <a:r>
              <a:rPr lang="en-US" sz="1800" dirty="0">
                <a:solidFill>
                  <a:srgbClr val="FFFFFF"/>
                </a:solidFill>
                <a:latin typeface="Inter"/>
              </a:rPr>
              <a:t>Drivers keep </a:t>
            </a:r>
            <a:r>
              <a:rPr lang="en-US" sz="1800" b="1" dirty="0">
                <a:solidFill>
                  <a:srgbClr val="00D4AA"/>
                </a:solidFill>
                <a:latin typeface="Inter"/>
              </a:rPr>
              <a:t>100%</a:t>
            </a:r>
            <a:r>
              <a:rPr lang="en-US" sz="1800" dirty="0">
                <a:solidFill>
                  <a:srgbClr val="FFFFFF"/>
                </a:solidFill>
                <a:latin typeface="Inter"/>
              </a:rPr>
              <a:t> of their fares</a:t>
            </a:r>
          </a:p>
          <a:p>
            <a:pPr algn="l">
              <a:buNone/>
            </a:pPr>
            <a:r>
              <a:rPr lang="en-US" sz="1600" dirty="0">
                <a:solidFill>
                  <a:srgbClr val="8899AA"/>
                </a:solidFill>
                <a:latin typeface="Inter"/>
              </a:rPr>
              <a:t>vs. 30% commission = JD 175/mo at Uber/Careem</a:t>
            </a:r>
          </a:p>
          <a:p>
            <a:pPr algn="l">
              <a:buNone/>
            </a:pPr>
            <a:r>
              <a:rPr lang="en-US" sz="2000" b="1" dirty="0">
                <a:solidFill>
                  <a:srgbClr val="00D4AA"/>
                </a:solidFill>
                <a:latin typeface="Montserrat"/>
              </a:rPr>
              <a:t>Drivers save JD 143/mo (81% less)</a:t>
            </a:r>
          </a:p>
        </p:txBody>
      </p:sp>
      <p:sp>
        <p:nvSpPr>
          <p:cNvPr id="120" name="Subscription Model"/>
          <p:cNvSpPr/>
          <p:nvPr/>
        </p:nvSpPr>
        <p:spPr>
          <a:xfrm>
            <a:off x="6553200" y="1143000"/>
            <a:ext cx="5029200" cy="6096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00D4AA">
                <a:alpha val="30000"/>
              </a:srgbClr>
            </a:solidFill>
          </a:ln>
        </p:spPr>
        <p:txBody>
          <a:bodyPr wrap="square" lIns="182880" anchor="ctr"/>
          <a:lstStyle/>
          <a:p>
            <a:pPr algn="l">
              <a:buNone/>
            </a:pPr>
            <a:r>
              <a:rPr lang="en-US" sz="1600" b="1" dirty="0">
                <a:solidFill>
                  <a:srgbClr val="00D4AA"/>
                </a:solidFill>
                <a:latin typeface="Inter"/>
              </a:rPr>
              <a:t>Subscription Model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Predictable cost, 3 tiers</a:t>
            </a:r>
          </a:p>
        </p:txBody>
      </p:sp>
      <p:sp>
        <p:nvSpPr>
          <p:cNvPr id="121" name="Insurance Included"/>
          <p:cNvSpPr/>
          <p:nvPr/>
        </p:nvSpPr>
        <p:spPr>
          <a:xfrm>
            <a:off x="6553200" y="1905000"/>
            <a:ext cx="5029200" cy="6096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4FC3F7">
                <a:alpha val="30000"/>
              </a:srgbClr>
            </a:solidFill>
          </a:ln>
        </p:spPr>
        <p:txBody>
          <a:bodyPr wrap="square" lIns="182880" anchor="ctr"/>
          <a:lstStyle/>
          <a:p>
            <a:pPr algn="l">
              <a:buNone/>
            </a:pPr>
            <a:r>
              <a:rPr lang="en-US" sz="1600" b="1" dirty="0">
                <a:solidFill>
                  <a:srgbClr val="4FC3F7"/>
                </a:solidFill>
                <a:latin typeface="Inter"/>
              </a:rPr>
              <a:t>Insurance Included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Third-party liability for all drivers</a:t>
            </a:r>
          </a:p>
        </p:txBody>
      </p:sp>
      <p:sp>
        <p:nvSpPr>
          <p:cNvPr id="122" name="Cash-First Design"/>
          <p:cNvSpPr/>
          <p:nvPr/>
        </p:nvSpPr>
        <p:spPr>
          <a:xfrm>
            <a:off x="6553200" y="2667000"/>
            <a:ext cx="5029200" cy="6096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FFB74D">
                <a:alpha val="30000"/>
              </a:srgbClr>
            </a:solidFill>
          </a:ln>
        </p:spPr>
        <p:txBody>
          <a:bodyPr wrap="square" lIns="182880" anchor="ctr"/>
          <a:lstStyle/>
          <a:p>
            <a:pPr algn="l">
              <a:buNone/>
            </a:pPr>
            <a:r>
              <a:rPr lang="en-US" sz="1600" b="1" dirty="0">
                <a:solidFill>
                  <a:srgbClr val="FFB74D"/>
                </a:solidFill>
                <a:latin typeface="Inter"/>
              </a:rPr>
              <a:t>Cash-First Design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65% cash payment support — fits the market</a:t>
            </a:r>
          </a:p>
        </p:txBody>
      </p:sp>
      <p:sp>
        <p:nvSpPr>
          <p:cNvPr id="123" name="Graduated Onboarding"/>
          <p:cNvSpPr/>
          <p:nvPr/>
        </p:nvSpPr>
        <p:spPr>
          <a:xfrm>
            <a:off x="6553200" y="3429000"/>
            <a:ext cx="5029200" cy="6096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E040FB">
                <a:alpha val="30000"/>
              </a:srgbClr>
            </a:solidFill>
          </a:ln>
        </p:spPr>
        <p:txBody>
          <a:bodyPr wrap="square" lIns="182880" anchor="ctr"/>
          <a:lstStyle/>
          <a:p>
            <a:pPr algn="l">
              <a:buNone/>
            </a:pPr>
            <a:r>
              <a:rPr lang="en-US" sz="1600" b="1" dirty="0">
                <a:solidFill>
                  <a:srgbClr val="E040FB"/>
                </a:solidFill>
                <a:latin typeface="Inter"/>
              </a:rPr>
              <a:t>Graduated Onboarding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Free trial → JD 10 ramp → full tier</a:t>
            </a:r>
          </a:p>
        </p:txBody>
      </p:sp>
      <p:sp>
        <p:nvSpPr>
          <p:cNvPr id="125" name="Bottom"/>
          <p:cNvSpPr/>
          <p:nvPr/>
        </p:nvSpPr>
        <p:spPr>
          <a:xfrm>
            <a:off x="609600" y="4572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600" dirty="0">
                <a:solidFill>
                  <a:srgbClr val="8899AA"/>
                </a:solidFill>
                <a:latin typeface="Inter"/>
              </a:rPr>
              <a:t>Subscription as % of gross revenue: </a:t>
            </a:r>
            <a:r>
              <a:rPr lang="en-US" sz="1600" b="1" dirty="0">
                <a:solidFill>
                  <a:srgbClr val="00D4AA"/>
                </a:solidFill>
                <a:latin typeface="Inter"/>
              </a:rPr>
              <a:t>5-7%</a:t>
            </a:r>
            <a:r>
              <a:rPr lang="en-US" sz="1600" dirty="0">
                <a:solidFill>
                  <a:srgbClr val="8899AA"/>
                </a:solidFill>
                <a:latin typeface="Inter"/>
              </a:rPr>
              <a:t>  vs. Uber/Careem: </a:t>
            </a:r>
            <a:r>
              <a:rPr lang="en-US" sz="1600" b="1" dirty="0">
                <a:solidFill>
                  <a:srgbClr val="FF5252"/>
                </a:solidFill>
                <a:latin typeface="Inter"/>
              </a:rPr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1337899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"/>
          <p:cNvSpPr/>
          <p:nvPr/>
        </p:nvSpPr>
        <p:spPr>
          <a:xfrm>
            <a:off x="609600" y="2286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/>
              </a:rPr>
              <a:t>3-TIER SUBSCRIPTION MODEL</a:t>
            </a:r>
          </a:p>
        </p:txBody>
      </p:sp>
      <p:sp>
        <p:nvSpPr>
          <p:cNvPr id="140" name="STARTER"/>
          <p:cNvSpPr/>
          <p:nvPr/>
        </p:nvSpPr>
        <p:spPr>
          <a:xfrm>
            <a:off x="609600" y="1143000"/>
            <a:ext cx="3352800" cy="3810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9050">
            <a:solidFill>
              <a:srgbClr val="00D4AA"/>
            </a:solidFill>
          </a:ln>
        </p:spPr>
        <p:txBody>
          <a:bodyPr wrap="square" lIns="182880" tIns="228600" rIns="182880" anchor="t"/>
          <a:lstStyle/>
          <a:p>
            <a:pPr algn="ctr">
              <a:buNone/>
            </a:pPr>
            <a:r>
              <a:rPr lang="en-US" sz="1600" b="1" dirty="0">
                <a:solidFill>
                  <a:srgbClr val="00D4AA"/>
                </a:solidFill>
                <a:latin typeface="Montserrat"/>
              </a:rPr>
              <a:t>STARTER</a:t>
            </a:r>
          </a:p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/>
              </a:rPr>
              <a:t>JD 20</a:t>
            </a:r>
            <a:r>
              <a:rPr lang="en-US" sz="1800" dirty="0">
                <a:solidFill>
                  <a:srgbClr val="8899AA"/>
                </a:solidFill>
                <a:latin typeface="Inter"/>
              </a:rPr>
              <a:t>/mo</a:t>
            </a:r>
          </a:p>
          <a:p>
            <a:pPr algn="ctr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($28 USD)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Trips/day soft-cap</a:t>
            </a:r>
          </a:p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6 trips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Driver mix</a:t>
            </a:r>
          </a:p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45%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Est. monthly gross fare</a:t>
            </a:r>
          </a:p>
          <a:p>
            <a:pPr algn="l">
              <a:buNone/>
            </a:pPr>
            <a:r>
              <a:rPr lang="en-US" sz="1800" b="1" dirty="0">
                <a:solidFill>
                  <a:srgbClr val="00D4AA"/>
                </a:solidFill>
                <a:latin typeface="Inter"/>
              </a:rPr>
              <a:t>JD 390</a:t>
            </a:r>
          </a:p>
        </p:txBody>
      </p:sp>
      <p:sp>
        <p:nvSpPr>
          <p:cNvPr id="141" name="CORE"/>
          <p:cNvSpPr/>
          <p:nvPr/>
        </p:nvSpPr>
        <p:spPr>
          <a:xfrm>
            <a:off x="4267200" y="1143000"/>
            <a:ext cx="3352800" cy="3810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9050">
            <a:solidFill>
              <a:srgbClr val="4FC3F7"/>
            </a:solidFill>
          </a:ln>
        </p:spPr>
        <p:txBody>
          <a:bodyPr wrap="square" lIns="182880" tIns="228600" rIns="182880" anchor="t"/>
          <a:lstStyle/>
          <a:p>
            <a:pPr algn="ctr">
              <a:buNone/>
            </a:pPr>
            <a:r>
              <a:rPr lang="en-US" sz="1600" b="1" dirty="0">
                <a:solidFill>
                  <a:srgbClr val="4FC3F7"/>
                </a:solidFill>
                <a:latin typeface="Montserrat"/>
              </a:rPr>
              <a:t>CORE</a:t>
            </a:r>
          </a:p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/>
              </a:rPr>
              <a:t>JD 35</a:t>
            </a:r>
            <a:r>
              <a:rPr lang="en-US" sz="1800" dirty="0">
                <a:solidFill>
                  <a:srgbClr val="8899AA"/>
                </a:solidFill>
                <a:latin typeface="Inter"/>
              </a:rPr>
              <a:t>/mo</a:t>
            </a:r>
          </a:p>
          <a:p>
            <a:pPr algn="ctr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($49 USD)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Trips/day soft-cap</a:t>
            </a:r>
          </a:p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9 trips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Driver mix</a:t>
            </a:r>
          </a:p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35%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Est. monthly gross fare</a:t>
            </a:r>
          </a:p>
          <a:p>
            <a:pPr algn="l">
              <a:buNone/>
            </a:pPr>
            <a:r>
              <a:rPr lang="en-US" sz="1800" b="1" dirty="0">
                <a:solidFill>
                  <a:srgbClr val="4FC3F7"/>
                </a:solidFill>
                <a:latin typeface="Inter"/>
              </a:rPr>
              <a:t>JD 585</a:t>
            </a:r>
          </a:p>
        </p:txBody>
      </p:sp>
      <p:sp>
        <p:nvSpPr>
          <p:cNvPr id="142" name="PRO"/>
          <p:cNvSpPr/>
          <p:nvPr/>
        </p:nvSpPr>
        <p:spPr>
          <a:xfrm>
            <a:off x="7924800" y="1143000"/>
            <a:ext cx="3352800" cy="3810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9050">
            <a:solidFill>
              <a:srgbClr val="FFB74D"/>
            </a:solidFill>
          </a:ln>
        </p:spPr>
        <p:txBody>
          <a:bodyPr wrap="square" lIns="182880" tIns="228600" rIns="182880" anchor="t"/>
          <a:lstStyle/>
          <a:p>
            <a:pPr algn="ctr">
              <a:buNone/>
            </a:pPr>
            <a:r>
              <a:rPr lang="en-US" sz="1600" b="1" dirty="0">
                <a:solidFill>
                  <a:srgbClr val="FFB74D"/>
                </a:solidFill>
                <a:latin typeface="Montserrat"/>
              </a:rPr>
              <a:t>PRO</a:t>
            </a:r>
          </a:p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/>
              </a:rPr>
              <a:t>JD 55</a:t>
            </a:r>
            <a:r>
              <a:rPr lang="en-US" sz="1800" dirty="0">
                <a:solidFill>
                  <a:srgbClr val="8899AA"/>
                </a:solidFill>
                <a:latin typeface="Inter"/>
              </a:rPr>
              <a:t>/mo</a:t>
            </a:r>
          </a:p>
          <a:p>
            <a:pPr algn="ctr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($78 USD)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Trips/day soft-cap</a:t>
            </a:r>
          </a:p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12 trips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Driver mix</a:t>
            </a:r>
          </a:p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20%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Est. monthly gross fare</a:t>
            </a:r>
          </a:p>
          <a:p>
            <a:pPr algn="l">
              <a:buNone/>
            </a:pPr>
            <a:r>
              <a:rPr lang="en-US" sz="1800" b="1" dirty="0">
                <a:solidFill>
                  <a:srgbClr val="FFB74D"/>
                </a:solidFill>
                <a:latin typeface="Inter"/>
              </a:rPr>
              <a:t>JD 780</a:t>
            </a:r>
          </a:p>
        </p:txBody>
      </p:sp>
      <p:sp>
        <p:nvSpPr>
          <p:cNvPr id="145" name="Blended"/>
          <p:cNvSpPr/>
          <p:nvPr/>
        </p:nvSpPr>
        <p:spPr>
          <a:xfrm>
            <a:off x="609600" y="51816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600" dirty="0">
                <a:solidFill>
                  <a:srgbClr val="8899AA"/>
                </a:solidFill>
                <a:latin typeface="Inter"/>
              </a:rPr>
              <a:t>Blended Avg: </a:t>
            </a:r>
            <a:r>
              <a:rPr lang="en-US" sz="1800" b="1" dirty="0">
                <a:solidFill>
                  <a:srgbClr val="FFFFFF"/>
                </a:solidFill>
                <a:latin typeface="Montserrat"/>
              </a:rPr>
              <a:t>JD 32.25/mo ($45 USD)</a:t>
            </a:r>
            <a:r>
              <a:rPr lang="en-US" sz="1600" dirty="0">
                <a:solidFill>
                  <a:srgbClr val="8899AA"/>
                </a:solidFill>
                <a:latin typeface="Inter"/>
              </a:rPr>
              <a:t>  |  Drivers keep 100% of fares  |  Subscription = only 5-7% of gross</a:t>
            </a:r>
          </a:p>
        </p:txBody>
      </p:sp>
    </p:spTree>
    <p:extLst>
      <p:ext uri="{BB962C8B-B14F-4D97-AF65-F5344CB8AC3E}">
        <p14:creationId xmlns:p14="http://schemas.microsoft.com/office/powerpoint/2010/main" val="354695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"/>
          <p:cNvSpPr/>
          <p:nvPr/>
        </p:nvSpPr>
        <p:spPr>
          <a:xfrm>
            <a:off x="609600" y="2286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/>
              </a:rPr>
              <a:t>WASEL vs. COMPETITION</a:t>
            </a:r>
          </a:p>
        </p:txBody>
      </p:sp>
      <p:sp>
        <p:nvSpPr>
          <p:cNvPr id="151" name="Header Row"/>
          <p:cNvSpPr/>
          <p:nvPr/>
        </p:nvSpPr>
        <p:spPr>
          <a:xfrm>
            <a:off x="609600" y="1143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Row 0"/>
          <p:cNvSpPr/>
          <p:nvPr/>
        </p:nvSpPr>
        <p:spPr>
          <a:xfrm>
            <a:off x="609600" y="1600200"/>
            <a:ext cx="10972800" cy="49530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Metric 0"/>
          <p:cNvSpPr/>
          <p:nvPr/>
        </p:nvSpPr>
        <p:spPr>
          <a:xfrm>
            <a:off x="762000" y="1600200"/>
            <a:ext cx="3200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Commission Model</a:t>
            </a:r>
          </a:p>
        </p:txBody>
      </p:sp>
      <p:sp>
        <p:nvSpPr>
          <p:cNvPr id="162" name="Uber 0"/>
          <p:cNvSpPr/>
          <p:nvPr/>
        </p:nvSpPr>
        <p:spPr>
          <a:xfrm>
            <a:off x="4419600" y="1600200"/>
            <a:ext cx="3200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dirty="0">
                <a:solidFill>
                  <a:srgbClr val="FF5252"/>
                </a:solidFill>
                <a:latin typeface="Inter"/>
              </a:rPr>
              <a:t>30% per ride</a:t>
            </a:r>
          </a:p>
        </p:txBody>
      </p:sp>
      <p:sp>
        <p:nvSpPr>
          <p:cNvPr id="200" name="Wasel 0"/>
          <p:cNvSpPr/>
          <p:nvPr/>
        </p:nvSpPr>
        <p:spPr>
          <a:xfrm>
            <a:off x="8077200" y="1600200"/>
            <a:ext cx="35052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b="1" dirty="0">
                <a:solidFill>
                  <a:srgbClr val="00D4AA"/>
                </a:solidFill>
                <a:latin typeface="Inter"/>
              </a:rPr>
              <a:t>Flat monthly fee</a:t>
            </a:r>
          </a:p>
        </p:txBody>
      </p:sp>
      <p:sp>
        <p:nvSpPr>
          <p:cNvPr id="163" name="Row 1"/>
          <p:cNvSpPr/>
          <p:nvPr/>
        </p:nvSpPr>
        <p:spPr>
          <a:xfrm>
            <a:off x="609600" y="2133600"/>
            <a:ext cx="10972800" cy="495300"/>
          </a:xfrm>
          <a:prstGeom prst="rect">
            <a:avLst/>
          </a:prstGeom>
          <a:solidFill>
            <a:srgbClr val="0F18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Metric 1"/>
          <p:cNvSpPr/>
          <p:nvPr/>
        </p:nvSpPr>
        <p:spPr>
          <a:xfrm>
            <a:off x="762000" y="2133600"/>
            <a:ext cx="3200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Driver Keeps</a:t>
            </a:r>
          </a:p>
        </p:txBody>
      </p:sp>
      <p:sp>
        <p:nvSpPr>
          <p:cNvPr id="165" name="Uber 1"/>
          <p:cNvSpPr/>
          <p:nvPr/>
        </p:nvSpPr>
        <p:spPr>
          <a:xfrm>
            <a:off x="4419600" y="2133600"/>
            <a:ext cx="3200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dirty="0">
                <a:solidFill>
                  <a:srgbClr val="FF5252"/>
                </a:solidFill>
                <a:latin typeface="Inter"/>
              </a:rPr>
              <a:t>70%</a:t>
            </a:r>
          </a:p>
        </p:txBody>
      </p:sp>
      <p:sp>
        <p:nvSpPr>
          <p:cNvPr id="201" name="Wasel 1"/>
          <p:cNvSpPr/>
          <p:nvPr/>
        </p:nvSpPr>
        <p:spPr>
          <a:xfrm>
            <a:off x="8077200" y="2133600"/>
            <a:ext cx="35052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b="1" dirty="0">
                <a:solidFill>
                  <a:srgbClr val="00D4AA"/>
                </a:solidFill>
                <a:latin typeface="Inter"/>
              </a:rPr>
              <a:t>100%</a:t>
            </a:r>
          </a:p>
        </p:txBody>
      </p:sp>
      <p:sp>
        <p:nvSpPr>
          <p:cNvPr id="166" name="Row 2"/>
          <p:cNvSpPr/>
          <p:nvPr/>
        </p:nvSpPr>
        <p:spPr>
          <a:xfrm>
            <a:off x="609600" y="2667000"/>
            <a:ext cx="10972800" cy="49530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Metric 2"/>
          <p:cNvSpPr/>
          <p:nvPr/>
        </p:nvSpPr>
        <p:spPr>
          <a:xfrm>
            <a:off x="762000" y="2667000"/>
            <a:ext cx="3200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Monthly Cost (JD 585 rev)</a:t>
            </a:r>
          </a:p>
        </p:txBody>
      </p:sp>
      <p:sp>
        <p:nvSpPr>
          <p:cNvPr id="168" name="Uber 2"/>
          <p:cNvSpPr/>
          <p:nvPr/>
        </p:nvSpPr>
        <p:spPr>
          <a:xfrm>
            <a:off x="4419600" y="2667000"/>
            <a:ext cx="3200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dirty="0">
                <a:solidFill>
                  <a:srgbClr val="FF5252"/>
                </a:solidFill>
                <a:latin typeface="Inter"/>
              </a:rPr>
              <a:t>JD 175.50</a:t>
            </a:r>
          </a:p>
        </p:txBody>
      </p:sp>
      <p:sp>
        <p:nvSpPr>
          <p:cNvPr id="202" name="Wasel 2"/>
          <p:cNvSpPr/>
          <p:nvPr/>
        </p:nvSpPr>
        <p:spPr>
          <a:xfrm>
            <a:off x="8077200" y="2667000"/>
            <a:ext cx="35052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b="1" dirty="0">
                <a:solidFill>
                  <a:srgbClr val="00D4AA"/>
                </a:solidFill>
                <a:latin typeface="Inter"/>
              </a:rPr>
              <a:t>JD 32.25</a:t>
            </a:r>
          </a:p>
        </p:txBody>
      </p:sp>
      <p:sp>
        <p:nvSpPr>
          <p:cNvPr id="169" name="Row 3"/>
          <p:cNvSpPr/>
          <p:nvPr/>
        </p:nvSpPr>
        <p:spPr>
          <a:xfrm>
            <a:off x="609600" y="3200400"/>
            <a:ext cx="10972800" cy="495300"/>
          </a:xfrm>
          <a:prstGeom prst="rect">
            <a:avLst/>
          </a:prstGeom>
          <a:solidFill>
            <a:srgbClr val="0F18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Metric 3"/>
          <p:cNvSpPr/>
          <p:nvPr/>
        </p:nvSpPr>
        <p:spPr>
          <a:xfrm>
            <a:off x="762000" y="3200400"/>
            <a:ext cx="3200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Insurance Included</a:t>
            </a:r>
          </a:p>
        </p:txBody>
      </p:sp>
      <p:sp>
        <p:nvSpPr>
          <p:cNvPr id="171" name="Uber 3"/>
          <p:cNvSpPr/>
          <p:nvPr/>
        </p:nvSpPr>
        <p:spPr>
          <a:xfrm>
            <a:off x="4419600" y="3200400"/>
            <a:ext cx="3200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dirty="0">
                <a:solidFill>
                  <a:srgbClr val="FF5252"/>
                </a:solidFill>
                <a:latin typeface="Inter"/>
              </a:rPr>
              <a:t>No</a:t>
            </a:r>
          </a:p>
        </p:txBody>
      </p:sp>
      <p:sp>
        <p:nvSpPr>
          <p:cNvPr id="203" name="Wasel 3"/>
          <p:cNvSpPr/>
          <p:nvPr/>
        </p:nvSpPr>
        <p:spPr>
          <a:xfrm>
            <a:off x="8077200" y="3200400"/>
            <a:ext cx="35052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b="1" dirty="0">
                <a:solidFill>
                  <a:srgbClr val="00D4AA"/>
                </a:solidFill>
                <a:latin typeface="Inter"/>
              </a:rPr>
              <a:t>Yes (all tiers)</a:t>
            </a:r>
          </a:p>
        </p:txBody>
      </p:sp>
      <p:sp>
        <p:nvSpPr>
          <p:cNvPr id="172" name="Row 4"/>
          <p:cNvSpPr/>
          <p:nvPr/>
        </p:nvSpPr>
        <p:spPr>
          <a:xfrm>
            <a:off x="609600" y="3733800"/>
            <a:ext cx="10972800" cy="49530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Metric 4"/>
          <p:cNvSpPr/>
          <p:nvPr/>
        </p:nvSpPr>
        <p:spPr>
          <a:xfrm>
            <a:off x="762000" y="3733800"/>
            <a:ext cx="3200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Cash Payments</a:t>
            </a:r>
          </a:p>
        </p:txBody>
      </p:sp>
      <p:sp>
        <p:nvSpPr>
          <p:cNvPr id="174" name="Uber 4"/>
          <p:cNvSpPr/>
          <p:nvPr/>
        </p:nvSpPr>
        <p:spPr>
          <a:xfrm>
            <a:off x="4419600" y="3733800"/>
            <a:ext cx="3200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dirty="0">
                <a:solidFill>
                  <a:srgbClr val="FF5252"/>
                </a:solidFill>
                <a:latin typeface="Inter"/>
              </a:rPr>
              <a:t>Limited</a:t>
            </a:r>
          </a:p>
        </p:txBody>
      </p:sp>
      <p:sp>
        <p:nvSpPr>
          <p:cNvPr id="204" name="Wasel 4"/>
          <p:cNvSpPr/>
          <p:nvPr/>
        </p:nvSpPr>
        <p:spPr>
          <a:xfrm>
            <a:off x="8077200" y="3733800"/>
            <a:ext cx="35052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b="1" dirty="0">
                <a:solidFill>
                  <a:srgbClr val="00D4AA"/>
                </a:solidFill>
                <a:latin typeface="Inter"/>
              </a:rPr>
              <a:t>Full (65% cash)</a:t>
            </a:r>
          </a:p>
        </p:txBody>
      </p:sp>
      <p:sp>
        <p:nvSpPr>
          <p:cNvPr id="175" name="Row 5"/>
          <p:cNvSpPr/>
          <p:nvPr/>
        </p:nvSpPr>
        <p:spPr>
          <a:xfrm>
            <a:off x="609600" y="4267200"/>
            <a:ext cx="10972800" cy="495300"/>
          </a:xfrm>
          <a:prstGeom prst="rect">
            <a:avLst/>
          </a:prstGeom>
          <a:solidFill>
            <a:srgbClr val="0F18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Metric 5"/>
          <p:cNvSpPr/>
          <p:nvPr/>
        </p:nvSpPr>
        <p:spPr>
          <a:xfrm>
            <a:off x="762000" y="4267200"/>
            <a:ext cx="3200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Switching Cost</a:t>
            </a:r>
          </a:p>
        </p:txBody>
      </p:sp>
      <p:sp>
        <p:nvSpPr>
          <p:cNvPr id="177" name="Uber 5"/>
          <p:cNvSpPr/>
          <p:nvPr/>
        </p:nvSpPr>
        <p:spPr>
          <a:xfrm>
            <a:off x="4419600" y="4267200"/>
            <a:ext cx="3200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dirty="0">
                <a:solidFill>
                  <a:srgbClr val="FF5252"/>
                </a:solidFill>
                <a:latin typeface="Inter"/>
              </a:rPr>
              <a:t>None</a:t>
            </a:r>
          </a:p>
        </p:txBody>
      </p:sp>
      <p:sp>
        <p:nvSpPr>
          <p:cNvPr id="205" name="Wasel 5"/>
          <p:cNvSpPr/>
          <p:nvPr/>
        </p:nvSpPr>
        <p:spPr>
          <a:xfrm>
            <a:off x="8077200" y="4267200"/>
            <a:ext cx="35052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b="1" dirty="0">
                <a:solidFill>
                  <a:srgbClr val="00D4AA"/>
                </a:solidFill>
                <a:latin typeface="Inter"/>
              </a:rPr>
              <a:t>Insurance + benefits</a:t>
            </a:r>
          </a:p>
        </p:txBody>
      </p:sp>
      <p:sp>
        <p:nvSpPr>
          <p:cNvPr id="155" name="Col Headers"/>
          <p:cNvSpPr/>
          <p:nvPr/>
        </p:nvSpPr>
        <p:spPr>
          <a:xfrm>
            <a:off x="609600" y="1143000"/>
            <a:ext cx="10972800" cy="457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H Metric"/>
          <p:cNvSpPr/>
          <p:nvPr/>
        </p:nvSpPr>
        <p:spPr>
          <a:xfrm>
            <a:off x="762000" y="1143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/>
              </a:rPr>
              <a:t>METRIC</a:t>
            </a:r>
          </a:p>
        </p:txBody>
      </p:sp>
      <p:sp>
        <p:nvSpPr>
          <p:cNvPr id="157" name="H Uber"/>
          <p:cNvSpPr/>
          <p:nvPr/>
        </p:nvSpPr>
        <p:spPr>
          <a:xfrm>
            <a:off x="4419600" y="1143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400" b="1" dirty="0">
                <a:solidFill>
                  <a:srgbClr val="FF5252"/>
                </a:solidFill>
                <a:latin typeface="Montserrat"/>
              </a:rPr>
              <a:t>UBER / CAREEM</a:t>
            </a:r>
          </a:p>
        </p:txBody>
      </p:sp>
      <p:sp>
        <p:nvSpPr>
          <p:cNvPr id="158" name="H Wasel"/>
          <p:cNvSpPr/>
          <p:nvPr/>
        </p:nvSpPr>
        <p:spPr>
          <a:xfrm>
            <a:off x="8077200" y="11430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400" b="1" dirty="0">
                <a:solidFill>
                  <a:srgbClr val="00D4AA"/>
                </a:solidFill>
                <a:latin typeface="Montserrat"/>
              </a:rPr>
              <a:t>WASEL</a:t>
            </a:r>
          </a:p>
        </p:txBody>
      </p:sp>
    </p:spTree>
    <p:extLst>
      <p:ext uri="{BB962C8B-B14F-4D97-AF65-F5344CB8AC3E}">
        <p14:creationId xmlns:p14="http://schemas.microsoft.com/office/powerpoint/2010/main" val="1877844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itle"/>
          <p:cNvSpPr/>
          <p:nvPr/>
        </p:nvSpPr>
        <p:spPr>
          <a:xfrm>
            <a:off x="609600" y="2286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/>
              </a:rPr>
              <a:t>UNIT ECONOMICS</a:t>
            </a:r>
          </a:p>
        </p:txBody>
      </p:sp>
      <p:sp>
        <p:nvSpPr>
          <p:cNvPr id="220" name="LTV / CAC"/>
          <p:cNvSpPr/>
          <p:nvPr/>
        </p:nvSpPr>
        <p:spPr>
          <a:xfrm>
            <a:off x="609600" y="1143000"/>
            <a:ext cx="2667000" cy="16764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00D4AA">
                <a:alpha val="40000"/>
              </a:srgbClr>
            </a:solidFill>
          </a:ln>
        </p:spPr>
        <p:txBody>
          <a:bodyPr wrap="square" lIns="137160" rIns="137160" anchor="ctr"/>
          <a:lstStyle/>
          <a:p>
            <a:pPr algn="ctr">
              <a:buNone/>
            </a:pPr>
            <a:r>
              <a:rPr lang="en-US" sz="1400" dirty="0">
                <a:solidFill>
                  <a:srgbClr val="00D4AA"/>
                </a:solidFill>
                <a:latin typeface="Inter"/>
              </a:rPr>
              <a:t>LTV / CAC</a:t>
            </a:r>
          </a:p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/>
              </a:rPr>
              <a:t>13.9x</a:t>
            </a:r>
          </a:p>
          <a:p>
            <a:pPr algn="ctr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Benchmark: &gt;3x</a:t>
            </a:r>
          </a:p>
        </p:txBody>
      </p:sp>
      <p:sp>
        <p:nvSpPr>
          <p:cNvPr id="221" name="CAC Payback"/>
          <p:cNvSpPr/>
          <p:nvPr/>
        </p:nvSpPr>
        <p:spPr>
          <a:xfrm>
            <a:off x="3429000" y="1143000"/>
            <a:ext cx="2667000" cy="16764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4FC3F7">
                <a:alpha val="40000"/>
              </a:srgbClr>
            </a:solidFill>
          </a:ln>
        </p:spPr>
        <p:txBody>
          <a:bodyPr wrap="square" lIns="137160" rIns="137160" anchor="ctr"/>
          <a:lstStyle/>
          <a:p>
            <a:pPr algn="ctr">
              <a:buNone/>
            </a:pPr>
            <a:r>
              <a:rPr lang="en-US" sz="1400" dirty="0">
                <a:solidFill>
                  <a:srgbClr val="4FC3F7"/>
                </a:solidFill>
                <a:latin typeface="Inter"/>
              </a:rPr>
              <a:t>CAC Payback</a:t>
            </a:r>
          </a:p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/>
              </a:rPr>
              <a:t>2.5 mo</a:t>
            </a:r>
          </a:p>
          <a:p>
            <a:pPr algn="ctr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Benchmark: &lt;12 months</a:t>
            </a:r>
          </a:p>
        </p:txBody>
      </p:sp>
      <p:sp>
        <p:nvSpPr>
          <p:cNvPr id="222" name="Driver LTV"/>
          <p:cNvSpPr/>
          <p:nvPr/>
        </p:nvSpPr>
        <p:spPr>
          <a:xfrm>
            <a:off x="6248400" y="1143000"/>
            <a:ext cx="2667000" cy="16764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FFB74D">
                <a:alpha val="40000"/>
              </a:srgbClr>
            </a:solidFill>
          </a:ln>
        </p:spPr>
        <p:txBody>
          <a:bodyPr wrap="square" lIns="137160" rIns="137160" anchor="ctr"/>
          <a:lstStyle/>
          <a:p>
            <a:pPr algn="ctr">
              <a:buNone/>
            </a:pPr>
            <a:r>
              <a:rPr lang="en-US" sz="1400" dirty="0">
                <a:solidFill>
                  <a:srgbClr val="FFB74D"/>
                </a:solidFill>
                <a:latin typeface="Inter"/>
              </a:rPr>
              <a:t>Driver LTV</a:t>
            </a:r>
          </a:p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/>
              </a:rPr>
              <a:t>JD 628</a:t>
            </a:r>
          </a:p>
          <a:p>
            <a:pPr algn="ctr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$885 USD</a:t>
            </a:r>
          </a:p>
        </p:txBody>
      </p:sp>
      <p:sp>
        <p:nvSpPr>
          <p:cNvPr id="223" name="Contribution Margin"/>
          <p:cNvSpPr/>
          <p:nvPr/>
        </p:nvSpPr>
        <p:spPr>
          <a:xfrm>
            <a:off x="9067800" y="1143000"/>
            <a:ext cx="2667000" cy="16764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E040FB">
                <a:alpha val="40000"/>
              </a:srgbClr>
            </a:solidFill>
          </a:ln>
        </p:spPr>
        <p:txBody>
          <a:bodyPr wrap="square" lIns="137160" rIns="137160" anchor="ctr"/>
          <a:lstStyle/>
          <a:p>
            <a:pPr algn="ctr">
              <a:buNone/>
            </a:pPr>
            <a:r>
              <a:rPr lang="en-US" sz="1400" dirty="0">
                <a:solidFill>
                  <a:srgbClr val="E040FB"/>
                </a:solidFill>
                <a:latin typeface="Inter"/>
              </a:rPr>
              <a:t>Contribution Margin</a:t>
            </a:r>
          </a:p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/>
              </a:rPr>
              <a:t>54.8%</a:t>
            </a:r>
          </a:p>
          <a:p>
            <a:pPr algn="ctr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JD 17.66/driver/mo</a:t>
            </a:r>
          </a:p>
        </p:txBody>
      </p:sp>
      <p:sp>
        <p:nvSpPr>
          <p:cNvPr id="230" name="Driver Econ"/>
          <p:cNvSpPr/>
          <p:nvPr/>
        </p:nvSpPr>
        <p:spPr>
          <a:xfrm>
            <a:off x="609600" y="3124200"/>
            <a:ext cx="10972800" cy="1905000"/>
          </a:xfrm>
          <a:prstGeom prst="roundRect">
            <a:avLst>
              <a:gd name="adj" fmla="val 3000"/>
            </a:avLst>
          </a:prstGeom>
          <a:solidFill>
            <a:srgbClr val="141E33"/>
          </a:solidFill>
          <a:ln w="9525">
            <a:solidFill>
              <a:srgbClr val="1A2744"/>
            </a:solidFill>
          </a:ln>
        </p:spPr>
        <p:txBody>
          <a:bodyPr wrap="square" lIns="274320" rIns="274320" anchor="ctr"/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</a:rPr>
              <a:t>INVESTOR SCORECARD</a:t>
            </a:r>
          </a:p>
          <a:p>
            <a:pPr algn="l">
              <a:buNone/>
            </a:pPr>
            <a:r>
              <a:rPr lang="en-US" sz="1600" dirty="0">
                <a:solidFill>
                  <a:srgbClr val="8899AA"/>
                </a:solidFill>
                <a:latin typeface="Inter"/>
              </a:rPr>
              <a:t>Fully loaded CAC: </a:t>
            </a:r>
            <a:r>
              <a:rPr lang="en-US" sz="1600" b="1" dirty="0">
                <a:solidFill>
                  <a:srgbClr val="FFFFFF"/>
                </a:solidFill>
                <a:latin typeface="Inter"/>
              </a:rPr>
              <a:t>JD 45</a:t>
            </a:r>
            <a:r>
              <a:rPr lang="en-US" sz="1600" dirty="0">
                <a:solidFill>
                  <a:srgbClr val="8899AA"/>
                </a:solidFill>
                <a:latin typeface="Inter"/>
              </a:rPr>
              <a:t>  (JD 15 referral + JD 15 ads + JD 15 onboarding)</a:t>
            </a:r>
          </a:p>
          <a:p>
            <a:pPr algn="l">
              <a:buNone/>
            </a:pPr>
            <a:r>
              <a:rPr lang="en-US" sz="1600" dirty="0">
                <a:solidFill>
                  <a:srgbClr val="8899AA"/>
                </a:solidFill>
                <a:latin typeface="Inter"/>
              </a:rPr>
              <a:t>Break-even threshold: </a:t>
            </a:r>
            <a:r>
              <a:rPr lang="en-US" sz="1600" b="1" dirty="0">
                <a:solidFill>
                  <a:srgbClr val="00D4AA"/>
                </a:solidFill>
                <a:latin typeface="Inter"/>
              </a:rPr>
              <a:t>~1,200 active M2+ drivers</a:t>
            </a:r>
            <a:r>
              <a:rPr lang="en-US" sz="1600" dirty="0">
                <a:solidFill>
                  <a:srgbClr val="8899AA"/>
                </a:solidFill>
                <a:latin typeface="Inter"/>
              </a:rPr>
              <a:t>  (~5% of licensed market)</a:t>
            </a:r>
          </a:p>
          <a:p>
            <a:pPr algn="l">
              <a:buNone/>
            </a:pPr>
            <a:r>
              <a:rPr lang="en-US" sz="1600" dirty="0">
                <a:solidFill>
                  <a:srgbClr val="8899AA"/>
                </a:solidFill>
                <a:latin typeface="Inter"/>
              </a:rPr>
              <a:t>Model survives up to </a:t>
            </a:r>
            <a:r>
              <a:rPr lang="en-US" sz="1600" b="1" dirty="0">
                <a:solidFill>
                  <a:srgbClr val="FFB74D"/>
                </a:solidFill>
                <a:latin typeface="Inter"/>
              </a:rPr>
              <a:t>10% mature churn</a:t>
            </a:r>
            <a:r>
              <a:rPr lang="en-US" sz="1600" dirty="0">
                <a:solidFill>
                  <a:srgbClr val="8899AA"/>
                </a:solidFill>
                <a:latin typeface="Inter"/>
              </a:rPr>
              <a:t> before LTV/CAC drops below 3x (base case: 2%)</a:t>
            </a:r>
          </a:p>
          <a:p>
            <a:pPr algn="l">
              <a:buNone/>
            </a:pPr>
            <a:r>
              <a:rPr lang="en-US" sz="1600" dirty="0">
                <a:solidFill>
                  <a:srgbClr val="8899AA"/>
                </a:solidFill>
                <a:latin typeface="Inter"/>
              </a:rPr>
              <a:t>Insurance lock-in creates </a:t>
            </a:r>
            <a:r>
              <a:rPr lang="en-US" sz="1600" b="1" dirty="0">
                <a:solidFill>
                  <a:srgbClr val="4FC3F7"/>
                </a:solidFill>
                <a:latin typeface="Inter"/>
              </a:rPr>
              <a:t>structural switching costs</a:t>
            </a:r>
            <a:r>
              <a:rPr lang="en-US" sz="1600" dirty="0">
                <a:solidFill>
                  <a:srgbClr val="8899AA"/>
                </a:solidFill>
                <a:latin typeface="Inter"/>
              </a:rPr>
              <a:t> — drivers lose coverage if they leave</a:t>
            </a:r>
          </a:p>
        </p:txBody>
      </p:sp>
    </p:spTree>
    <p:extLst>
      <p:ext uri="{BB962C8B-B14F-4D97-AF65-F5344CB8AC3E}">
        <p14:creationId xmlns:p14="http://schemas.microsoft.com/office/powerpoint/2010/main" val="3008394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itle"/>
          <p:cNvSpPr/>
          <p:nvPr/>
        </p:nvSpPr>
        <p:spPr>
          <a:xfrm>
            <a:off x="609600" y="2286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/>
              </a:rPr>
              <a:t>5-YEAR REVENUE PROJECTIONS</a:t>
            </a:r>
          </a:p>
        </p:txBody>
      </p:sp>
      <p:graphicFrame>
        <p:nvGraphicFramePr>
          <p:cNvPr id="241" name="Chart 1"/>
          <p:cNvGraphicFramePr/>
          <p:nvPr/>
        </p:nvGraphicFramePr>
        <p:xfrm>
          <a:off x="609600" y="1143000"/>
          <a:ext cx="7010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0" name="Y5 Revenue"/>
          <p:cNvSpPr/>
          <p:nvPr/>
        </p:nvSpPr>
        <p:spPr>
          <a:xfrm>
            <a:off x="8077200" y="1143000"/>
            <a:ext cx="3505200" cy="8382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00D4AA">
                <a:alpha val="30000"/>
              </a:srgbClr>
            </a:solidFill>
          </a:ln>
        </p:spPr>
        <p:txBody>
          <a:bodyPr wrap="square" lIns="137160" anchor="ctr"/>
          <a:lstStyle/>
          <a:p>
            <a:pPr algn="l">
              <a:buNone/>
            </a:pPr>
            <a:r>
              <a:rPr lang="en-US" sz="1400" dirty="0">
                <a:solidFill>
                  <a:srgbClr val="00D4AA"/>
                </a:solidFill>
                <a:latin typeface="Inter"/>
              </a:rPr>
              <a:t>Y5 Revenue</a:t>
            </a:r>
          </a:p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/>
              </a:rPr>
              <a:t>$9.2M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 JD 6.54M total</a:t>
            </a:r>
          </a:p>
        </p:txBody>
      </p:sp>
      <p:sp>
        <p:nvSpPr>
          <p:cNvPr id="251" name="5Y CAGR"/>
          <p:cNvSpPr/>
          <p:nvPr/>
        </p:nvSpPr>
        <p:spPr>
          <a:xfrm>
            <a:off x="8077200" y="2133600"/>
            <a:ext cx="3505200" cy="8382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4FC3F7">
                <a:alpha val="30000"/>
              </a:srgbClr>
            </a:solidFill>
          </a:ln>
        </p:spPr>
        <p:txBody>
          <a:bodyPr wrap="square" lIns="137160" anchor="ctr"/>
          <a:lstStyle/>
          <a:p>
            <a:pPr algn="l">
              <a:buNone/>
            </a:pPr>
            <a:r>
              <a:rPr lang="en-US" sz="1400" dirty="0">
                <a:solidFill>
                  <a:srgbClr val="4FC3F7"/>
                </a:solidFill>
                <a:latin typeface="Inter"/>
              </a:rPr>
              <a:t>5Y CAGR</a:t>
            </a:r>
          </a:p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/>
              </a:rPr>
              <a:t>154%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 Revenue growth</a:t>
            </a:r>
          </a:p>
        </p:txBody>
      </p:sp>
      <p:sp>
        <p:nvSpPr>
          <p:cNvPr id="252" name="Y2 Profitable"/>
          <p:cNvSpPr/>
          <p:nvPr/>
        </p:nvSpPr>
        <p:spPr>
          <a:xfrm>
            <a:off x="8077200" y="3124200"/>
            <a:ext cx="3505200" cy="8382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FFB74D">
                <a:alpha val="30000"/>
              </a:srgbClr>
            </a:solidFill>
          </a:ln>
        </p:spPr>
        <p:txBody>
          <a:bodyPr wrap="square" lIns="137160" anchor="ctr"/>
          <a:lstStyle/>
          <a:p>
            <a:pPr algn="l">
              <a:buNone/>
            </a:pPr>
            <a:r>
              <a:rPr lang="en-US" sz="1400" dirty="0">
                <a:solidFill>
                  <a:srgbClr val="FFB74D"/>
                </a:solidFill>
                <a:latin typeface="Inter"/>
              </a:rPr>
              <a:t>Y2 Profitable</a:t>
            </a:r>
          </a:p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/>
              </a:rPr>
              <a:t>JD 108K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 Net income Year 2</a:t>
            </a:r>
          </a:p>
        </p:txBody>
      </p:sp>
      <p:sp>
        <p:nvSpPr>
          <p:cNvPr id="253" name="Cumulative"/>
          <p:cNvSpPr/>
          <p:nvPr/>
        </p:nvSpPr>
        <p:spPr>
          <a:xfrm>
            <a:off x="8077200" y="4114800"/>
            <a:ext cx="3505200" cy="8382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E040FB">
                <a:alpha val="30000"/>
              </a:srgbClr>
            </a:solidFill>
          </a:ln>
        </p:spPr>
        <p:txBody>
          <a:bodyPr wrap="square" lIns="137160" anchor="ctr"/>
          <a:lstStyle/>
          <a:p>
            <a:pPr algn="l">
              <a:buNone/>
            </a:pPr>
            <a:r>
              <a:rPr lang="en-US" sz="1400" dirty="0">
                <a:solidFill>
                  <a:srgbClr val="E040FB"/>
                </a:solidFill>
                <a:latin typeface="Inter"/>
              </a:rPr>
              <a:t>Cumulative</a:t>
            </a:r>
          </a:p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/>
              </a:rPr>
              <a:t>JD 6.6M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 5-yr net income</a:t>
            </a:r>
          </a:p>
        </p:txBody>
      </p:sp>
    </p:spTree>
    <p:extLst>
      <p:ext uri="{BB962C8B-B14F-4D97-AF65-F5344CB8AC3E}">
        <p14:creationId xmlns:p14="http://schemas.microsoft.com/office/powerpoint/2010/main" val="3933536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itle"/>
          <p:cNvSpPr/>
          <p:nvPr/>
        </p:nvSpPr>
        <p:spPr>
          <a:xfrm>
            <a:off x="609600" y="2286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/>
              </a:rPr>
              <a:t>PATH TO PROFITABILITY</a:t>
            </a:r>
          </a:p>
        </p:txBody>
      </p:sp>
      <p:graphicFrame>
        <p:nvGraphicFramePr>
          <p:cNvPr id="261" name="Chart 2"/>
          <p:cNvGraphicFramePr/>
          <p:nvPr/>
        </p:nvGraphicFramePr>
        <p:xfrm>
          <a:off x="609600" y="1143000"/>
          <a:ext cx="7010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0" name="Net Income Positive"/>
          <p:cNvSpPr/>
          <p:nvPr/>
        </p:nvSpPr>
        <p:spPr>
          <a:xfrm>
            <a:off x="8077200" y="1143000"/>
            <a:ext cx="3505200" cy="8382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00D4AA">
                <a:alpha val="30000"/>
              </a:srgbClr>
            </a:solidFill>
          </a:ln>
        </p:spPr>
        <p:txBody>
          <a:bodyPr wrap="square" lIns="137160" anchor="ctr"/>
          <a:lstStyle/>
          <a:p>
            <a:pPr algn="l">
              <a:buNone/>
            </a:pPr>
            <a:r>
              <a:rPr lang="en-US" sz="1400" dirty="0">
                <a:solidFill>
                  <a:srgbClr val="00D4AA"/>
                </a:solidFill>
                <a:latin typeface="Inter"/>
              </a:rPr>
              <a:t>Net Income Positive</a:t>
            </a:r>
          </a:p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/>
              </a:rPr>
              <a:t>Year 2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 JD 108K net income</a:t>
            </a:r>
          </a:p>
        </p:txBody>
      </p:sp>
      <p:sp>
        <p:nvSpPr>
          <p:cNvPr id="271" name="Cumulative Payback"/>
          <p:cNvSpPr/>
          <p:nvPr/>
        </p:nvSpPr>
        <p:spPr>
          <a:xfrm>
            <a:off x="8077200" y="2133600"/>
            <a:ext cx="3505200" cy="8382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4FC3F7">
                <a:alpha val="30000"/>
              </a:srgbClr>
            </a:solidFill>
          </a:ln>
        </p:spPr>
        <p:txBody>
          <a:bodyPr wrap="square" lIns="137160" anchor="ctr"/>
          <a:lstStyle/>
          <a:p>
            <a:pPr algn="l">
              <a:buNone/>
            </a:pPr>
            <a:r>
              <a:rPr lang="en-US" sz="1400" dirty="0">
                <a:solidFill>
                  <a:srgbClr val="4FC3F7"/>
                </a:solidFill>
                <a:latin typeface="Inter"/>
              </a:rPr>
              <a:t>Cumulative Payback</a:t>
            </a:r>
          </a:p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/>
              </a:rPr>
              <a:t>Year 3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 JD 179K cumulative</a:t>
            </a:r>
          </a:p>
        </p:txBody>
      </p:sp>
      <p:sp>
        <p:nvSpPr>
          <p:cNvPr id="272" name="EBITDA Margin Y5"/>
          <p:cNvSpPr/>
          <p:nvPr/>
        </p:nvSpPr>
        <p:spPr>
          <a:xfrm>
            <a:off x="8077200" y="3124200"/>
            <a:ext cx="3505200" cy="8382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FFB74D">
                <a:alpha val="30000"/>
              </a:srgbClr>
            </a:solidFill>
          </a:ln>
        </p:spPr>
        <p:txBody>
          <a:bodyPr wrap="square" lIns="137160" anchor="ctr"/>
          <a:lstStyle/>
          <a:p>
            <a:pPr algn="l">
              <a:buNone/>
            </a:pPr>
            <a:r>
              <a:rPr lang="en-US" sz="1400" dirty="0">
                <a:solidFill>
                  <a:srgbClr val="FFB74D"/>
                </a:solidFill>
                <a:latin typeface="Inter"/>
              </a:rPr>
              <a:t>EBITDA Margin Y5</a:t>
            </a:r>
          </a:p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/>
              </a:rPr>
              <a:t>64.6%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 Operating leverage</a:t>
            </a:r>
          </a:p>
        </p:txBody>
      </p:sp>
      <p:sp>
        <p:nvSpPr>
          <p:cNvPr id="273" name="Net Margin Y5"/>
          <p:cNvSpPr/>
          <p:nvPr/>
        </p:nvSpPr>
        <p:spPr>
          <a:xfrm>
            <a:off x="8077200" y="4114800"/>
            <a:ext cx="3505200" cy="8382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E040FB">
                <a:alpha val="30000"/>
              </a:srgbClr>
            </a:solidFill>
          </a:ln>
        </p:spPr>
        <p:txBody>
          <a:bodyPr wrap="square" lIns="137160" anchor="ctr"/>
          <a:lstStyle/>
          <a:p>
            <a:pPr algn="l">
              <a:buNone/>
            </a:pPr>
            <a:r>
              <a:rPr lang="en-US" sz="1400" dirty="0">
                <a:solidFill>
                  <a:srgbClr val="E040FB"/>
                </a:solidFill>
                <a:latin typeface="Inter"/>
              </a:rPr>
              <a:t>Net Margin Y5</a:t>
            </a:r>
          </a:p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/>
              </a:rPr>
              <a:t>64.4%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 JD 4.2M net income</a:t>
            </a:r>
          </a:p>
        </p:txBody>
      </p:sp>
    </p:spTree>
    <p:extLst>
      <p:ext uri="{BB962C8B-B14F-4D97-AF65-F5344CB8AC3E}">
        <p14:creationId xmlns:p14="http://schemas.microsoft.com/office/powerpoint/2010/main" val="2407541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itle"/>
          <p:cNvSpPr/>
          <p:nvPr/>
        </p:nvSpPr>
        <p:spPr>
          <a:xfrm>
            <a:off x="609600" y="2286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/>
              </a:rPr>
              <a:t>EXPANSION ROADMAP</a:t>
            </a:r>
          </a:p>
        </p:txBody>
      </p:sp>
      <p:sp>
        <p:nvSpPr>
          <p:cNvPr id="281" name="Timeline Line"/>
          <p:cNvSpPr/>
          <p:nvPr/>
        </p:nvSpPr>
        <p:spPr>
          <a:xfrm>
            <a:off x="609600" y="2057400"/>
            <a:ext cx="10972800" cy="0"/>
          </a:xfrm>
          <a:prstGeom prst="line">
            <a:avLst/>
          </a:prstGeom>
          <a:ln w="25400">
            <a:gradFill>
              <a:gsLst>
                <a:gs pos="0">
                  <a:srgbClr val="00D4AA"/>
                </a:gs>
                <a:gs pos="33000">
                  <a:srgbClr val="4FC3F7"/>
                </a:gs>
                <a:gs pos="66000">
                  <a:srgbClr val="FFB74D"/>
                </a:gs>
                <a:gs pos="100000">
                  <a:srgbClr val="E040FB"/>
                </a:gs>
              </a:gsLst>
              <a:lin ang="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290" name="YEAR 1"/>
          <p:cNvSpPr/>
          <p:nvPr/>
        </p:nvSpPr>
        <p:spPr>
          <a:xfrm>
            <a:off x="609600" y="1371600"/>
            <a:ext cx="2438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>
              <a:buNone/>
            </a:pPr>
            <a:r>
              <a:rPr lang="en-US" sz="1800" b="1" dirty="0">
                <a:solidFill>
                  <a:srgbClr val="00D4AA"/>
                </a:solidFill>
                <a:latin typeface="Montserrat"/>
              </a:rPr>
              <a:t>YEAR 1</a:t>
            </a:r>
          </a:p>
        </p:txBody>
      </p:sp>
      <p:sp>
        <p:nvSpPr>
          <p:cNvPr id="295" name="Dot 0"/>
          <p:cNvSpPr/>
          <p:nvPr/>
        </p:nvSpPr>
        <p:spPr>
          <a:xfrm>
            <a:off x="1676400" y="1905000"/>
            <a:ext cx="304800" cy="3048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" name="YEAR 1 Card"/>
          <p:cNvSpPr/>
          <p:nvPr/>
        </p:nvSpPr>
        <p:spPr>
          <a:xfrm>
            <a:off x="609600" y="2362200"/>
            <a:ext cx="2438400" cy="21336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9525">
            <a:solidFill>
              <a:srgbClr val="00D4AA">
                <a:alpha val="25000"/>
              </a:srgbClr>
            </a:solidFill>
          </a:ln>
        </p:spPr>
        <p:txBody>
          <a:bodyPr wrap="square" lIns="137160" tIns="137160" rIns="137160" anchor="t"/>
          <a:lstStyle/>
          <a:p>
            <a:pPr algn="ctr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Amman</a:t>
            </a:r>
          </a:p>
          <a:p>
            <a:pPr algn="ctr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Active Drivers</a:t>
            </a:r>
          </a:p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/>
              </a:rPr>
              <a:t>1,479</a:t>
            </a:r>
          </a:p>
        </p:txBody>
      </p:sp>
      <p:sp>
        <p:nvSpPr>
          <p:cNvPr id="291" name="YEAR 2"/>
          <p:cNvSpPr/>
          <p:nvPr/>
        </p:nvSpPr>
        <p:spPr>
          <a:xfrm>
            <a:off x="3200400" y="1371600"/>
            <a:ext cx="2438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>
              <a:buNone/>
            </a:pPr>
            <a:r>
              <a:rPr lang="en-US" sz="1800" b="1" dirty="0">
                <a:solidFill>
                  <a:srgbClr val="4FC3F7"/>
                </a:solidFill>
                <a:latin typeface="Montserrat"/>
              </a:rPr>
              <a:t>YEAR 2</a:t>
            </a:r>
          </a:p>
        </p:txBody>
      </p:sp>
      <p:sp>
        <p:nvSpPr>
          <p:cNvPr id="296" name="Dot 1"/>
          <p:cNvSpPr/>
          <p:nvPr/>
        </p:nvSpPr>
        <p:spPr>
          <a:xfrm>
            <a:off x="4267200" y="1905000"/>
            <a:ext cx="304800" cy="3048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YEAR 2 Card"/>
          <p:cNvSpPr/>
          <p:nvPr/>
        </p:nvSpPr>
        <p:spPr>
          <a:xfrm>
            <a:off x="3200400" y="2362200"/>
            <a:ext cx="2438400" cy="21336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9525">
            <a:solidFill>
              <a:srgbClr val="4FC3F7">
                <a:alpha val="25000"/>
              </a:srgbClr>
            </a:solidFill>
          </a:ln>
        </p:spPr>
        <p:txBody>
          <a:bodyPr wrap="square" lIns="137160" tIns="137160" rIns="137160" anchor="t"/>
          <a:lstStyle/>
          <a:p>
            <a:pPr algn="ctr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All Jordan
(Irbid, Zarqa, Aqaba)</a:t>
            </a:r>
          </a:p>
          <a:p>
            <a:pPr algn="ctr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Active Drivers</a:t>
            </a:r>
          </a:p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/>
              </a:rPr>
              <a:t>3,254</a:t>
            </a:r>
          </a:p>
        </p:txBody>
      </p:sp>
      <p:sp>
        <p:nvSpPr>
          <p:cNvPr id="292" name="YEAR 3"/>
          <p:cNvSpPr/>
          <p:nvPr/>
        </p:nvSpPr>
        <p:spPr>
          <a:xfrm>
            <a:off x="5791200" y="1371600"/>
            <a:ext cx="2438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>
              <a:buNone/>
            </a:pPr>
            <a:r>
              <a:rPr lang="en-US" sz="1800" b="1" dirty="0">
                <a:solidFill>
                  <a:srgbClr val="FFB74D"/>
                </a:solidFill>
                <a:latin typeface="Montserrat"/>
              </a:rPr>
              <a:t>YEAR 3</a:t>
            </a:r>
          </a:p>
        </p:txBody>
      </p:sp>
      <p:sp>
        <p:nvSpPr>
          <p:cNvPr id="297" name="Dot 2"/>
          <p:cNvSpPr/>
          <p:nvPr/>
        </p:nvSpPr>
        <p:spPr>
          <a:xfrm>
            <a:off x="6858000" y="1905000"/>
            <a:ext cx="304800" cy="304800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YEAR 3 Card"/>
          <p:cNvSpPr/>
          <p:nvPr/>
        </p:nvSpPr>
        <p:spPr>
          <a:xfrm>
            <a:off x="5791200" y="2362200"/>
            <a:ext cx="2438400" cy="21336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9525">
            <a:solidFill>
              <a:srgbClr val="FFB74D">
                <a:alpha val="25000"/>
              </a:srgbClr>
            </a:solidFill>
          </a:ln>
        </p:spPr>
        <p:txBody>
          <a:bodyPr wrap="square" lIns="137160" tIns="137160" rIns="137160" anchor="t"/>
          <a:lstStyle/>
          <a:p>
            <a:pPr algn="ctr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Jordan + Iraq
(Baghdad, Erbil, Basra)</a:t>
            </a:r>
          </a:p>
          <a:p>
            <a:pPr algn="ctr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Active Drivers</a:t>
            </a:r>
          </a:p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/>
              </a:rPr>
              <a:t>6,020</a:t>
            </a:r>
          </a:p>
        </p:txBody>
      </p:sp>
      <p:sp>
        <p:nvSpPr>
          <p:cNvPr id="293" name="YEAR 4-5"/>
          <p:cNvSpPr/>
          <p:nvPr/>
        </p:nvSpPr>
        <p:spPr>
          <a:xfrm>
            <a:off x="8382000" y="1371600"/>
            <a:ext cx="2438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>
              <a:buNone/>
            </a:pPr>
            <a:r>
              <a:rPr lang="en-US" sz="1800" b="1" dirty="0">
                <a:solidFill>
                  <a:srgbClr val="E040FB"/>
                </a:solidFill>
                <a:latin typeface="Montserrat"/>
              </a:rPr>
              <a:t>YEAR 4-5</a:t>
            </a:r>
          </a:p>
        </p:txBody>
      </p:sp>
      <p:sp>
        <p:nvSpPr>
          <p:cNvPr id="298" name="Dot 3"/>
          <p:cNvSpPr/>
          <p:nvPr/>
        </p:nvSpPr>
        <p:spPr>
          <a:xfrm>
            <a:off x="9448800" y="1905000"/>
            <a:ext cx="304800" cy="304800"/>
          </a:xfrm>
          <a:prstGeom prst="ellipse">
            <a:avLst/>
          </a:prstGeom>
          <a:solidFill>
            <a:srgbClr val="E040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YEAR 4-5 Card"/>
          <p:cNvSpPr/>
          <p:nvPr/>
        </p:nvSpPr>
        <p:spPr>
          <a:xfrm>
            <a:off x="8382000" y="2362200"/>
            <a:ext cx="2438400" cy="21336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9525">
            <a:solidFill>
              <a:srgbClr val="E040FB">
                <a:alpha val="25000"/>
              </a:srgbClr>
            </a:solidFill>
          </a:ln>
        </p:spPr>
        <p:txBody>
          <a:bodyPr wrap="square" lIns="137160" tIns="137160" rIns="137160" anchor="t"/>
          <a:lstStyle/>
          <a:p>
            <a:pPr algn="ctr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8 Markets
+ Egypt (Cairo, Giza)</a:t>
            </a:r>
          </a:p>
          <a:p>
            <a:pPr algn="ctr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Active Drivers</a:t>
            </a:r>
          </a:p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/>
              </a:rPr>
              <a:t>13,966</a:t>
            </a:r>
          </a:p>
        </p:txBody>
      </p:sp>
    </p:spTree>
    <p:extLst>
      <p:ext uri="{BB962C8B-B14F-4D97-AF65-F5344CB8AC3E}">
        <p14:creationId xmlns:p14="http://schemas.microsoft.com/office/powerpoint/2010/main" val="3811877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itle"/>
          <p:cNvSpPr/>
          <p:nvPr/>
        </p:nvSpPr>
        <p:spPr>
          <a:xfrm>
            <a:off x="609600" y="2286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/>
              </a:rPr>
              <a:t>FUTURE REVENUE STREAMS</a:t>
            </a:r>
          </a:p>
        </p:txBody>
      </p:sp>
      <p:sp>
        <p:nvSpPr>
          <p:cNvPr id="311" name="Sub"/>
          <p:cNvSpPr/>
          <p:nvPr/>
        </p:nvSpPr>
        <p:spPr>
          <a:xfrm>
            <a:off x="609600" y="9144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1600" dirty="0">
                <a:solidFill>
                  <a:srgbClr val="8899AA"/>
                </a:solidFill>
                <a:latin typeface="Inter"/>
              </a:rPr>
              <a:t>7 ancillary streams launching Y2-Y3 — JD 2.1M annual potential by Y5 (37% of core revenue)</a:t>
            </a:r>
          </a:p>
        </p:txBody>
      </p:sp>
      <p:sp>
        <p:nvSpPr>
          <p:cNvPr id="320" name="Fleet Partners"/>
          <p:cNvSpPr/>
          <p:nvPr/>
        </p:nvSpPr>
        <p:spPr>
          <a:xfrm>
            <a:off x="609600" y="1524000"/>
            <a:ext cx="2590600" cy="16764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9525">
            <a:solidFill>
              <a:srgbClr val="00D4AA">
                <a:alpha val="30000"/>
              </a:srgbClr>
            </a:solidFill>
          </a:ln>
        </p:spPr>
        <p:txBody>
          <a:bodyPr wrap="square" lIns="137160" rIns="137160" anchor="ctr"/>
          <a:lstStyle/>
          <a:p>
            <a:pPr algn="l">
              <a:buNone/>
            </a:pPr>
            <a:r>
              <a:rPr lang="en-US" sz="1600" b="1" dirty="0">
                <a:solidFill>
                  <a:srgbClr val="00D4AA"/>
                </a:solidFill>
                <a:latin typeface="Inter"/>
              </a:rPr>
              <a:t>Fleet Partners</a:t>
            </a:r>
          </a:p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/>
              </a:rPr>
              <a:t>JD 300K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/yr (Y5)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Launch: Y2-Q1  |  Margin: 85%</a:t>
            </a:r>
          </a:p>
        </p:txBody>
      </p:sp>
      <p:sp>
        <p:nvSpPr>
          <p:cNvPr id="321" name="Corporate B2B"/>
          <p:cNvSpPr/>
          <p:nvPr/>
        </p:nvSpPr>
        <p:spPr>
          <a:xfrm>
            <a:off x="3352600" y="1524000"/>
            <a:ext cx="2590600" cy="16764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9525">
            <a:solidFill>
              <a:srgbClr val="4FC3F7">
                <a:alpha val="30000"/>
              </a:srgbClr>
            </a:solidFill>
          </a:ln>
        </p:spPr>
        <p:txBody>
          <a:bodyPr wrap="square" lIns="137160" rIns="137160" anchor="ctr"/>
          <a:lstStyle/>
          <a:p>
            <a:pPr algn="l">
              <a:buNone/>
            </a:pPr>
            <a:r>
              <a:rPr lang="en-US" sz="1600" b="1" dirty="0">
                <a:solidFill>
                  <a:srgbClr val="4FC3F7"/>
                </a:solidFill>
                <a:latin typeface="Inter"/>
              </a:rPr>
              <a:t>Corporate B2B</a:t>
            </a:r>
          </a:p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/>
              </a:rPr>
              <a:t>JD 420K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/yr (Y5)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Launch: Y2-Q2  |  Margin: 70%</a:t>
            </a:r>
          </a:p>
        </p:txBody>
      </p:sp>
      <p:sp>
        <p:nvSpPr>
          <p:cNvPr id="322" name="Delivery"/>
          <p:cNvSpPr/>
          <p:nvPr/>
        </p:nvSpPr>
        <p:spPr>
          <a:xfrm>
            <a:off x="6095600" y="1524000"/>
            <a:ext cx="2590600" cy="16764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9525">
            <a:solidFill>
              <a:srgbClr val="FFB74D">
                <a:alpha val="30000"/>
              </a:srgbClr>
            </a:solidFill>
          </a:ln>
        </p:spPr>
        <p:txBody>
          <a:bodyPr wrap="square" lIns="137160" rIns="137160" anchor="ctr"/>
          <a:lstStyle/>
          <a:p>
            <a:pPr algn="l">
              <a:buNone/>
            </a:pPr>
            <a:r>
              <a:rPr lang="en-US" sz="1600" b="1" dirty="0">
                <a:solidFill>
                  <a:srgbClr val="FFB74D"/>
                </a:solidFill>
                <a:latin typeface="Inter"/>
              </a:rPr>
              <a:t>Delivery</a:t>
            </a:r>
          </a:p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/>
              </a:rPr>
              <a:t>JD 480K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/yr (Y5)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Launch: Y2-Q3  |  Margin: 40%</a:t>
            </a:r>
          </a:p>
        </p:txBody>
      </p:sp>
      <p:sp>
        <p:nvSpPr>
          <p:cNvPr id="323" name="Insurance Brokerage"/>
          <p:cNvSpPr/>
          <p:nvPr/>
        </p:nvSpPr>
        <p:spPr>
          <a:xfrm>
            <a:off x="8838600" y="1524000"/>
            <a:ext cx="2590600" cy="16764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9525">
            <a:solidFill>
              <a:srgbClr val="E040FB">
                <a:alpha val="30000"/>
              </a:srgbClr>
            </a:solidFill>
          </a:ln>
        </p:spPr>
        <p:txBody>
          <a:bodyPr wrap="square" lIns="137160" rIns="137160" anchor="ctr"/>
          <a:lstStyle/>
          <a:p>
            <a:pPr algn="l">
              <a:buNone/>
            </a:pPr>
            <a:r>
              <a:rPr lang="en-US" sz="1600" b="1" dirty="0">
                <a:solidFill>
                  <a:srgbClr val="E040FB"/>
                </a:solidFill>
                <a:latin typeface="Inter"/>
              </a:rPr>
              <a:t>Insurance Brokerage</a:t>
            </a:r>
          </a:p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/>
              </a:rPr>
              <a:t>JD 240K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/yr (Y5)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Launch: Y2-Q4  |  Margin: 90%</a:t>
            </a:r>
          </a:p>
        </p:txBody>
      </p:sp>
      <p:sp>
        <p:nvSpPr>
          <p:cNvPr id="324" name="In-App Ads"/>
          <p:cNvSpPr/>
          <p:nvPr/>
        </p:nvSpPr>
        <p:spPr>
          <a:xfrm>
            <a:off x="609600" y="3429000"/>
            <a:ext cx="2590600" cy="16764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9525">
            <a:solidFill>
              <a:srgbClr val="69F0AE">
                <a:alpha val="30000"/>
              </a:srgbClr>
            </a:solidFill>
          </a:ln>
        </p:spPr>
        <p:txBody>
          <a:bodyPr wrap="square" lIns="137160" rIns="137160" anchor="ctr"/>
          <a:lstStyle/>
          <a:p>
            <a:pPr algn="l">
              <a:buNone/>
            </a:pPr>
            <a:r>
              <a:rPr lang="en-US" sz="1600" b="1" dirty="0">
                <a:solidFill>
                  <a:srgbClr val="69F0AE"/>
                </a:solidFill>
                <a:latin typeface="Inter"/>
              </a:rPr>
              <a:t>In-App Ads</a:t>
            </a:r>
          </a:p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/>
              </a:rPr>
              <a:t>JD 180K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/yr (Y5)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Launch: Y3-Q1  |  Margin: 95%</a:t>
            </a:r>
          </a:p>
        </p:txBody>
      </p:sp>
      <p:sp>
        <p:nvSpPr>
          <p:cNvPr id="325" name="Data Licensing"/>
          <p:cNvSpPr/>
          <p:nvPr/>
        </p:nvSpPr>
        <p:spPr>
          <a:xfrm>
            <a:off x="3352600" y="3429000"/>
            <a:ext cx="2590600" cy="16764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9525">
            <a:solidFill>
              <a:srgbClr val="00D4AA">
                <a:alpha val="30000"/>
              </a:srgbClr>
            </a:solidFill>
          </a:ln>
        </p:spPr>
        <p:txBody>
          <a:bodyPr wrap="square" lIns="137160" rIns="137160" anchor="ctr"/>
          <a:lstStyle/>
          <a:p>
            <a:pPr algn="l">
              <a:buNone/>
            </a:pPr>
            <a:r>
              <a:rPr lang="en-US" sz="1600" b="1" dirty="0">
                <a:solidFill>
                  <a:srgbClr val="00D4AA"/>
                </a:solidFill>
                <a:latin typeface="Inter"/>
              </a:rPr>
              <a:t>Data Licensing</a:t>
            </a:r>
          </a:p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/>
              </a:rPr>
              <a:t>JD 96K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/yr (Y5)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Launch: Y3-Q2  |  Margin: 95%</a:t>
            </a:r>
          </a:p>
        </p:txBody>
      </p:sp>
      <p:sp>
        <p:nvSpPr>
          <p:cNvPr id="326" name="Rider Subscriptions"/>
          <p:cNvSpPr/>
          <p:nvPr/>
        </p:nvSpPr>
        <p:spPr>
          <a:xfrm>
            <a:off x="6095600" y="3429000"/>
            <a:ext cx="2590600" cy="16764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9525">
            <a:solidFill>
              <a:srgbClr val="4FC3F7">
                <a:alpha val="30000"/>
              </a:srgbClr>
            </a:solidFill>
          </a:ln>
        </p:spPr>
        <p:txBody>
          <a:bodyPr wrap="square" lIns="137160" rIns="137160" anchor="ctr"/>
          <a:lstStyle/>
          <a:p>
            <a:pPr algn="l">
              <a:buNone/>
            </a:pPr>
            <a:r>
              <a:rPr lang="en-US" sz="1600" b="1" dirty="0">
                <a:solidFill>
                  <a:srgbClr val="4FC3F7"/>
                </a:solidFill>
                <a:latin typeface="Inter"/>
              </a:rPr>
              <a:t>Rider Subscriptions</a:t>
            </a:r>
          </a:p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/>
              </a:rPr>
              <a:t>JD 360K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/yr (Y5)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Launch: Y3-Q3  |  Margin: 80%</a:t>
            </a:r>
          </a:p>
        </p:txBody>
      </p:sp>
    </p:spTree>
    <p:extLst>
      <p:ext uri="{BB962C8B-B14F-4D97-AF65-F5344CB8AC3E}">
        <p14:creationId xmlns:p14="http://schemas.microsoft.com/office/powerpoint/2010/main" val="1973807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itle"/>
          <p:cNvSpPr/>
          <p:nvPr/>
        </p:nvSpPr>
        <p:spPr>
          <a:xfrm>
            <a:off x="609600" y="2286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/>
              </a:rPr>
              <a:t>KEY RISKS &amp; MITIGANTS</a:t>
            </a:r>
          </a:p>
        </p:txBody>
      </p:sp>
      <p:sp>
        <p:nvSpPr>
          <p:cNvPr id="340" name="Risk 0"/>
          <p:cNvSpPr/>
          <p:nvPr/>
        </p:nvSpPr>
        <p:spPr>
          <a:xfrm>
            <a:off x="609600" y="1143000"/>
            <a:ext cx="10972800" cy="8382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FF5252">
                <a:alpha val="30000"/>
              </a:srgbClr>
            </a:solidFill>
          </a:ln>
        </p:spPr>
        <p:txBody>
          <a:bodyPr wrap="square" lIns="228600" rIns="228600" anchor="ctr"/>
          <a:lstStyle/>
          <a:p>
            <a:pPr algn="l">
              <a:buNone/>
            </a:pPr>
            <a:r>
              <a:rPr lang="en-US" sz="1400" b="1" dirty="0">
                <a:solidFill>
                  <a:srgbClr val="FF5252"/>
                </a:solidFill>
                <a:latin typeface="Inter"/>
              </a:rPr>
              <a:t>HIGH</a:t>
            </a:r>
            <a:r>
              <a:rPr lang="en-US" sz="1600" b="1" dirty="0">
                <a:solidFill>
                  <a:srgbClr val="FFFFFF"/>
                </a:solidFill>
                <a:latin typeface="Inter"/>
              </a:rPr>
              <a:t>    Regulatory delay (LTRC license)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JD 158K regulatory budget; legal counsel engaged pre-launch</a:t>
            </a:r>
          </a:p>
        </p:txBody>
      </p:sp>
      <p:sp>
        <p:nvSpPr>
          <p:cNvPr id="341" name="Risk 1"/>
          <p:cNvSpPr/>
          <p:nvPr/>
        </p:nvSpPr>
        <p:spPr>
          <a:xfrm>
            <a:off x="609600" y="2133600"/>
            <a:ext cx="10972800" cy="8382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FFB74D">
                <a:alpha val="30000"/>
              </a:srgbClr>
            </a:solidFill>
          </a:ln>
        </p:spPr>
        <p:txBody>
          <a:bodyPr wrap="square" lIns="228600" rIns="228600" anchor="ctr"/>
          <a:lstStyle/>
          <a:p>
            <a:pPr algn="l">
              <a:buNone/>
            </a:pPr>
            <a:r>
              <a:rPr lang="en-US" sz="1400" b="1" dirty="0">
                <a:solidFill>
                  <a:srgbClr val="FFB74D"/>
                </a:solidFill>
                <a:latin typeface="Inter"/>
              </a:rPr>
              <a:t>MEDIUM</a:t>
            </a:r>
            <a:r>
              <a:rPr lang="en-US" sz="1600" b="1" dirty="0">
                <a:solidFill>
                  <a:srgbClr val="FFFFFF"/>
                </a:solidFill>
                <a:latin typeface="Inter"/>
              </a:rPr>
              <a:t>    Driver churn exceeds projections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Graduated onboarding + insurance lock-in = 2% mature churn</a:t>
            </a:r>
          </a:p>
        </p:txBody>
      </p:sp>
      <p:sp>
        <p:nvSpPr>
          <p:cNvPr id="342" name="Risk 2"/>
          <p:cNvSpPr/>
          <p:nvPr/>
        </p:nvSpPr>
        <p:spPr>
          <a:xfrm>
            <a:off x="609600" y="3124200"/>
            <a:ext cx="10972800" cy="8382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FFB74D">
                <a:alpha val="30000"/>
              </a:srgbClr>
            </a:solidFill>
          </a:ln>
        </p:spPr>
        <p:txBody>
          <a:bodyPr wrap="square" lIns="228600" rIns="228600" anchor="ctr"/>
          <a:lstStyle/>
          <a:p>
            <a:pPr algn="l">
              <a:buNone/>
            </a:pPr>
            <a:r>
              <a:rPr lang="en-US" sz="1400" b="1" dirty="0">
                <a:solidFill>
                  <a:srgbClr val="FFB74D"/>
                </a:solidFill>
                <a:latin typeface="Inter"/>
              </a:rPr>
              <a:t>MEDIUM</a:t>
            </a:r>
            <a:r>
              <a:rPr lang="en-US" sz="1600" b="1" dirty="0">
                <a:solidFill>
                  <a:srgbClr val="FFFFFF"/>
                </a:solidFill>
                <a:latin typeface="Inter"/>
              </a:rPr>
              <a:t>    Uber/Careem price war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Flat fee is structurally immune — commission cuts hurt them more</a:t>
            </a:r>
          </a:p>
        </p:txBody>
      </p:sp>
      <p:sp>
        <p:nvSpPr>
          <p:cNvPr id="343" name="Risk 3"/>
          <p:cNvSpPr/>
          <p:nvPr/>
        </p:nvSpPr>
        <p:spPr>
          <a:xfrm>
            <a:off x="609600" y="4114800"/>
            <a:ext cx="10972800" cy="8382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00D4AA">
                <a:alpha val="30000"/>
              </a:srgbClr>
            </a:solidFill>
          </a:ln>
        </p:spPr>
        <p:txBody>
          <a:bodyPr wrap="square" lIns="228600" rIns="228600" anchor="ctr"/>
          <a:lstStyle/>
          <a:p>
            <a:pPr algn="l">
              <a:buNone/>
            </a:pPr>
            <a:r>
              <a:rPr lang="en-US" sz="1400" b="1" dirty="0">
                <a:solidFill>
                  <a:srgbClr val="00D4AA"/>
                </a:solidFill>
                <a:latin typeface="Inter"/>
              </a:rPr>
              <a:t>LOW</a:t>
            </a:r>
            <a:r>
              <a:rPr lang="en-US" sz="1600" b="1" dirty="0">
                <a:solidFill>
                  <a:srgbClr val="FFFFFF"/>
                </a:solidFill>
                <a:latin typeface="Inter"/>
              </a:rPr>
              <a:t>    Slower driver adoption</a:t>
            </a:r>
          </a:p>
          <a:p>
            <a:pPr algn="l">
              <a:buNone/>
            </a:pPr>
            <a:r>
              <a:rPr lang="en-US" sz="1400" dirty="0">
                <a:solidFill>
                  <a:srgbClr val="8899AA"/>
                </a:solidFill>
                <a:latin typeface="Inter"/>
              </a:rPr>
              <a:t>Break-even at just 1,200 drivers (5% of market); referral program</a:t>
            </a:r>
          </a:p>
        </p:txBody>
      </p:sp>
    </p:spTree>
    <p:extLst>
      <p:ext uri="{BB962C8B-B14F-4D97-AF65-F5344CB8AC3E}">
        <p14:creationId xmlns:p14="http://schemas.microsoft.com/office/powerpoint/2010/main" val="2119384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itle"/>
          <p:cNvSpPr/>
          <p:nvPr/>
        </p:nvSpPr>
        <p:spPr>
          <a:xfrm>
            <a:off x="609600" y="2286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/>
              </a:rPr>
              <a:t>THE ASK</a:t>
            </a:r>
          </a:p>
        </p:txBody>
      </p:sp>
      <p:sp>
        <p:nvSpPr>
          <p:cNvPr id="351" name="Amount"/>
          <p:cNvSpPr/>
          <p:nvPr/>
        </p:nvSpPr>
        <p:spPr>
          <a:xfrm>
            <a:off x="609600" y="1143000"/>
            <a:ext cx="5486400" cy="1905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9050">
            <a:solidFill>
              <a:srgbClr val="00D4AA"/>
            </a:solidFill>
          </a:ln>
        </p:spPr>
        <p:txBody>
          <a:bodyPr wrap="square" lIns="274320" anchor="ctr"/>
          <a:lstStyle/>
          <a:p>
            <a:pPr algn="l">
              <a:buNone/>
            </a:pPr>
            <a:r>
              <a:rPr lang="en-US" sz="1600" dirty="0">
                <a:solidFill>
                  <a:srgbClr val="00D4AA"/>
                </a:solidFill>
                <a:latin typeface="Inter"/>
              </a:rPr>
              <a:t>SEED ROUND</a:t>
            </a:r>
          </a:p>
          <a:p>
            <a:pPr algn="l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/>
              </a:rPr>
              <a:t>$1.47M</a:t>
            </a:r>
          </a:p>
          <a:p>
            <a:pPr algn="l">
              <a:buNone/>
            </a:pPr>
            <a:r>
              <a:rPr lang="en-US" sz="1600" dirty="0">
                <a:solidFill>
                  <a:srgbClr val="8899AA"/>
                </a:solidFill>
                <a:latin typeface="Inter"/>
              </a:rPr>
              <a:t>JD 1.04M  |  18-month runway  |  Path to Year 2 profitability</a:t>
            </a:r>
          </a:p>
        </p:txBody>
      </p:sp>
      <p:sp>
        <p:nvSpPr>
          <p:cNvPr id="355" name="Use of Funds Title"/>
          <p:cNvSpPr/>
          <p:nvPr/>
        </p:nvSpPr>
        <p:spPr>
          <a:xfrm>
            <a:off x="6553200" y="11430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</a:rPr>
              <a:t>USE OF FUNDS</a:t>
            </a:r>
          </a:p>
        </p:txBody>
      </p:sp>
      <p:sp>
        <p:nvSpPr>
          <p:cNvPr id="360" name="LTRC License + Bank Guarantee"/>
          <p:cNvSpPr/>
          <p:nvPr/>
        </p:nvSpPr>
        <p:spPr>
          <a:xfrm>
            <a:off x="6553200" y="1600200"/>
            <a:ext cx="5029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400" dirty="0">
                <a:solidFill>
                  <a:srgbClr val="00D4AA"/>
                </a:solidFill>
                <a:latin typeface="Inter"/>
              </a:rPr>
              <a:t>14%</a:t>
            </a:r>
            <a:r>
              <a:rPr lang="en-US" sz="1400" dirty="0">
                <a:solidFill>
                  <a:srgbClr val="FFFFFF"/>
                </a:solidFill>
                <a:latin typeface="Inter"/>
              </a:rPr>
              <a:t>  LTRC License + Bank Guarantee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 JD 150K</a:t>
            </a:r>
          </a:p>
        </p:txBody>
      </p:sp>
      <p:sp>
        <p:nvSpPr>
          <p:cNvPr id="361" name="App Development (MVP)"/>
          <p:cNvSpPr/>
          <p:nvPr/>
        </p:nvSpPr>
        <p:spPr>
          <a:xfrm>
            <a:off x="6553200" y="2057400"/>
            <a:ext cx="5029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400" dirty="0">
                <a:solidFill>
                  <a:srgbClr val="4FC3F7"/>
                </a:solidFill>
                <a:latin typeface="Inter"/>
              </a:rPr>
              <a:t>3%</a:t>
            </a:r>
            <a:r>
              <a:rPr lang="en-US" sz="1400" dirty="0">
                <a:solidFill>
                  <a:srgbClr val="FFFFFF"/>
                </a:solidFill>
                <a:latin typeface="Inter"/>
              </a:rPr>
              <a:t>  App Development (MVP)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 JD 35K</a:t>
            </a:r>
          </a:p>
        </p:txBody>
      </p:sp>
      <p:sp>
        <p:nvSpPr>
          <p:cNvPr id="362" name="Team + Operations (18 mo)"/>
          <p:cNvSpPr/>
          <p:nvPr/>
        </p:nvSpPr>
        <p:spPr>
          <a:xfrm>
            <a:off x="6553200" y="2514600"/>
            <a:ext cx="5029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400" dirty="0">
                <a:solidFill>
                  <a:srgbClr val="FFB74D"/>
                </a:solidFill>
                <a:latin typeface="Inter"/>
              </a:rPr>
              <a:t>13%</a:t>
            </a:r>
            <a:r>
              <a:rPr lang="en-US" sz="1400" dirty="0">
                <a:solidFill>
                  <a:srgbClr val="FFFFFF"/>
                </a:solidFill>
                <a:latin typeface="Inter"/>
              </a:rPr>
              <a:t>  Team + Operations (18 mo)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 JD 135K</a:t>
            </a:r>
          </a:p>
        </p:txBody>
      </p:sp>
      <p:sp>
        <p:nvSpPr>
          <p:cNvPr id="363" name="Driver + Rider Acquisition"/>
          <p:cNvSpPr/>
          <p:nvPr/>
        </p:nvSpPr>
        <p:spPr>
          <a:xfrm>
            <a:off x="6553200" y="2971800"/>
            <a:ext cx="5029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400" dirty="0">
                <a:solidFill>
                  <a:srgbClr val="E040FB"/>
                </a:solidFill>
                <a:latin typeface="Inter"/>
              </a:rPr>
              <a:t>10%</a:t>
            </a:r>
            <a:r>
              <a:rPr lang="en-US" sz="1400" dirty="0">
                <a:solidFill>
                  <a:srgbClr val="FFFFFF"/>
                </a:solidFill>
                <a:latin typeface="Inter"/>
              </a:rPr>
              <a:t>  Driver + Rider Acquisition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 JD 103K</a:t>
            </a:r>
          </a:p>
        </p:txBody>
      </p:sp>
      <p:sp>
        <p:nvSpPr>
          <p:cNvPr id="364" name="Insurance Program"/>
          <p:cNvSpPr/>
          <p:nvPr/>
        </p:nvSpPr>
        <p:spPr>
          <a:xfrm>
            <a:off x="6553200" y="3429000"/>
            <a:ext cx="5029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400" dirty="0">
                <a:solidFill>
                  <a:srgbClr val="69F0AE"/>
                </a:solidFill>
                <a:latin typeface="Inter"/>
              </a:rPr>
              <a:t>7%</a:t>
            </a:r>
            <a:r>
              <a:rPr lang="en-US" sz="1400" dirty="0">
                <a:solidFill>
                  <a:srgbClr val="FFFFFF"/>
                </a:solidFill>
                <a:latin typeface="Inter"/>
              </a:rPr>
              <a:t>  Insurance Program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 JD 70K</a:t>
            </a:r>
          </a:p>
        </p:txBody>
      </p:sp>
      <p:sp>
        <p:nvSpPr>
          <p:cNvPr id="365" name="Working Capital + Buffer"/>
          <p:cNvSpPr/>
          <p:nvPr/>
        </p:nvSpPr>
        <p:spPr>
          <a:xfrm>
            <a:off x="6553200" y="3886200"/>
            <a:ext cx="5029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400" dirty="0">
                <a:solidFill>
                  <a:srgbClr val="4FC3F7"/>
                </a:solidFill>
                <a:latin typeface="Inter"/>
              </a:rPr>
              <a:t>53%</a:t>
            </a:r>
            <a:r>
              <a:rPr lang="en-US" sz="1400" dirty="0">
                <a:solidFill>
                  <a:srgbClr val="FFFFFF"/>
                </a:solidFill>
                <a:latin typeface="Inter"/>
              </a:rPr>
              <a:t>  Working Capital + Buffer</a:t>
            </a:r>
            <a:r>
              <a:rPr lang="en-US" sz="1400" dirty="0">
                <a:solidFill>
                  <a:srgbClr val="8899AA"/>
                </a:solidFill>
                <a:latin typeface="Inter"/>
              </a:rPr>
              <a:t>  JD 549K</a:t>
            </a:r>
          </a:p>
        </p:txBody>
      </p:sp>
      <p:sp>
        <p:nvSpPr>
          <p:cNvPr id="370" name="Bottom Stats"/>
          <p:cNvSpPr/>
          <p:nvPr/>
        </p:nvSpPr>
        <p:spPr>
          <a:xfrm>
            <a:off x="609600" y="4343400"/>
            <a:ext cx="10972800" cy="8382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9525">
            <a:solidFill>
              <a:srgbClr val="1A2744"/>
            </a:solidFill>
          </a:ln>
        </p:spPr>
        <p:txBody>
          <a:bodyPr wrap="square" lIns="274320" anchor="ctr"/>
          <a:lstStyle/>
          <a:p>
            <a:pPr algn="ctr">
              <a:buNone/>
            </a:pPr>
            <a:r>
              <a:rPr lang="en-US" sz="1600" dirty="0">
                <a:solidFill>
                  <a:srgbClr val="8899AA"/>
                </a:solidFill>
                <a:latin typeface="Inter"/>
              </a:rPr>
              <a:t>LTV/CAC: </a:t>
            </a:r>
            <a:r>
              <a:rPr lang="en-US" sz="1800" b="1" dirty="0">
                <a:solidFill>
                  <a:srgbClr val="00D4AA"/>
                </a:solidFill>
                <a:latin typeface="Montserrat"/>
              </a:rPr>
              <a:t>13.9x</a:t>
            </a:r>
            <a:r>
              <a:rPr lang="en-US" sz="1600" dirty="0">
                <a:solidFill>
                  <a:srgbClr val="8899AA"/>
                </a:solidFill>
                <a:latin typeface="Inter"/>
              </a:rPr>
              <a:t>    |    Payback: </a:t>
            </a:r>
            <a:r>
              <a:rPr lang="en-US" sz="1800" b="1" dirty="0">
                <a:solidFill>
                  <a:srgbClr val="4FC3F7"/>
                </a:solidFill>
                <a:latin typeface="Montserrat"/>
              </a:rPr>
              <a:t>2.5 months</a:t>
            </a:r>
            <a:r>
              <a:rPr lang="en-US" sz="1600" dirty="0">
                <a:solidFill>
                  <a:srgbClr val="8899AA"/>
                </a:solidFill>
                <a:latin typeface="Inter"/>
              </a:rPr>
              <a:t>    |    Break-even: </a:t>
            </a:r>
            <a:r>
              <a:rPr lang="en-US" sz="1800" b="1" dirty="0">
                <a:solidFill>
                  <a:srgbClr val="FFB74D"/>
                </a:solidFill>
                <a:latin typeface="Montserrat"/>
              </a:rPr>
              <a:t>Year 2</a:t>
            </a:r>
            <a:r>
              <a:rPr lang="en-US" sz="1600" dirty="0">
                <a:solidFill>
                  <a:srgbClr val="8899AA"/>
                </a:solidFill>
                <a:latin typeface="Inter"/>
              </a:rPr>
              <a:t>    |    5Y Net: </a:t>
            </a:r>
            <a:r>
              <a:rPr lang="en-US" sz="1800" b="1" dirty="0">
                <a:solidFill>
                  <a:srgbClr val="E040FB"/>
                </a:solidFill>
                <a:latin typeface="Montserrat"/>
              </a:rPr>
              <a:t>JD 6.6M</a:t>
            </a:r>
          </a:p>
        </p:txBody>
      </p:sp>
    </p:spTree>
    <p:extLst>
      <p:ext uri="{BB962C8B-B14F-4D97-AF65-F5344CB8AC3E}">
        <p14:creationId xmlns:p14="http://schemas.microsoft.com/office/powerpoint/2010/main" val="1388706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Deco"/>
          <p:cNvSpPr/>
          <p:nvPr/>
        </p:nvSpPr>
        <p:spPr>
          <a:xfrm>
            <a:off x="-1524000" y="1524000"/>
            <a:ext cx="6096000" cy="6096000"/>
          </a:xfrm>
          <a:prstGeom prst="ellipse">
            <a:avLst/>
          </a:prstGeom>
          <a:gradFill>
            <a:gsLst>
              <a:gs pos="0">
                <a:srgbClr val="00D4AA">
                  <a:alpha val="5000"/>
                </a:srgbClr>
              </a:gs>
              <a:gs pos="100000">
                <a:srgbClr val="4FC3F7">
                  <a:alpha val="2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1" name="Brand"/>
          <p:cNvSpPr/>
          <p:nvPr/>
        </p:nvSpPr>
        <p:spPr>
          <a:xfrm>
            <a:off x="914400" y="11430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ontserrat"/>
              </a:rPr>
              <a:t>WASEL</a:t>
            </a:r>
          </a:p>
        </p:txBody>
      </p:sp>
      <p:sp>
        <p:nvSpPr>
          <p:cNvPr id="382" name="Tagline"/>
          <p:cNvSpPr/>
          <p:nvPr/>
        </p:nvSpPr>
        <p:spPr>
          <a:xfrm>
            <a:off x="914400" y="213360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en-US" sz="2000" dirty="0">
                <a:solidFill>
                  <a:srgbClr val="00D4AA"/>
                </a:solidFill>
                <a:latin typeface="Inter"/>
              </a:rPr>
              <a:t>The platform that takes $45 flat — not 30% of every fare.</a:t>
            </a:r>
          </a:p>
        </p:txBody>
      </p:sp>
      <p:sp>
        <p:nvSpPr>
          <p:cNvPr id="383" name="Line"/>
          <p:cNvSpPr/>
          <p:nvPr/>
        </p:nvSpPr>
        <p:spPr>
          <a:xfrm>
            <a:off x="4572000" y="3124200"/>
            <a:ext cx="3048000" cy="0"/>
          </a:xfrm>
          <a:prstGeom prst="line">
            <a:avLst/>
          </a:prstGeom>
          <a:ln w="25400">
            <a:gradFill>
              <a:gsLst>
                <a:gs pos="0">
                  <a:srgbClr val="00D4AA"/>
                </a:gs>
                <a:gs pos="100000">
                  <a:srgbClr val="4FC3F7"/>
                </a:gs>
              </a:gsLst>
              <a:lin ang="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384" name="ThankYou"/>
          <p:cNvSpPr/>
          <p:nvPr/>
        </p:nvSpPr>
        <p:spPr>
          <a:xfrm>
            <a:off x="914400" y="342900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/>
              </a:rPr>
              <a:t>Thank You</a:t>
            </a:r>
          </a:p>
        </p:txBody>
      </p:sp>
      <p:sp>
        <p:nvSpPr>
          <p:cNvPr id="385" name="Recap"/>
          <p:cNvSpPr/>
          <p:nvPr/>
        </p:nvSpPr>
        <p:spPr>
          <a:xfrm>
            <a:off x="914400" y="434340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600" dirty="0">
                <a:solidFill>
                  <a:srgbClr val="8899AA"/>
                </a:solidFill>
                <a:latin typeface="Inter"/>
              </a:rPr>
              <a:t>$2.15B Market  |  13.9x LTV/CAC  |  Profitable Year 2  |  $9.2M Year 5 Revenue</a:t>
            </a:r>
          </a:p>
        </p:txBody>
      </p:sp>
    </p:spTree>
    <p:extLst>
      <p:ext uri="{BB962C8B-B14F-4D97-AF65-F5344CB8AC3E}">
        <p14:creationId xmlns:p14="http://schemas.microsoft.com/office/powerpoint/2010/main" val="2220158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asel Investor">
      <a:dk1>
        <a:srgbClr val="FFFFFF"/>
      </a:dk1>
      <a:lt1>
        <a:srgbClr val="0B1120"/>
      </a:lt1>
      <a:dk2>
        <a:srgbClr val="B0BEC5"/>
      </a:dk2>
      <a:lt2>
        <a:srgbClr val="1A2744"/>
      </a:lt2>
      <a:accent1>
        <a:srgbClr val="00D4AA"/>
      </a:accent1>
      <a:accent2>
        <a:srgbClr val="4FC3F7"/>
      </a:accent2>
      <a:accent3>
        <a:srgbClr val="FFB74D"/>
      </a:accent3>
      <a:accent4>
        <a:srgbClr val="E040FB"/>
      </a:accent4>
      <a:accent5>
        <a:srgbClr val="FF5252"/>
      </a:accent5>
      <a:accent6>
        <a:srgbClr val="69F0AE"/>
      </a:accent6>
      <a:hlink>
        <a:srgbClr val="467886"/>
      </a:hlink>
      <a:folHlink>
        <a:srgbClr val="96607D"/>
      </a:folHlink>
    </a:clrScheme>
    <a:fontScheme name="Wasel Fonts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04F02E6-37CC-CE40-9629-0790FC9E8C85}">
  <we:reference id="wa200010001" version="1.0.0.0" store="en-US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44268</TotalTime>
  <Words>1096</Words>
  <Application>Microsoft Macintosh PowerPoint</Application>
  <PresentationFormat>Widescreen</PresentationFormat>
  <Paragraphs>216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Inter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 Al Zubi</dc:creator>
  <cp:lastModifiedBy>Rad Al Zubi</cp:lastModifiedBy>
  <cp:revision>8</cp:revision>
  <dcterms:created xsi:type="dcterms:W3CDTF">2026-01-07T16:15:13Z</dcterms:created>
  <dcterms:modified xsi:type="dcterms:W3CDTF">2026-02-23T22:53:32Z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2026-01-14T13:34:47Z</vt:lpwstr>
  </property>
  <property fmtid="{D5CDD505-2E9C-101B-9397-08002B2CF9AE}" pid="4" name="MSIP_Label_f7606f69-b0ae-4874-be30-7d43a3c7be10_Method">
    <vt:lpwstr>Privileged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8e451fdc-0e42-42dd-84cc-dc154d3dc4fa</vt:lpwstr>
  </property>
  <property fmtid="{D5CDD505-2E9C-101B-9397-08002B2CF9AE}" pid="8" name="MSIP_Label_f7606f69-b0ae-4874-be30-7d43a3c7be10_ContentBits">
    <vt:lpwstr>0</vt:lpwstr>
  </property>
  <property fmtid="{D5CDD505-2E9C-101B-9397-08002B2CF9AE}" pid="9" name="MSIP_Label_f7606f69-b0ae-4874-be30-7d43a3c7be10_Tag">
    <vt:lpwstr>50, 0, 1, 1</vt:lpwstr>
  </property>
</Properties>
</file>