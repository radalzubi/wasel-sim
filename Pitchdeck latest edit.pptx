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2" r:id="rId4"/>
    <p:sldId id="258" r:id="rId5"/>
    <p:sldId id="259" r:id="rId6"/>
    <p:sldId id="260" r:id="rId7"/>
    <p:sldId id="261" r:id="rId8"/>
    <p:sldId id="262" r:id="rId9"/>
    <p:sldId id="263" r:id="rId10"/>
    <p:sldId id="265" r:id="rId11"/>
    <p:sldId id="264" r:id="rId12"/>
    <p:sldId id="281" r:id="rId13"/>
    <p:sldId id="268" r:id="rId14"/>
    <p:sldId id="278" r:id="rId15"/>
    <p:sldId id="266" r:id="rId16"/>
    <p:sldId id="274" r:id="rId17"/>
    <p:sldId id="276" r:id="rId18"/>
    <p:sldId id="277" r:id="rId19"/>
    <p:sldId id="280" r:id="rId20"/>
    <p:sldId id="269" r:id="rId21"/>
    <p:sldId id="275" r:id="rId22"/>
    <p:sldId id="279"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C2C2"/>
    <a:srgbClr val="9191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4"/>
    <p:restoredTop sz="94703"/>
  </p:normalViewPr>
  <p:slideViewPr>
    <p:cSldViewPr snapToGrid="0">
      <p:cViewPr>
        <p:scale>
          <a:sx n="103" d="100"/>
          <a:sy n="103" d="100"/>
        </p:scale>
        <p:origin x="968"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radalzubi/Downloads/Jordan_PitchReady_Financial_Model_CAP27000_WithQuarterlyKP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radalzubi/Downloads/Jordan_PitchReady_Financial_Model_CAP27000_WithQuarterlyKPI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Income Graph USD</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'P&amp;L'!$O$13</c:f>
              <c:strCache>
                <c:ptCount val="1"/>
                <c:pt idx="0">
                  <c:v>Net Income (USD)</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'P&amp;L'!$N$14:$N$18</c:f>
              <c:strCache>
                <c:ptCount val="5"/>
                <c:pt idx="0">
                  <c:v>Y1</c:v>
                </c:pt>
                <c:pt idx="1">
                  <c:v>Y2</c:v>
                </c:pt>
                <c:pt idx="2">
                  <c:v>Y3</c:v>
                </c:pt>
                <c:pt idx="3">
                  <c:v>Y4</c:v>
                </c:pt>
                <c:pt idx="4">
                  <c:v>Y5</c:v>
                </c:pt>
              </c:strCache>
            </c:strRef>
          </c:cat>
          <c:val>
            <c:numRef>
              <c:f>'P&amp;L'!$O$14:$O$18</c:f>
              <c:numCache>
                <c:formatCode>General</c:formatCode>
                <c:ptCount val="5"/>
                <c:pt idx="2" formatCode="#,##0.00">
                  <c:v>480640.85245200008</c:v>
                </c:pt>
                <c:pt idx="3" formatCode="#,##0.00">
                  <c:v>1909405.1830427989</c:v>
                </c:pt>
                <c:pt idx="4" formatCode="#,##0.00">
                  <c:v>3122845.5794207999</c:v>
                </c:pt>
              </c:numCache>
            </c:numRef>
          </c:val>
          <c:extLst>
            <c:ext xmlns:c16="http://schemas.microsoft.com/office/drawing/2014/chart" uri="{C3380CC4-5D6E-409C-BE32-E72D297353CC}">
              <c16:uniqueId val="{00000000-E2C2-2B4C-839B-BECA9B4FE902}"/>
            </c:ext>
          </c:extLst>
        </c:ser>
        <c:ser>
          <c:idx val="1"/>
          <c:order val="1"/>
          <c:tx>
            <c:strRef>
              <c:f>'P&amp;L'!$P$13</c:f>
              <c:strCache>
                <c:ptCount val="1"/>
                <c:pt idx="0">
                  <c:v>Net income (USD)</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'P&amp;L'!$N$14:$N$18</c:f>
              <c:strCache>
                <c:ptCount val="5"/>
                <c:pt idx="0">
                  <c:v>Y1</c:v>
                </c:pt>
                <c:pt idx="1">
                  <c:v>Y2</c:v>
                </c:pt>
                <c:pt idx="2">
                  <c:v>Y3</c:v>
                </c:pt>
                <c:pt idx="3">
                  <c:v>Y4</c:v>
                </c:pt>
                <c:pt idx="4">
                  <c:v>Y5</c:v>
                </c:pt>
              </c:strCache>
            </c:strRef>
          </c:cat>
          <c:val>
            <c:numRef>
              <c:f>'P&amp;L'!$P$14:$P$18</c:f>
              <c:numCache>
                <c:formatCode>#,##0.00</c:formatCode>
                <c:ptCount val="5"/>
                <c:pt idx="0">
                  <c:v>-806802.01522799989</c:v>
                </c:pt>
                <c:pt idx="1">
                  <c:v>-787111.34302050003</c:v>
                </c:pt>
              </c:numCache>
            </c:numRef>
          </c:val>
          <c:extLst>
            <c:ext xmlns:c16="http://schemas.microsoft.com/office/drawing/2014/chart" uri="{C3380CC4-5D6E-409C-BE32-E72D297353CC}">
              <c16:uniqueId val="{00000001-E2C2-2B4C-839B-BECA9B4FE902}"/>
            </c:ext>
          </c:extLst>
        </c:ser>
        <c:dLbls>
          <c:dLblPos val="outEnd"/>
          <c:showLegendKey val="0"/>
          <c:showVal val="1"/>
          <c:showCatName val="0"/>
          <c:showSerName val="0"/>
          <c:showPercent val="0"/>
          <c:showBubbleSize val="0"/>
        </c:dLbls>
        <c:gapWidth val="100"/>
        <c:overlap val="-24"/>
        <c:axId val="473931472"/>
        <c:axId val="480585488"/>
      </c:barChart>
      <c:catAx>
        <c:axId val="473931472"/>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2"/>
                    </a:solidFill>
                    <a:latin typeface="+mn-lt"/>
                    <a:ea typeface="+mn-ea"/>
                    <a:cs typeface="+mn-cs"/>
                  </a:defRPr>
                </a:pPr>
                <a:r>
                  <a:rPr lang="en-US" sz="1400"/>
                  <a:t>FISCAL YEAR</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585488"/>
        <c:crosses val="autoZero"/>
        <c:auto val="1"/>
        <c:lblAlgn val="ctr"/>
        <c:lblOffset val="100"/>
        <c:noMultiLvlLbl val="0"/>
      </c:catAx>
      <c:valAx>
        <c:axId val="480585488"/>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2"/>
                    </a:solidFill>
                    <a:latin typeface="+mn-lt"/>
                    <a:ea typeface="+mn-ea"/>
                    <a:cs typeface="+mn-cs"/>
                  </a:defRPr>
                </a:pPr>
                <a:r>
                  <a:rPr lang="en-US" sz="1400"/>
                  <a:t>INCOME USD</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2"/>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4739314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t>Revenue -</a:t>
            </a:r>
            <a:r>
              <a:rPr lang="en-US" sz="1800" b="1" baseline="0" dirty="0"/>
              <a:t> </a:t>
            </a:r>
            <a:r>
              <a:rPr lang="en-US" sz="1800" b="1" dirty="0"/>
              <a:t>OPEX VS Drivers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Chart_Data!$C$20</c:f>
              <c:strCache>
                <c:ptCount val="1"/>
                <c:pt idx="0">
                  <c:v>Subscription Revenue (USD)</c:v>
                </c:pt>
              </c:strCache>
            </c:strRef>
          </c:tx>
          <c:spPr>
            <a:ln w="28575" cap="rnd">
              <a:noFill/>
              <a:round/>
            </a:ln>
            <a:effectLst/>
          </c:spPr>
          <c:marker>
            <c:symbol val="circle"/>
            <c:size val="5"/>
            <c:spPr>
              <a:solidFill>
                <a:schemeClr val="accent1"/>
              </a:solidFill>
              <a:ln w="9525">
                <a:solidFill>
                  <a:schemeClr val="accent1"/>
                </a:solidFill>
              </a:ln>
              <a:effectLst/>
            </c:spPr>
          </c:marker>
          <c:trendline>
            <c:spPr>
              <a:ln w="25400" cap="rnd" cmpd="sng">
                <a:solidFill>
                  <a:schemeClr val="accent1"/>
                </a:solidFill>
                <a:prstDash val="solid"/>
              </a:ln>
              <a:effectLst/>
            </c:spPr>
            <c:trendlineType val="poly"/>
            <c:order val="2"/>
            <c:dispRSqr val="0"/>
            <c:dispEq val="0"/>
          </c:trendline>
          <c:xVal>
            <c:numRef>
              <c:f>Chart_Data!$B$21:$B$25</c:f>
              <c:numCache>
                <c:formatCode>#,##0</c:formatCode>
                <c:ptCount val="5"/>
                <c:pt idx="0">
                  <c:v>2250</c:v>
                </c:pt>
                <c:pt idx="1">
                  <c:v>8250</c:v>
                </c:pt>
                <c:pt idx="2">
                  <c:v>15500</c:v>
                </c:pt>
                <c:pt idx="3">
                  <c:v>21750</c:v>
                </c:pt>
                <c:pt idx="4">
                  <c:v>25750</c:v>
                </c:pt>
              </c:numCache>
            </c:numRef>
          </c:xVal>
          <c:yVal>
            <c:numRef>
              <c:f>Chart_Data!$C$21:$C$25</c:f>
              <c:numCache>
                <c:formatCode>0.00</c:formatCode>
                <c:ptCount val="5"/>
                <c:pt idx="0">
                  <c:v>1294380.0380699998</c:v>
                </c:pt>
                <c:pt idx="1">
                  <c:v>4843773.1395899998</c:v>
                </c:pt>
                <c:pt idx="2">
                  <c:v>9284004.2622600012</c:v>
                </c:pt>
                <c:pt idx="3">
                  <c:v>13285161.368009999</c:v>
                </c:pt>
                <c:pt idx="4">
                  <c:v>16033392.435689999</c:v>
                </c:pt>
              </c:numCache>
            </c:numRef>
          </c:yVal>
          <c:smooth val="0"/>
          <c:extLst>
            <c:ext xmlns:c16="http://schemas.microsoft.com/office/drawing/2014/chart" uri="{C3380CC4-5D6E-409C-BE32-E72D297353CC}">
              <c16:uniqueId val="{00000001-8BF4-974D-8063-C9EE73538AC7}"/>
            </c:ext>
          </c:extLst>
        </c:ser>
        <c:ser>
          <c:idx val="1"/>
          <c:order val="1"/>
          <c:tx>
            <c:strRef>
              <c:f>Chart_Data!$D$20</c:f>
              <c:strCache>
                <c:ptCount val="1"/>
                <c:pt idx="0">
                  <c:v>Opex (USD)</c:v>
                </c:pt>
              </c:strCache>
            </c:strRef>
          </c:tx>
          <c:spPr>
            <a:ln w="28575" cap="rnd">
              <a:noFill/>
              <a:round/>
            </a:ln>
            <a:effectLst/>
          </c:spPr>
          <c:marker>
            <c:symbol val="circle"/>
            <c:size val="5"/>
            <c:spPr>
              <a:solidFill>
                <a:schemeClr val="accent2"/>
              </a:solidFill>
              <a:ln w="9525">
                <a:solidFill>
                  <a:schemeClr val="accent2"/>
                </a:solidFill>
              </a:ln>
              <a:effectLst/>
            </c:spPr>
          </c:marker>
          <c:trendline>
            <c:spPr>
              <a:ln w="25400" cap="rnd">
                <a:solidFill>
                  <a:schemeClr val="accent2"/>
                </a:solidFill>
                <a:prstDash val="solid"/>
              </a:ln>
              <a:effectLst/>
            </c:spPr>
            <c:trendlineType val="poly"/>
            <c:order val="2"/>
            <c:forward val="2"/>
            <c:dispRSqr val="0"/>
            <c:dispEq val="0"/>
          </c:trendline>
          <c:xVal>
            <c:numRef>
              <c:f>Chart_Data!$B$21:$B$25</c:f>
              <c:numCache>
                <c:formatCode>#,##0</c:formatCode>
                <c:ptCount val="5"/>
                <c:pt idx="0">
                  <c:v>2250</c:v>
                </c:pt>
                <c:pt idx="1">
                  <c:v>8250</c:v>
                </c:pt>
                <c:pt idx="2">
                  <c:v>15500</c:v>
                </c:pt>
                <c:pt idx="3">
                  <c:v>21750</c:v>
                </c:pt>
                <c:pt idx="4">
                  <c:v>25750</c:v>
                </c:pt>
              </c:numCache>
            </c:numRef>
          </c:xVal>
          <c:yVal>
            <c:numRef>
              <c:f>Chart_Data!$D$21:$D$25</c:f>
              <c:numCache>
                <c:formatCode>0.00</c:formatCode>
                <c:ptCount val="5"/>
                <c:pt idx="0">
                  <c:v>1812132.053298</c:v>
                </c:pt>
                <c:pt idx="1">
                  <c:v>4601584.4826104995</c:v>
                </c:pt>
                <c:pt idx="2">
                  <c:v>6963003.1966950018</c:v>
                </c:pt>
                <c:pt idx="3">
                  <c:v>8635354.8892065007</c:v>
                </c:pt>
                <c:pt idx="4">
                  <c:v>9620035.461414</c:v>
                </c:pt>
              </c:numCache>
            </c:numRef>
          </c:yVal>
          <c:smooth val="0"/>
          <c:extLst>
            <c:ext xmlns:c16="http://schemas.microsoft.com/office/drawing/2014/chart" uri="{C3380CC4-5D6E-409C-BE32-E72D297353CC}">
              <c16:uniqueId val="{00000003-8BF4-974D-8063-C9EE73538AC7}"/>
            </c:ext>
          </c:extLst>
        </c:ser>
        <c:dLbls>
          <c:showLegendKey val="0"/>
          <c:showVal val="0"/>
          <c:showCatName val="0"/>
          <c:showSerName val="0"/>
          <c:showPercent val="0"/>
          <c:showBubbleSize val="0"/>
        </c:dLbls>
        <c:axId val="410758368"/>
        <c:axId val="663372784"/>
      </c:scatterChart>
      <c:valAx>
        <c:axId val="41075836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663372784"/>
        <c:crosses val="autoZero"/>
        <c:crossBetween val="midCat"/>
      </c:valAx>
      <c:valAx>
        <c:axId val="6633727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0758368"/>
        <c:crosses val="autoZero"/>
        <c:crossBetween val="midCat"/>
      </c:valAx>
      <c:spPr>
        <a:noFill/>
        <a:ln>
          <a:noFill/>
        </a:ln>
        <a:effectLst/>
      </c:spPr>
    </c:plotArea>
    <c:legend>
      <c:legendPos val="b"/>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8BF4B-111D-0696-EB5D-4F5DCA6C94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67A0BC-0E66-BD95-5034-15D61A80CF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2056CD-5E13-22F0-0C5B-4268C21AD447}"/>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5" name="Footer Placeholder 4">
            <a:extLst>
              <a:ext uri="{FF2B5EF4-FFF2-40B4-BE49-F238E27FC236}">
                <a16:creationId xmlns:a16="http://schemas.microsoft.com/office/drawing/2014/main" id="{F32CCB01-3D7A-9835-AB16-0A9CE723F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191E0-EAA0-F0D6-FF9C-4A93A9567D42}"/>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1806379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C1A95-14DB-E5F8-EE46-85B0BDA91F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CC76D0-2BE3-E984-9324-01C6B59B43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CB2C61-D960-8EDC-AF80-2BE9280AF3D6}"/>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5" name="Footer Placeholder 4">
            <a:extLst>
              <a:ext uri="{FF2B5EF4-FFF2-40B4-BE49-F238E27FC236}">
                <a16:creationId xmlns:a16="http://schemas.microsoft.com/office/drawing/2014/main" id="{52B6FF08-B311-5E26-B9A3-C900A9218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F2074B-376C-3AEA-E33B-74701742C3B4}"/>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415432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69C8-32FA-0C90-7268-59E913E165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998942-6465-363F-51D0-54089AEE11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C15668-6657-D486-8BA9-CA5E908DE0BC}"/>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5" name="Footer Placeholder 4">
            <a:extLst>
              <a:ext uri="{FF2B5EF4-FFF2-40B4-BE49-F238E27FC236}">
                <a16:creationId xmlns:a16="http://schemas.microsoft.com/office/drawing/2014/main" id="{E8726421-F702-EDF1-6FA6-7C4E862A59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8DE345-1192-E7B9-DB75-9A8708289739}"/>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345196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8EB9-F529-F208-EFC9-5157B7C97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553BA9-C62F-E773-78F8-A13744E73A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25A812-40B8-BEC8-73DC-AFF24618BB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B2745B-7E6B-C47B-E851-F7382E22FB0F}"/>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6" name="Footer Placeholder 5">
            <a:extLst>
              <a:ext uri="{FF2B5EF4-FFF2-40B4-BE49-F238E27FC236}">
                <a16:creationId xmlns:a16="http://schemas.microsoft.com/office/drawing/2014/main" id="{7ACC2F3E-E583-4E8A-DA21-FD817636C5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877D2B-2CEB-C422-A642-3E71D3200EEA}"/>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274191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4ED49-AECC-1C2A-262D-3B51AA1889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FB15CC-CABA-5517-E267-1A217FAA4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120D24-FE75-136D-946F-528C35BB9A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C83C8E-72BE-782A-C5A8-0884619938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E83DBF-E4FF-472C-36F9-06CF6527A7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B0C3B4-2B0F-8FAC-D87C-C914649CB023}"/>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8" name="Footer Placeholder 7">
            <a:extLst>
              <a:ext uri="{FF2B5EF4-FFF2-40B4-BE49-F238E27FC236}">
                <a16:creationId xmlns:a16="http://schemas.microsoft.com/office/drawing/2014/main" id="{E36CF573-2020-9F9C-B975-1E3163B02D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D639DE-5DDE-E204-FD8B-8290BDD89F40}"/>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1301712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5AD0B-04CC-2DED-253F-0DBE37E171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20E204-4C5C-FC01-6E87-11238E45E940}"/>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4" name="Footer Placeholder 3">
            <a:extLst>
              <a:ext uri="{FF2B5EF4-FFF2-40B4-BE49-F238E27FC236}">
                <a16:creationId xmlns:a16="http://schemas.microsoft.com/office/drawing/2014/main" id="{8FDF8CF1-61EA-C389-7BD0-1A75998BF8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A052A4-86D4-A3A4-1DA8-07C47612F74F}"/>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1623062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2ADF1F-F9E8-7E91-1D78-E1109B0B2F67}"/>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3" name="Footer Placeholder 2">
            <a:extLst>
              <a:ext uri="{FF2B5EF4-FFF2-40B4-BE49-F238E27FC236}">
                <a16:creationId xmlns:a16="http://schemas.microsoft.com/office/drawing/2014/main" id="{D079F924-74CC-7CC8-52D3-E9C765B53E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F77CBB-288C-CEA3-A60B-1C5A6D64D88C}"/>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354278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923F-EFE9-F123-CD78-F1D251DD27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EE6798-5DA2-A22A-B8D8-9DAFAFB7BB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276A7F-A922-A276-85EE-24DD074DEA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3C6477-651B-88BC-135B-E958E9AF520B}"/>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6" name="Footer Placeholder 5">
            <a:extLst>
              <a:ext uri="{FF2B5EF4-FFF2-40B4-BE49-F238E27FC236}">
                <a16:creationId xmlns:a16="http://schemas.microsoft.com/office/drawing/2014/main" id="{E3E31E87-631D-F4D8-B4C8-42E4B4360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E41E8A-E602-AC90-18D3-79CC6C2AE65C}"/>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3012476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12AF1-2398-CD70-24FD-BFF8659861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1396CB-10C2-74BE-B822-3FF0DCA189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DC281D-F77F-1572-98C7-BA6CE2D2F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6D7585-8BEE-9273-FFFE-F91EC5A78F38}"/>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6" name="Footer Placeholder 5">
            <a:extLst>
              <a:ext uri="{FF2B5EF4-FFF2-40B4-BE49-F238E27FC236}">
                <a16:creationId xmlns:a16="http://schemas.microsoft.com/office/drawing/2014/main" id="{4396A5D7-FF00-C268-DC74-0D5CA25F4F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9137FC-B32C-D00A-CE7A-6599CD03AC43}"/>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2324477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3CE1-379C-153B-45B8-9D12B5451A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2CA0CA-4AFE-B6B8-A4D5-A6DF8F833C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3000DD-9514-15CF-3E0D-DC58BC22A463}"/>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5" name="Footer Placeholder 4">
            <a:extLst>
              <a:ext uri="{FF2B5EF4-FFF2-40B4-BE49-F238E27FC236}">
                <a16:creationId xmlns:a16="http://schemas.microsoft.com/office/drawing/2014/main" id="{EDDDB983-A267-2C2F-B241-C985F61164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FA9213-4EC5-197F-E8AB-6A0100BCF727}"/>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2954632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756605-4E54-CFEF-91B8-7CE44A26C5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A5BC99-9CEE-46AF-EDE4-E06B32B62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CE6B1-55C2-A843-4354-37A95929D174}"/>
              </a:ext>
            </a:extLst>
          </p:cNvPr>
          <p:cNvSpPr>
            <a:spLocks noGrp="1"/>
          </p:cNvSpPr>
          <p:nvPr>
            <p:ph type="dt" sz="half" idx="10"/>
          </p:nvPr>
        </p:nvSpPr>
        <p:spPr/>
        <p:txBody>
          <a:bodyPr/>
          <a:lstStyle/>
          <a:p>
            <a:fld id="{37212579-8222-8D4B-9F89-AE443FAA8C3A}" type="datetimeFigureOut">
              <a:rPr lang="en-US" smtClean="0"/>
              <a:t>1/19/26</a:t>
            </a:fld>
            <a:endParaRPr lang="en-US"/>
          </a:p>
        </p:txBody>
      </p:sp>
      <p:sp>
        <p:nvSpPr>
          <p:cNvPr id="5" name="Footer Placeholder 4">
            <a:extLst>
              <a:ext uri="{FF2B5EF4-FFF2-40B4-BE49-F238E27FC236}">
                <a16:creationId xmlns:a16="http://schemas.microsoft.com/office/drawing/2014/main" id="{65ED01BF-3837-A456-DB01-2D6DDA239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3151D-FCE7-A191-1309-7797C5F7FA45}"/>
              </a:ext>
            </a:extLst>
          </p:cNvPr>
          <p:cNvSpPr>
            <a:spLocks noGrp="1"/>
          </p:cNvSpPr>
          <p:nvPr>
            <p:ph type="sldNum" sz="quarter" idx="12"/>
          </p:nvPr>
        </p:nvSpPr>
        <p:spPr/>
        <p:txBody>
          <a:bodyPr/>
          <a:lstStyle/>
          <a:p>
            <a:fld id="{0FCD2767-2C28-F64C-8DC5-720838DEEDD5}" type="slidenum">
              <a:rPr lang="en-US" smtClean="0"/>
              <a:t>‹#›</a:t>
            </a:fld>
            <a:endParaRPr lang="en-US"/>
          </a:p>
        </p:txBody>
      </p:sp>
    </p:spTree>
    <p:extLst>
      <p:ext uri="{BB962C8B-B14F-4D97-AF65-F5344CB8AC3E}">
        <p14:creationId xmlns:p14="http://schemas.microsoft.com/office/powerpoint/2010/main" val="2153713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D7C62D-BC27-DDFB-602A-902ECB3AD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88AD3B-EF68-E53C-156B-397DA3A901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7C2ACF-44E6-8A2C-866C-773BA0D68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212579-8222-8D4B-9F89-AE443FAA8C3A}" type="datetimeFigureOut">
              <a:rPr lang="en-US" smtClean="0"/>
              <a:t>1/19/26</a:t>
            </a:fld>
            <a:endParaRPr lang="en-US"/>
          </a:p>
        </p:txBody>
      </p:sp>
      <p:sp>
        <p:nvSpPr>
          <p:cNvPr id="5" name="Footer Placeholder 4">
            <a:extLst>
              <a:ext uri="{FF2B5EF4-FFF2-40B4-BE49-F238E27FC236}">
                <a16:creationId xmlns:a16="http://schemas.microsoft.com/office/drawing/2014/main" id="{B11830F3-64D8-DC70-898F-CEA30AD671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E6BC44-3D17-E1D9-4C10-A079CD4654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CD2767-2C28-F64C-8DC5-720838DEEDD5}" type="slidenum">
              <a:rPr lang="en-US" smtClean="0"/>
              <a:t>‹#›</a:t>
            </a:fld>
            <a:endParaRPr lang="en-US"/>
          </a:p>
        </p:txBody>
      </p:sp>
    </p:spTree>
    <p:extLst>
      <p:ext uri="{BB962C8B-B14F-4D97-AF65-F5344CB8AC3E}">
        <p14:creationId xmlns:p14="http://schemas.microsoft.com/office/powerpoint/2010/main" val="1638496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jordantimes.com/news/local/government-blocks-24-unlicensed-ride-hailing-applications" TargetMode="External"/><Relationship Id="rId2" Type="http://schemas.openxmlformats.org/officeDocument/2006/relationships/hyperlink" Target="https://husna.fm/%D9%85%D8%AD%D9%84%D9%8A/%D8%B9%D8%AF%D8%AF-%D8%B3%D8%A7%D8%A6%D9%82%D9%8A-%D8%AA%D8%B7%D8%A8%D9%8A%D9%82%D8%A7%D8%AA-%D8%A7%D9%84%D9%86%D9%82%D9%84-%D8%A7%D9%84%D8%A3%D8%B1%D8%AF%D9%86"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https://www.jordannews.jo/Section-109/News/Transport-Authority-60-000-Working-Through-Apps-in-Jordan-45083"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driveempower.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www.dreamstime.com/black-white-icon-driver-behind-wheel-simple-silhouette-cap-uniform-hands-steering-image378577106"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mordorintelligence.com/industry-reports/qatar-taxi-market"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0A424-C8E8-A149-90FF-3E1548D181C7}"/>
              </a:ext>
            </a:extLst>
          </p:cNvPr>
          <p:cNvSpPr>
            <a:spLocks noGrp="1"/>
          </p:cNvSpPr>
          <p:nvPr>
            <p:ph type="ctrTitle"/>
          </p:nvPr>
        </p:nvSpPr>
        <p:spPr/>
        <p:txBody>
          <a:bodyPr/>
          <a:lstStyle/>
          <a:p>
            <a:r>
              <a:rPr lang="en-US" dirty="0"/>
              <a:t>Wasel</a:t>
            </a:r>
          </a:p>
        </p:txBody>
      </p:sp>
      <p:sp>
        <p:nvSpPr>
          <p:cNvPr id="3" name="Subtitle 2">
            <a:extLst>
              <a:ext uri="{FF2B5EF4-FFF2-40B4-BE49-F238E27FC236}">
                <a16:creationId xmlns:a16="http://schemas.microsoft.com/office/drawing/2014/main" id="{D56F2E26-A52A-4E81-4402-37EBBD0252E1}"/>
              </a:ext>
            </a:extLst>
          </p:cNvPr>
          <p:cNvSpPr>
            <a:spLocks noGrp="1"/>
          </p:cNvSpPr>
          <p:nvPr>
            <p:ph type="subTitle" idx="1"/>
          </p:nvPr>
        </p:nvSpPr>
        <p:spPr>
          <a:xfrm>
            <a:off x="1524000" y="3602038"/>
            <a:ext cx="9144000" cy="1163002"/>
          </a:xfrm>
        </p:spPr>
        <p:txBody>
          <a:bodyPr/>
          <a:lstStyle/>
          <a:p>
            <a:r>
              <a:rPr lang="en-US" dirty="0"/>
              <a:t>Redefining ride-hailing</a:t>
            </a:r>
          </a:p>
        </p:txBody>
      </p:sp>
    </p:spTree>
    <p:extLst>
      <p:ext uri="{BB962C8B-B14F-4D97-AF65-F5344CB8AC3E}">
        <p14:creationId xmlns:p14="http://schemas.microsoft.com/office/powerpoint/2010/main" val="2494793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421D8-D8EF-732B-6730-3CECBBF5802F}"/>
              </a:ext>
            </a:extLst>
          </p:cNvPr>
          <p:cNvSpPr>
            <a:spLocks noGrp="1"/>
          </p:cNvSpPr>
          <p:nvPr>
            <p:ph type="title"/>
          </p:nvPr>
        </p:nvSpPr>
        <p:spPr>
          <a:xfrm>
            <a:off x="838200" y="161925"/>
            <a:ext cx="10515600" cy="1325563"/>
          </a:xfrm>
        </p:spPr>
        <p:txBody>
          <a:bodyPr/>
          <a:lstStyle/>
          <a:p>
            <a:r>
              <a:rPr lang="en-US" b="1" dirty="0"/>
              <a:t>OPERATING ENVIRONMENT</a:t>
            </a:r>
          </a:p>
        </p:txBody>
      </p:sp>
      <p:sp>
        <p:nvSpPr>
          <p:cNvPr id="3" name="Content Placeholder 2">
            <a:extLst>
              <a:ext uri="{FF2B5EF4-FFF2-40B4-BE49-F238E27FC236}">
                <a16:creationId xmlns:a16="http://schemas.microsoft.com/office/drawing/2014/main" id="{3B7DE7CE-A4CA-F327-1191-4D8338A3D559}"/>
              </a:ext>
            </a:extLst>
          </p:cNvPr>
          <p:cNvSpPr>
            <a:spLocks noGrp="1"/>
          </p:cNvSpPr>
          <p:nvPr>
            <p:ph idx="1"/>
          </p:nvPr>
        </p:nvSpPr>
        <p:spPr>
          <a:xfrm>
            <a:off x="3063240" y="2063481"/>
            <a:ext cx="8956040" cy="968375"/>
          </a:xfrm>
        </p:spPr>
        <p:txBody>
          <a:bodyPr>
            <a:normAutofit lnSpcReduction="10000"/>
          </a:bodyPr>
          <a:lstStyle/>
          <a:p>
            <a:pPr marL="0" indent="0">
              <a:buNone/>
            </a:pPr>
            <a:r>
              <a:rPr lang="en-US" b="1" dirty="0"/>
              <a:t>people</a:t>
            </a:r>
            <a:r>
              <a:rPr lang="en-US" dirty="0"/>
              <a:t> work through ride-hailing apps in Jordan </a:t>
            </a:r>
          </a:p>
          <a:p>
            <a:pPr marL="0" indent="0">
              <a:buNone/>
            </a:pPr>
            <a:r>
              <a:rPr lang="en-US" dirty="0"/>
              <a:t>(licensed + unlicensed).</a:t>
            </a:r>
          </a:p>
          <a:p>
            <a:pPr marL="0" indent="0">
              <a:buNone/>
            </a:pPr>
            <a:endParaRPr lang="en-US" dirty="0"/>
          </a:p>
        </p:txBody>
      </p:sp>
      <p:sp>
        <p:nvSpPr>
          <p:cNvPr id="11" name="TextBox 10">
            <a:extLst>
              <a:ext uri="{FF2B5EF4-FFF2-40B4-BE49-F238E27FC236}">
                <a16:creationId xmlns:a16="http://schemas.microsoft.com/office/drawing/2014/main" id="{3E9007A8-4AA8-009F-156F-2D9480BB3016}"/>
              </a:ext>
            </a:extLst>
          </p:cNvPr>
          <p:cNvSpPr txBox="1"/>
          <p:nvPr/>
        </p:nvSpPr>
        <p:spPr>
          <a:xfrm>
            <a:off x="3200400" y="4283518"/>
            <a:ext cx="6670535" cy="954107"/>
          </a:xfrm>
          <a:prstGeom prst="rect">
            <a:avLst/>
          </a:prstGeom>
          <a:noFill/>
        </p:spPr>
        <p:txBody>
          <a:bodyPr wrap="square">
            <a:spAutoFit/>
          </a:bodyPr>
          <a:lstStyle/>
          <a:p>
            <a:r>
              <a:rPr lang="en-US" sz="2800"/>
              <a:t>drivers are estimated to be </a:t>
            </a:r>
            <a:r>
              <a:rPr lang="en-US" sz="2800" b="1"/>
              <a:t>operating without full licensing</a:t>
            </a:r>
            <a:r>
              <a:rPr lang="en-US" sz="2800"/>
              <a:t>.</a:t>
            </a:r>
          </a:p>
        </p:txBody>
      </p:sp>
      <p:sp>
        <p:nvSpPr>
          <p:cNvPr id="10" name="TextBox 9">
            <a:extLst>
              <a:ext uri="{FF2B5EF4-FFF2-40B4-BE49-F238E27FC236}">
                <a16:creationId xmlns:a16="http://schemas.microsoft.com/office/drawing/2014/main" id="{D6526678-3F68-F1D3-8710-06A2C8F0B9F0}"/>
              </a:ext>
            </a:extLst>
          </p:cNvPr>
          <p:cNvSpPr txBox="1"/>
          <p:nvPr/>
        </p:nvSpPr>
        <p:spPr>
          <a:xfrm>
            <a:off x="838200" y="1954340"/>
            <a:ext cx="2331720" cy="923330"/>
          </a:xfrm>
          <a:prstGeom prst="rect">
            <a:avLst/>
          </a:prstGeom>
          <a:noFill/>
        </p:spPr>
        <p:txBody>
          <a:bodyPr wrap="square" rtlCol="0">
            <a:spAutoFit/>
          </a:bodyPr>
          <a:lstStyle/>
          <a:p>
            <a:pPr algn="r"/>
            <a:r>
              <a:rPr lang="en-US" sz="5400" dirty="0"/>
              <a:t>60,000</a:t>
            </a:r>
          </a:p>
        </p:txBody>
      </p:sp>
      <p:sp>
        <p:nvSpPr>
          <p:cNvPr id="12" name="TextBox 11">
            <a:extLst>
              <a:ext uri="{FF2B5EF4-FFF2-40B4-BE49-F238E27FC236}">
                <a16:creationId xmlns:a16="http://schemas.microsoft.com/office/drawing/2014/main" id="{7CEC20E2-A0C2-0E11-FCAF-DB34BE8D7538}"/>
              </a:ext>
            </a:extLst>
          </p:cNvPr>
          <p:cNvSpPr txBox="1"/>
          <p:nvPr/>
        </p:nvSpPr>
        <p:spPr>
          <a:xfrm>
            <a:off x="868680" y="4237054"/>
            <a:ext cx="2331720" cy="923330"/>
          </a:xfrm>
          <a:prstGeom prst="rect">
            <a:avLst/>
          </a:prstGeom>
          <a:noFill/>
        </p:spPr>
        <p:txBody>
          <a:bodyPr wrap="square" rtlCol="0">
            <a:spAutoFit/>
          </a:bodyPr>
          <a:lstStyle/>
          <a:p>
            <a:pPr algn="r"/>
            <a:r>
              <a:rPr lang="en-US" sz="5400"/>
              <a:t>45,000</a:t>
            </a:r>
          </a:p>
        </p:txBody>
      </p:sp>
    </p:spTree>
    <p:extLst>
      <p:ext uri="{BB962C8B-B14F-4D97-AF65-F5344CB8AC3E}">
        <p14:creationId xmlns:p14="http://schemas.microsoft.com/office/powerpoint/2010/main" val="3619729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509D0-6709-AFC0-FF5E-CEED2DD9A46A}"/>
              </a:ext>
            </a:extLst>
          </p:cNvPr>
          <p:cNvSpPr>
            <a:spLocks noGrp="1"/>
          </p:cNvSpPr>
          <p:nvPr>
            <p:ph type="title"/>
          </p:nvPr>
        </p:nvSpPr>
        <p:spPr/>
        <p:txBody>
          <a:bodyPr/>
          <a:lstStyle/>
          <a:p>
            <a:r>
              <a:rPr lang="en-US" b="1" dirty="0"/>
              <a:t>OPERATING ENVIRONMENT</a:t>
            </a:r>
          </a:p>
        </p:txBody>
      </p:sp>
      <p:sp>
        <p:nvSpPr>
          <p:cNvPr id="3" name="Content Placeholder 2">
            <a:extLst>
              <a:ext uri="{FF2B5EF4-FFF2-40B4-BE49-F238E27FC236}">
                <a16:creationId xmlns:a16="http://schemas.microsoft.com/office/drawing/2014/main" id="{6C1DF312-C10C-3992-A53A-C84718B573D6}"/>
              </a:ext>
            </a:extLst>
          </p:cNvPr>
          <p:cNvSpPr>
            <a:spLocks noGrp="1"/>
          </p:cNvSpPr>
          <p:nvPr>
            <p:ph idx="1"/>
          </p:nvPr>
        </p:nvSpPr>
        <p:spPr>
          <a:xfrm>
            <a:off x="896620" y="2924492"/>
            <a:ext cx="10515600" cy="1667828"/>
          </a:xfrm>
        </p:spPr>
        <p:txBody>
          <a:bodyPr>
            <a:normAutofit/>
          </a:bodyPr>
          <a:lstStyle/>
          <a:p>
            <a:pPr marL="0" indent="0">
              <a:buNone/>
            </a:pPr>
            <a:r>
              <a:rPr lang="en-US" dirty="0"/>
              <a:t>A recent change in government policy took place allowing for new ride hailing companies to enter to reduce the high commission rates, revoking the new app ban to incentivize foreign and domestic investment in the transportation sector to promote competition.</a:t>
            </a:r>
          </a:p>
        </p:txBody>
      </p:sp>
      <p:sp>
        <p:nvSpPr>
          <p:cNvPr id="4" name="Content Placeholder 2">
            <a:extLst>
              <a:ext uri="{FF2B5EF4-FFF2-40B4-BE49-F238E27FC236}">
                <a16:creationId xmlns:a16="http://schemas.microsoft.com/office/drawing/2014/main" id="{799D704B-3EBE-BA07-CA50-7AB82F4A799F}"/>
              </a:ext>
            </a:extLst>
          </p:cNvPr>
          <p:cNvSpPr txBox="1">
            <a:spLocks/>
          </p:cNvSpPr>
          <p:nvPr/>
        </p:nvSpPr>
        <p:spPr>
          <a:xfrm>
            <a:off x="9987280" y="5875675"/>
            <a:ext cx="2849880" cy="5003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hlinkClick r:id="rId2"/>
              </a:rPr>
              <a:t>Husna fm</a:t>
            </a:r>
            <a:endParaRPr lang="en-US" sz="1400" dirty="0"/>
          </a:p>
        </p:txBody>
      </p:sp>
      <p:sp>
        <p:nvSpPr>
          <p:cNvPr id="7" name="Content Placeholder 2">
            <a:extLst>
              <a:ext uri="{FF2B5EF4-FFF2-40B4-BE49-F238E27FC236}">
                <a16:creationId xmlns:a16="http://schemas.microsoft.com/office/drawing/2014/main" id="{504A3011-E547-C90D-ACF6-5F82D51606E5}"/>
              </a:ext>
            </a:extLst>
          </p:cNvPr>
          <p:cNvSpPr txBox="1">
            <a:spLocks/>
          </p:cNvSpPr>
          <p:nvPr/>
        </p:nvSpPr>
        <p:spPr>
          <a:xfrm>
            <a:off x="838200" y="1748471"/>
            <a:ext cx="10515600" cy="10090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 2024, the government blocked 24 unlicensed ride-hailing apps and have committed to strengthening regulations.</a:t>
            </a:r>
          </a:p>
        </p:txBody>
      </p:sp>
      <p:sp>
        <p:nvSpPr>
          <p:cNvPr id="8" name="Content Placeholder 2">
            <a:extLst>
              <a:ext uri="{FF2B5EF4-FFF2-40B4-BE49-F238E27FC236}">
                <a16:creationId xmlns:a16="http://schemas.microsoft.com/office/drawing/2014/main" id="{9A96B9EB-6809-74F0-CAAC-7B424DDEDF68}"/>
              </a:ext>
            </a:extLst>
          </p:cNvPr>
          <p:cNvSpPr txBox="1">
            <a:spLocks/>
          </p:cNvSpPr>
          <p:nvPr/>
        </p:nvSpPr>
        <p:spPr>
          <a:xfrm>
            <a:off x="838200" y="4203067"/>
            <a:ext cx="10515600" cy="10090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246C5B53-0ABC-431F-A285-5781A07C04E1}"/>
              </a:ext>
            </a:extLst>
          </p:cNvPr>
          <p:cNvSpPr txBox="1"/>
          <p:nvPr/>
        </p:nvSpPr>
        <p:spPr>
          <a:xfrm>
            <a:off x="9987280" y="6336665"/>
            <a:ext cx="2367280" cy="307777"/>
          </a:xfrm>
          <a:prstGeom prst="rect">
            <a:avLst/>
          </a:prstGeom>
          <a:noFill/>
        </p:spPr>
        <p:txBody>
          <a:bodyPr wrap="square" rtlCol="0">
            <a:spAutoFit/>
          </a:bodyPr>
          <a:lstStyle/>
          <a:p>
            <a:r>
              <a:rPr lang="en-US" sz="1400" dirty="0">
                <a:hlinkClick r:id="rId3"/>
              </a:rPr>
              <a:t>Jordan Times</a:t>
            </a:r>
            <a:endParaRPr lang="en-US" sz="1400" dirty="0"/>
          </a:p>
        </p:txBody>
      </p:sp>
    </p:spTree>
    <p:extLst>
      <p:ext uri="{BB962C8B-B14F-4D97-AF65-F5344CB8AC3E}">
        <p14:creationId xmlns:p14="http://schemas.microsoft.com/office/powerpoint/2010/main" val="1411737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45FD-EC10-811B-9614-05635662F70B}"/>
              </a:ext>
            </a:extLst>
          </p:cNvPr>
          <p:cNvSpPr>
            <a:spLocks noGrp="1"/>
          </p:cNvSpPr>
          <p:nvPr>
            <p:ph type="title"/>
          </p:nvPr>
        </p:nvSpPr>
        <p:spPr/>
        <p:txBody>
          <a:bodyPr/>
          <a:lstStyle/>
          <a:p>
            <a:r>
              <a:rPr lang="en-US" b="1" dirty="0"/>
              <a:t>COMPETITIVE LANDSCAPE</a:t>
            </a:r>
          </a:p>
        </p:txBody>
      </p:sp>
      <p:sp>
        <p:nvSpPr>
          <p:cNvPr id="3" name="Content Placeholder 2">
            <a:extLst>
              <a:ext uri="{FF2B5EF4-FFF2-40B4-BE49-F238E27FC236}">
                <a16:creationId xmlns:a16="http://schemas.microsoft.com/office/drawing/2014/main" id="{0F86D42F-43E2-AB9C-F389-83C2069FA6E6}"/>
              </a:ext>
            </a:extLst>
          </p:cNvPr>
          <p:cNvSpPr>
            <a:spLocks noGrp="1"/>
          </p:cNvSpPr>
          <p:nvPr>
            <p:ph idx="1"/>
          </p:nvPr>
        </p:nvSpPr>
        <p:spPr>
          <a:xfrm>
            <a:off x="708660" y="1830340"/>
            <a:ext cx="3202940" cy="1313863"/>
          </a:xfrm>
          <a:solidFill>
            <a:schemeClr val="bg1">
              <a:lumMod val="85000"/>
            </a:schemeClr>
          </a:solidFill>
        </p:spPr>
        <p:txBody>
          <a:bodyPr anchor="ctr">
            <a:noAutofit/>
          </a:bodyPr>
          <a:lstStyle/>
          <a:p>
            <a:pPr marL="0" indent="0" algn="ctr">
              <a:buNone/>
            </a:pPr>
            <a:r>
              <a:rPr lang="en-US" sz="3700" dirty="0"/>
              <a:t>Global</a:t>
            </a:r>
          </a:p>
          <a:p>
            <a:pPr marL="0" indent="0" algn="ctr">
              <a:buNone/>
            </a:pPr>
            <a:r>
              <a:rPr lang="en-US" sz="3700" dirty="0"/>
              <a:t> Players    </a:t>
            </a:r>
          </a:p>
        </p:txBody>
      </p:sp>
      <p:sp>
        <p:nvSpPr>
          <p:cNvPr id="5" name="Content Placeholder 2">
            <a:extLst>
              <a:ext uri="{FF2B5EF4-FFF2-40B4-BE49-F238E27FC236}">
                <a16:creationId xmlns:a16="http://schemas.microsoft.com/office/drawing/2014/main" id="{C04615E7-55AF-3305-3E62-7004E739B63B}"/>
              </a:ext>
            </a:extLst>
          </p:cNvPr>
          <p:cNvSpPr txBox="1">
            <a:spLocks/>
          </p:cNvSpPr>
          <p:nvPr/>
        </p:nvSpPr>
        <p:spPr>
          <a:xfrm>
            <a:off x="8021320" y="1818640"/>
            <a:ext cx="2910840" cy="1325564"/>
          </a:xfrm>
          <a:prstGeom prst="rect">
            <a:avLst/>
          </a:prstGeom>
          <a:solidFill>
            <a:schemeClr val="bg1">
              <a:lumMod val="85000"/>
            </a:schemeClr>
          </a:solid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700" dirty="0"/>
              <a:t>Domestic Players</a:t>
            </a:r>
          </a:p>
        </p:txBody>
      </p:sp>
      <p:pic>
        <p:nvPicPr>
          <p:cNvPr id="7" name="Picture 6" descr="A blue and white logo&#10;&#10;AI-generated content may be incorrect.">
            <a:extLst>
              <a:ext uri="{FF2B5EF4-FFF2-40B4-BE49-F238E27FC236}">
                <a16:creationId xmlns:a16="http://schemas.microsoft.com/office/drawing/2014/main" id="{DC3E739B-0427-AD02-4BD0-E98BAAE094DE}"/>
              </a:ext>
            </a:extLst>
          </p:cNvPr>
          <p:cNvPicPr>
            <a:picLocks noChangeAspect="1"/>
          </p:cNvPicPr>
          <p:nvPr/>
        </p:nvPicPr>
        <p:blipFill>
          <a:blip r:embed="rId2"/>
          <a:stretch>
            <a:fillRect/>
          </a:stretch>
        </p:blipFill>
        <p:spPr>
          <a:xfrm>
            <a:off x="8110264" y="3754743"/>
            <a:ext cx="2689816" cy="1200218"/>
          </a:xfrm>
          <a:prstGeom prst="rect">
            <a:avLst/>
          </a:prstGeom>
        </p:spPr>
      </p:pic>
      <p:pic>
        <p:nvPicPr>
          <p:cNvPr id="6" name="Picture 5">
            <a:extLst>
              <a:ext uri="{FF2B5EF4-FFF2-40B4-BE49-F238E27FC236}">
                <a16:creationId xmlns:a16="http://schemas.microsoft.com/office/drawing/2014/main" id="{A0A9976B-42E6-09E5-BF39-7D416FCB0AC4}"/>
              </a:ext>
            </a:extLst>
          </p:cNvPr>
          <p:cNvPicPr>
            <a:picLocks noChangeAspect="1"/>
          </p:cNvPicPr>
          <p:nvPr/>
        </p:nvPicPr>
        <p:blipFill>
          <a:blip r:embed="rId3"/>
          <a:stretch>
            <a:fillRect/>
          </a:stretch>
        </p:blipFill>
        <p:spPr>
          <a:xfrm>
            <a:off x="1533551" y="3769381"/>
            <a:ext cx="1362049" cy="1362049"/>
          </a:xfrm>
          <a:prstGeom prst="rect">
            <a:avLst/>
          </a:prstGeom>
        </p:spPr>
      </p:pic>
      <p:pic>
        <p:nvPicPr>
          <p:cNvPr id="14" name="Picture 13" descr="A pink and black logo&#10;&#10;AI-generated content may be incorrect.">
            <a:extLst>
              <a:ext uri="{FF2B5EF4-FFF2-40B4-BE49-F238E27FC236}">
                <a16:creationId xmlns:a16="http://schemas.microsoft.com/office/drawing/2014/main" id="{1DDA0CDD-578E-0873-A3C3-E2CF02998690}"/>
              </a:ext>
            </a:extLst>
          </p:cNvPr>
          <p:cNvPicPr>
            <a:picLocks noChangeAspect="1"/>
          </p:cNvPicPr>
          <p:nvPr/>
        </p:nvPicPr>
        <p:blipFill>
          <a:blip r:embed="rId4"/>
          <a:stretch>
            <a:fillRect/>
          </a:stretch>
        </p:blipFill>
        <p:spPr>
          <a:xfrm>
            <a:off x="4071729" y="4769167"/>
            <a:ext cx="3230658" cy="796289"/>
          </a:xfrm>
          <a:prstGeom prst="rect">
            <a:avLst/>
          </a:prstGeom>
        </p:spPr>
      </p:pic>
      <p:pic>
        <p:nvPicPr>
          <p:cNvPr id="9" name="Picture 8" descr="A green text on a black background&#10;&#10;AI-generated content may be incorrect.">
            <a:extLst>
              <a:ext uri="{FF2B5EF4-FFF2-40B4-BE49-F238E27FC236}">
                <a16:creationId xmlns:a16="http://schemas.microsoft.com/office/drawing/2014/main" id="{03311721-1906-23CD-E662-AC2F816CBEEC}"/>
              </a:ext>
            </a:extLst>
          </p:cNvPr>
          <p:cNvPicPr>
            <a:picLocks noChangeAspect="1"/>
          </p:cNvPicPr>
          <p:nvPr/>
        </p:nvPicPr>
        <p:blipFill>
          <a:blip r:embed="rId5"/>
          <a:stretch>
            <a:fillRect/>
          </a:stretch>
        </p:blipFill>
        <p:spPr>
          <a:xfrm>
            <a:off x="4563168" y="3263459"/>
            <a:ext cx="2247781" cy="1243772"/>
          </a:xfrm>
          <a:prstGeom prst="rect">
            <a:avLst/>
          </a:prstGeom>
        </p:spPr>
      </p:pic>
      <p:sp>
        <p:nvSpPr>
          <p:cNvPr id="10" name="Content Placeholder 2">
            <a:extLst>
              <a:ext uri="{FF2B5EF4-FFF2-40B4-BE49-F238E27FC236}">
                <a16:creationId xmlns:a16="http://schemas.microsoft.com/office/drawing/2014/main" id="{799860C5-EA53-9966-39E3-F68732AD5227}"/>
              </a:ext>
            </a:extLst>
          </p:cNvPr>
          <p:cNvSpPr txBox="1">
            <a:spLocks/>
          </p:cNvSpPr>
          <p:nvPr/>
        </p:nvSpPr>
        <p:spPr>
          <a:xfrm>
            <a:off x="4221481" y="1830340"/>
            <a:ext cx="3202940" cy="1313863"/>
          </a:xfrm>
          <a:prstGeom prst="rect">
            <a:avLst/>
          </a:prstGeom>
          <a:solidFill>
            <a:schemeClr val="bg1">
              <a:lumMod val="85000"/>
            </a:schemeClr>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700" dirty="0"/>
              <a:t>Regional</a:t>
            </a:r>
          </a:p>
          <a:p>
            <a:pPr marL="0" indent="0" algn="ctr">
              <a:buFont typeface="Arial" panose="020B0604020202020204" pitchFamily="34" charset="0"/>
              <a:buNone/>
            </a:pPr>
            <a:r>
              <a:rPr lang="en-US" sz="3700" dirty="0"/>
              <a:t> Players    </a:t>
            </a:r>
          </a:p>
        </p:txBody>
      </p:sp>
      <p:sp>
        <p:nvSpPr>
          <p:cNvPr id="12" name="TextBox 11">
            <a:extLst>
              <a:ext uri="{FF2B5EF4-FFF2-40B4-BE49-F238E27FC236}">
                <a16:creationId xmlns:a16="http://schemas.microsoft.com/office/drawing/2014/main" id="{EE18F99F-321D-8917-AB29-86462DE49DE4}"/>
              </a:ext>
            </a:extLst>
          </p:cNvPr>
          <p:cNvSpPr txBox="1"/>
          <p:nvPr/>
        </p:nvSpPr>
        <p:spPr>
          <a:xfrm>
            <a:off x="714948" y="5827392"/>
            <a:ext cx="10638851" cy="646331"/>
          </a:xfrm>
          <a:prstGeom prst="rect">
            <a:avLst/>
          </a:prstGeom>
          <a:noFill/>
        </p:spPr>
        <p:txBody>
          <a:bodyPr wrap="square">
            <a:spAutoFit/>
          </a:bodyPr>
          <a:lstStyle/>
          <a:p>
            <a:pPr marL="0" indent="0">
              <a:buNone/>
            </a:pPr>
            <a:r>
              <a:rPr lang="en-US" dirty="0"/>
              <a:t>Despite the presence of international players, local ride-hailing companies like Careem dominate the Jordanian market due to their understanding of cultural nuances.</a:t>
            </a:r>
          </a:p>
        </p:txBody>
      </p:sp>
    </p:spTree>
    <p:extLst>
      <p:ext uri="{BB962C8B-B14F-4D97-AF65-F5344CB8AC3E}">
        <p14:creationId xmlns:p14="http://schemas.microsoft.com/office/powerpoint/2010/main" val="366621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23078-A37D-6213-5C4C-D28AEAF6F63E}"/>
              </a:ext>
            </a:extLst>
          </p:cNvPr>
          <p:cNvSpPr>
            <a:spLocks noGrp="1"/>
          </p:cNvSpPr>
          <p:nvPr>
            <p:ph type="title"/>
          </p:nvPr>
        </p:nvSpPr>
        <p:spPr/>
        <p:txBody>
          <a:bodyPr/>
          <a:lstStyle/>
          <a:p>
            <a:r>
              <a:rPr lang="en-US" b="1" dirty="0"/>
              <a:t>MARKET CHALLENGE</a:t>
            </a:r>
          </a:p>
        </p:txBody>
      </p:sp>
      <p:sp>
        <p:nvSpPr>
          <p:cNvPr id="3" name="Content Placeholder 2">
            <a:extLst>
              <a:ext uri="{FF2B5EF4-FFF2-40B4-BE49-F238E27FC236}">
                <a16:creationId xmlns:a16="http://schemas.microsoft.com/office/drawing/2014/main" id="{68E1472A-89F5-E519-0E82-2109ADD91066}"/>
              </a:ext>
            </a:extLst>
          </p:cNvPr>
          <p:cNvSpPr>
            <a:spLocks noGrp="1"/>
          </p:cNvSpPr>
          <p:nvPr>
            <p:ph idx="1"/>
          </p:nvPr>
        </p:nvSpPr>
        <p:spPr>
          <a:xfrm>
            <a:off x="838200" y="1825624"/>
            <a:ext cx="10515600" cy="2357809"/>
          </a:xfrm>
        </p:spPr>
        <p:txBody>
          <a:bodyPr>
            <a:normAutofit fontScale="92500" lnSpcReduction="10000"/>
          </a:bodyPr>
          <a:lstStyle/>
          <a:p>
            <a:pPr marL="0" indent="0">
              <a:buNone/>
            </a:pPr>
            <a:r>
              <a:rPr lang="en-US" dirty="0"/>
              <a:t>Ride Hailing Drivers are struggling to make a living with the current financial model because a big % is going to the company.</a:t>
            </a:r>
          </a:p>
          <a:p>
            <a:pPr marL="0" indent="0">
              <a:buNone/>
            </a:pPr>
            <a:r>
              <a:rPr lang="en-US" dirty="0"/>
              <a:t>They are resorting to unlicensed apps with lower commission rates as a result.</a:t>
            </a:r>
          </a:p>
          <a:p>
            <a:pPr marL="0" indent="0">
              <a:buNone/>
            </a:pPr>
            <a:r>
              <a:rPr lang="en-US" dirty="0"/>
              <a:t>Locally, this economic model is proving to be unsustainable especially as number of drivers grew resulting in less rides/driver/day.</a:t>
            </a:r>
          </a:p>
        </p:txBody>
      </p:sp>
      <p:pic>
        <p:nvPicPr>
          <p:cNvPr id="5" name="Picture 4" descr="A white background with black text and black text&#10;&#10;AI-generated content may be incorrect.">
            <a:extLst>
              <a:ext uri="{FF2B5EF4-FFF2-40B4-BE49-F238E27FC236}">
                <a16:creationId xmlns:a16="http://schemas.microsoft.com/office/drawing/2014/main" id="{4B5AEF50-976E-6119-8401-591F78C13F04}"/>
              </a:ext>
            </a:extLst>
          </p:cNvPr>
          <p:cNvPicPr>
            <a:picLocks noChangeAspect="1"/>
          </p:cNvPicPr>
          <p:nvPr/>
        </p:nvPicPr>
        <p:blipFill>
          <a:blip r:embed="rId2"/>
          <a:srcRect r="68702"/>
          <a:stretch>
            <a:fillRect/>
          </a:stretch>
        </p:blipFill>
        <p:spPr>
          <a:xfrm>
            <a:off x="3133519" y="4424680"/>
            <a:ext cx="2401291" cy="2357809"/>
          </a:xfrm>
          <a:prstGeom prst="rect">
            <a:avLst/>
          </a:prstGeom>
        </p:spPr>
      </p:pic>
      <p:pic>
        <p:nvPicPr>
          <p:cNvPr id="8" name="Picture 7" descr="A screen shot of a phone&#10;&#10;AI-generated content may be incorrect.">
            <a:extLst>
              <a:ext uri="{FF2B5EF4-FFF2-40B4-BE49-F238E27FC236}">
                <a16:creationId xmlns:a16="http://schemas.microsoft.com/office/drawing/2014/main" id="{419F5D57-BD77-CEE0-A597-D5E73F074C0E}"/>
              </a:ext>
            </a:extLst>
          </p:cNvPr>
          <p:cNvPicPr>
            <a:picLocks noChangeAspect="1"/>
          </p:cNvPicPr>
          <p:nvPr/>
        </p:nvPicPr>
        <p:blipFill>
          <a:blip r:embed="rId3"/>
          <a:stretch>
            <a:fillRect/>
          </a:stretch>
        </p:blipFill>
        <p:spPr>
          <a:xfrm>
            <a:off x="5348442" y="4386924"/>
            <a:ext cx="1938407" cy="2433320"/>
          </a:xfrm>
          <a:prstGeom prst="rect">
            <a:avLst/>
          </a:prstGeom>
        </p:spPr>
      </p:pic>
      <p:sp>
        <p:nvSpPr>
          <p:cNvPr id="4" name="TextBox 3">
            <a:extLst>
              <a:ext uri="{FF2B5EF4-FFF2-40B4-BE49-F238E27FC236}">
                <a16:creationId xmlns:a16="http://schemas.microsoft.com/office/drawing/2014/main" id="{DBAAAF03-D28A-6535-7E6A-FDF0DFB67C86}"/>
              </a:ext>
            </a:extLst>
          </p:cNvPr>
          <p:cNvSpPr txBox="1"/>
          <p:nvPr/>
        </p:nvSpPr>
        <p:spPr>
          <a:xfrm>
            <a:off x="10716322" y="6308209"/>
            <a:ext cx="2033239" cy="369332"/>
          </a:xfrm>
          <a:prstGeom prst="rect">
            <a:avLst/>
          </a:prstGeom>
          <a:noFill/>
        </p:spPr>
        <p:txBody>
          <a:bodyPr wrap="square" rtlCol="0">
            <a:spAutoFit/>
          </a:bodyPr>
          <a:lstStyle/>
          <a:p>
            <a:r>
              <a:rPr lang="en-US">
                <a:hlinkClick r:id="rId4"/>
              </a:rPr>
              <a:t>Jordan news</a:t>
            </a:r>
            <a:endParaRPr lang="en-US"/>
          </a:p>
        </p:txBody>
      </p:sp>
    </p:spTree>
    <p:extLst>
      <p:ext uri="{BB962C8B-B14F-4D97-AF65-F5344CB8AC3E}">
        <p14:creationId xmlns:p14="http://schemas.microsoft.com/office/powerpoint/2010/main" val="4204255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246E-9F35-8614-1333-E8DC7D2DAF76}"/>
              </a:ext>
            </a:extLst>
          </p:cNvPr>
          <p:cNvSpPr>
            <a:spLocks noGrp="1"/>
          </p:cNvSpPr>
          <p:nvPr>
            <p:ph type="title"/>
          </p:nvPr>
        </p:nvSpPr>
        <p:spPr/>
        <p:txBody>
          <a:bodyPr/>
          <a:lstStyle/>
          <a:p>
            <a:r>
              <a:rPr lang="en-US" b="1" dirty="0"/>
              <a:t>MARKET CHALLENGE</a:t>
            </a:r>
            <a:endParaRPr lang="en-US" dirty="0"/>
          </a:p>
        </p:txBody>
      </p:sp>
      <p:sp>
        <p:nvSpPr>
          <p:cNvPr id="3" name="Content Placeholder 2">
            <a:extLst>
              <a:ext uri="{FF2B5EF4-FFF2-40B4-BE49-F238E27FC236}">
                <a16:creationId xmlns:a16="http://schemas.microsoft.com/office/drawing/2014/main" id="{4FB59C52-35F9-877E-6DF8-079CF409577B}"/>
              </a:ext>
            </a:extLst>
          </p:cNvPr>
          <p:cNvSpPr>
            <a:spLocks noGrp="1"/>
          </p:cNvSpPr>
          <p:nvPr>
            <p:ph idx="1"/>
          </p:nvPr>
        </p:nvSpPr>
        <p:spPr>
          <a:xfrm>
            <a:off x="838200" y="1825625"/>
            <a:ext cx="10515600" cy="1161415"/>
          </a:xfrm>
        </p:spPr>
        <p:txBody>
          <a:bodyPr/>
          <a:lstStyle/>
          <a:p>
            <a:pPr marL="0" indent="0">
              <a:buNone/>
            </a:pPr>
            <a:r>
              <a:rPr lang="en-US" dirty="0"/>
              <a:t>Limited competition lead the way to abusive profit margins amongst big players (Uber/ Careem/ </a:t>
            </a:r>
            <a:r>
              <a:rPr lang="en-US" dirty="0" err="1"/>
              <a:t>Jeeny</a:t>
            </a:r>
            <a:r>
              <a:rPr lang="en-US" dirty="0"/>
              <a:t>):</a:t>
            </a:r>
          </a:p>
        </p:txBody>
      </p:sp>
      <p:pic>
        <p:nvPicPr>
          <p:cNvPr id="5" name="Picture 4" descr="A diagram of a business&#10;&#10;AI-generated content may be incorrect.">
            <a:extLst>
              <a:ext uri="{FF2B5EF4-FFF2-40B4-BE49-F238E27FC236}">
                <a16:creationId xmlns:a16="http://schemas.microsoft.com/office/drawing/2014/main" id="{225A8033-C79A-8125-6156-99DCFFCFE2E1}"/>
              </a:ext>
            </a:extLst>
          </p:cNvPr>
          <p:cNvPicPr>
            <a:picLocks noChangeAspect="1"/>
          </p:cNvPicPr>
          <p:nvPr/>
        </p:nvPicPr>
        <p:blipFill>
          <a:blip r:embed="rId2"/>
          <a:stretch>
            <a:fillRect/>
          </a:stretch>
        </p:blipFill>
        <p:spPr>
          <a:xfrm>
            <a:off x="1609811" y="3121977"/>
            <a:ext cx="8043683" cy="3248660"/>
          </a:xfrm>
          <a:prstGeom prst="rect">
            <a:avLst/>
          </a:prstGeom>
        </p:spPr>
      </p:pic>
      <p:sp>
        <p:nvSpPr>
          <p:cNvPr id="4" name="Rectangle 3">
            <a:extLst>
              <a:ext uri="{FF2B5EF4-FFF2-40B4-BE49-F238E27FC236}">
                <a16:creationId xmlns:a16="http://schemas.microsoft.com/office/drawing/2014/main" id="{9A0CEAA3-6EA6-5C07-4196-5FA91E4ED205}"/>
              </a:ext>
            </a:extLst>
          </p:cNvPr>
          <p:cNvSpPr/>
          <p:nvPr/>
        </p:nvSpPr>
        <p:spPr>
          <a:xfrm>
            <a:off x="6339840" y="4500880"/>
            <a:ext cx="3891280" cy="20046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7088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58BA-8B8C-9B3F-B120-E04F189AAC8C}"/>
              </a:ext>
            </a:extLst>
          </p:cNvPr>
          <p:cNvSpPr>
            <a:spLocks noGrp="1"/>
          </p:cNvSpPr>
          <p:nvPr>
            <p:ph type="title"/>
          </p:nvPr>
        </p:nvSpPr>
        <p:spPr/>
        <p:txBody>
          <a:bodyPr/>
          <a:lstStyle/>
          <a:p>
            <a:r>
              <a:rPr lang="en-US" b="1" dirty="0"/>
              <a:t>MARKET OPPORTUNITY</a:t>
            </a:r>
          </a:p>
        </p:txBody>
      </p:sp>
      <p:sp>
        <p:nvSpPr>
          <p:cNvPr id="3" name="Content Placeholder 2">
            <a:extLst>
              <a:ext uri="{FF2B5EF4-FFF2-40B4-BE49-F238E27FC236}">
                <a16:creationId xmlns:a16="http://schemas.microsoft.com/office/drawing/2014/main" id="{A2A63480-30DD-211C-3048-4DDD32675C92}"/>
              </a:ext>
            </a:extLst>
          </p:cNvPr>
          <p:cNvSpPr>
            <a:spLocks noGrp="1"/>
          </p:cNvSpPr>
          <p:nvPr>
            <p:ph idx="1"/>
          </p:nvPr>
        </p:nvSpPr>
        <p:spPr/>
        <p:txBody>
          <a:bodyPr/>
          <a:lstStyle/>
          <a:p>
            <a:pPr marL="0" indent="0">
              <a:buNone/>
            </a:pPr>
            <a:r>
              <a:rPr lang="en-US"/>
              <a:t>Disrupt the existing financial model by introducing fairer compensation that will make it lucrative to both drivers and the company.</a:t>
            </a:r>
          </a:p>
        </p:txBody>
      </p:sp>
      <p:pic>
        <p:nvPicPr>
          <p:cNvPr id="4" name="Picture 3" descr="A diagram of a business&#10;&#10;AI-generated content may be incorrect.">
            <a:extLst>
              <a:ext uri="{FF2B5EF4-FFF2-40B4-BE49-F238E27FC236}">
                <a16:creationId xmlns:a16="http://schemas.microsoft.com/office/drawing/2014/main" id="{D5E22220-6F1F-8090-E8D1-22CECF8AB58B}"/>
              </a:ext>
            </a:extLst>
          </p:cNvPr>
          <p:cNvPicPr>
            <a:picLocks noChangeAspect="1"/>
          </p:cNvPicPr>
          <p:nvPr/>
        </p:nvPicPr>
        <p:blipFill>
          <a:blip r:embed="rId2"/>
          <a:stretch>
            <a:fillRect/>
          </a:stretch>
        </p:blipFill>
        <p:spPr>
          <a:xfrm>
            <a:off x="1609811" y="3121977"/>
            <a:ext cx="8043683" cy="3248660"/>
          </a:xfrm>
          <a:prstGeom prst="rect">
            <a:avLst/>
          </a:prstGeom>
        </p:spPr>
      </p:pic>
      <p:sp>
        <p:nvSpPr>
          <p:cNvPr id="5" name="Rectangle 4">
            <a:extLst>
              <a:ext uri="{FF2B5EF4-FFF2-40B4-BE49-F238E27FC236}">
                <a16:creationId xmlns:a16="http://schemas.microsoft.com/office/drawing/2014/main" id="{7DD0EE09-9771-2F87-E711-B65C412CFF10}"/>
              </a:ext>
            </a:extLst>
          </p:cNvPr>
          <p:cNvSpPr/>
          <p:nvPr/>
        </p:nvSpPr>
        <p:spPr>
          <a:xfrm>
            <a:off x="4551680" y="3221831"/>
            <a:ext cx="2479040" cy="1135857"/>
          </a:xfrm>
          <a:prstGeom prst="rect">
            <a:avLst/>
          </a:prstGeom>
          <a:solidFill>
            <a:schemeClr val="tx1">
              <a:lumMod val="50000"/>
              <a:lumOff val="50000"/>
              <a:alpha val="4482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35A9743-8478-B4AF-7CC5-4DC346BA2FA4}"/>
              </a:ext>
            </a:extLst>
          </p:cNvPr>
          <p:cNvSpPr/>
          <p:nvPr/>
        </p:nvSpPr>
        <p:spPr>
          <a:xfrm>
            <a:off x="2631440" y="4900612"/>
            <a:ext cx="2479040" cy="914401"/>
          </a:xfrm>
          <a:prstGeom prst="rect">
            <a:avLst/>
          </a:prstGeom>
          <a:solidFill>
            <a:schemeClr val="tx1">
              <a:lumMod val="50000"/>
              <a:lumOff val="50000"/>
              <a:alpha val="48000"/>
            </a:schemeClr>
          </a:solidFill>
          <a:ln>
            <a:noFill/>
          </a:ln>
          <a:effectLst>
            <a:outerShdw blurRad="50800" dist="50800" dir="5400000" sx="1000" sy="1000"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44500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FBB9-87D1-D455-E027-682542083D40}"/>
              </a:ext>
            </a:extLst>
          </p:cNvPr>
          <p:cNvSpPr>
            <a:spLocks noGrp="1"/>
          </p:cNvSpPr>
          <p:nvPr>
            <p:ph type="title"/>
          </p:nvPr>
        </p:nvSpPr>
        <p:spPr/>
        <p:txBody>
          <a:bodyPr/>
          <a:lstStyle/>
          <a:p>
            <a:r>
              <a:rPr lang="en-US" b="1" dirty="0"/>
              <a:t>THE SOLUTION</a:t>
            </a:r>
          </a:p>
        </p:txBody>
      </p:sp>
      <p:sp>
        <p:nvSpPr>
          <p:cNvPr id="3" name="Content Placeholder 2">
            <a:extLst>
              <a:ext uri="{FF2B5EF4-FFF2-40B4-BE49-F238E27FC236}">
                <a16:creationId xmlns:a16="http://schemas.microsoft.com/office/drawing/2014/main" id="{C47FC29C-6B0E-DAE9-387F-2D281593E28F}"/>
              </a:ext>
            </a:extLst>
          </p:cNvPr>
          <p:cNvSpPr>
            <a:spLocks noGrp="1"/>
          </p:cNvSpPr>
          <p:nvPr>
            <p:ph idx="1"/>
          </p:nvPr>
        </p:nvSpPr>
        <p:spPr/>
        <p:txBody>
          <a:bodyPr/>
          <a:lstStyle/>
          <a:p>
            <a:pPr marL="0" indent="0">
              <a:buNone/>
            </a:pPr>
            <a:r>
              <a:rPr lang="en-US" dirty="0"/>
              <a:t>Our solution replaces commissions with a tiered flat monthly subscription, allowing drivers to keep 100% of their ride earnings.</a:t>
            </a:r>
          </a:p>
          <a:p>
            <a:pPr marL="0" indent="0">
              <a:buNone/>
            </a:pPr>
            <a:endParaRPr lang="en-US" dirty="0"/>
          </a:p>
          <a:p>
            <a:pPr marL="0" indent="0">
              <a:buNone/>
            </a:pPr>
            <a:r>
              <a:rPr lang="en-US" dirty="0"/>
              <a:t>This aligns </a:t>
            </a:r>
            <a:r>
              <a:rPr lang="en-US" u="sng" dirty="0"/>
              <a:t>incentives</a:t>
            </a:r>
            <a:r>
              <a:rPr lang="en-US" dirty="0"/>
              <a:t>, </a:t>
            </a:r>
            <a:r>
              <a:rPr lang="en-US" u="sng" dirty="0"/>
              <a:t>restores trust</a:t>
            </a:r>
            <a:r>
              <a:rPr lang="en-US" dirty="0"/>
              <a:t>, and makes compliance </a:t>
            </a:r>
            <a:r>
              <a:rPr lang="en-US" u="sng" dirty="0"/>
              <a:t>economically rational</a:t>
            </a:r>
            <a:r>
              <a:rPr lang="en-US" dirty="0"/>
              <a:t> for drivers while stabilizing the market overall.</a:t>
            </a:r>
          </a:p>
          <a:p>
            <a:pPr marL="0" indent="0">
              <a:buNone/>
            </a:pPr>
            <a:endParaRPr lang="en-US" dirty="0"/>
          </a:p>
          <a:p>
            <a:pPr marL="0" indent="0">
              <a:buNone/>
            </a:pPr>
            <a:r>
              <a:rPr lang="en-US" dirty="0"/>
              <a:t>A more sustainable business model for all.</a:t>
            </a:r>
          </a:p>
          <a:p>
            <a:pPr marL="0" indent="0">
              <a:buNone/>
            </a:pPr>
            <a:endParaRPr lang="en-US" dirty="0"/>
          </a:p>
          <a:p>
            <a:pPr marL="0" indent="0">
              <a:buNone/>
            </a:pPr>
            <a:r>
              <a:rPr lang="en-US" dirty="0"/>
              <a:t>We don’t employ drivers; we work with them.</a:t>
            </a:r>
          </a:p>
        </p:txBody>
      </p:sp>
    </p:spTree>
    <p:extLst>
      <p:ext uri="{BB962C8B-B14F-4D97-AF65-F5344CB8AC3E}">
        <p14:creationId xmlns:p14="http://schemas.microsoft.com/office/powerpoint/2010/main" val="882749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F44A-32C9-14C1-4D35-E17A31D09EE3}"/>
              </a:ext>
            </a:extLst>
          </p:cNvPr>
          <p:cNvSpPr>
            <a:spLocks noGrp="1"/>
          </p:cNvSpPr>
          <p:nvPr>
            <p:ph type="title"/>
          </p:nvPr>
        </p:nvSpPr>
        <p:spPr>
          <a:xfrm>
            <a:off x="838200" y="186453"/>
            <a:ext cx="7770054" cy="1325563"/>
          </a:xfrm>
        </p:spPr>
        <p:txBody>
          <a:bodyPr/>
          <a:lstStyle/>
          <a:p>
            <a:r>
              <a:rPr lang="en-US" b="1" dirty="0"/>
              <a:t>THE IDEA</a:t>
            </a:r>
          </a:p>
        </p:txBody>
      </p:sp>
      <p:sp>
        <p:nvSpPr>
          <p:cNvPr id="3" name="Content Placeholder 2">
            <a:extLst>
              <a:ext uri="{FF2B5EF4-FFF2-40B4-BE49-F238E27FC236}">
                <a16:creationId xmlns:a16="http://schemas.microsoft.com/office/drawing/2014/main" id="{279AE916-2A45-3D49-FF54-1D1852358AF0}"/>
              </a:ext>
            </a:extLst>
          </p:cNvPr>
          <p:cNvSpPr>
            <a:spLocks noGrp="1"/>
          </p:cNvSpPr>
          <p:nvPr>
            <p:ph idx="1"/>
          </p:nvPr>
        </p:nvSpPr>
        <p:spPr>
          <a:xfrm>
            <a:off x="1562099" y="1486175"/>
            <a:ext cx="2801810" cy="541655"/>
          </a:xfrm>
        </p:spPr>
        <p:txBody>
          <a:bodyPr>
            <a:normAutofit fontScale="77500" lnSpcReduction="20000"/>
          </a:bodyPr>
          <a:lstStyle/>
          <a:p>
            <a:pPr marL="0" indent="0">
              <a:buNone/>
            </a:pPr>
            <a:r>
              <a:rPr lang="en-US" b="1" dirty="0"/>
              <a:t>DRIVERS BENEFITS</a:t>
            </a:r>
          </a:p>
        </p:txBody>
      </p:sp>
      <p:sp>
        <p:nvSpPr>
          <p:cNvPr id="4" name="Content Placeholder 2">
            <a:extLst>
              <a:ext uri="{FF2B5EF4-FFF2-40B4-BE49-F238E27FC236}">
                <a16:creationId xmlns:a16="http://schemas.microsoft.com/office/drawing/2014/main" id="{D15A00F6-2868-BB00-A915-E12EA229F12F}"/>
              </a:ext>
            </a:extLst>
          </p:cNvPr>
          <p:cNvSpPr txBox="1">
            <a:spLocks/>
          </p:cNvSpPr>
          <p:nvPr/>
        </p:nvSpPr>
        <p:spPr>
          <a:xfrm>
            <a:off x="7637591" y="1531758"/>
            <a:ext cx="2433320" cy="54165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COMPANY BENEFIT</a:t>
            </a:r>
          </a:p>
        </p:txBody>
      </p:sp>
      <p:grpSp>
        <p:nvGrpSpPr>
          <p:cNvPr id="5" name="Group 4">
            <a:extLst>
              <a:ext uri="{FF2B5EF4-FFF2-40B4-BE49-F238E27FC236}">
                <a16:creationId xmlns:a16="http://schemas.microsoft.com/office/drawing/2014/main" id="{D04AB9C3-F506-632A-B7E3-3A507F8AF0AF}"/>
              </a:ext>
            </a:extLst>
          </p:cNvPr>
          <p:cNvGrpSpPr/>
          <p:nvPr/>
        </p:nvGrpSpPr>
        <p:grpSpPr>
          <a:xfrm>
            <a:off x="1752600" y="2095500"/>
            <a:ext cx="8305800" cy="4585017"/>
            <a:chOff x="838200" y="1673778"/>
            <a:chExt cx="9220200" cy="5006739"/>
          </a:xfrm>
        </p:grpSpPr>
        <p:sp>
          <p:nvSpPr>
            <p:cNvPr id="7" name="Rectangle 6">
              <a:extLst>
                <a:ext uri="{FF2B5EF4-FFF2-40B4-BE49-F238E27FC236}">
                  <a16:creationId xmlns:a16="http://schemas.microsoft.com/office/drawing/2014/main" id="{08A03EB1-F673-41A1-76A7-08D3B3313520}"/>
                </a:ext>
              </a:extLst>
            </p:cNvPr>
            <p:cNvSpPr/>
            <p:nvPr/>
          </p:nvSpPr>
          <p:spPr>
            <a:xfrm>
              <a:off x="838200" y="1673778"/>
              <a:ext cx="2687320" cy="119919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Customers</a:t>
              </a:r>
            </a:p>
          </p:txBody>
        </p:sp>
        <p:sp>
          <p:nvSpPr>
            <p:cNvPr id="8" name="Rectangle 7">
              <a:extLst>
                <a:ext uri="{FF2B5EF4-FFF2-40B4-BE49-F238E27FC236}">
                  <a16:creationId xmlns:a16="http://schemas.microsoft.com/office/drawing/2014/main" id="{5E7A05F2-078F-ECE2-66CC-469E1B734E4C}"/>
                </a:ext>
              </a:extLst>
            </p:cNvPr>
            <p:cNvSpPr/>
            <p:nvPr/>
          </p:nvSpPr>
          <p:spPr>
            <a:xfrm>
              <a:off x="838200" y="2925763"/>
              <a:ext cx="2687320" cy="119919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100% of their ride earnings</a:t>
              </a:r>
            </a:p>
          </p:txBody>
        </p:sp>
        <p:sp>
          <p:nvSpPr>
            <p:cNvPr id="9" name="Rectangle 8">
              <a:extLst>
                <a:ext uri="{FF2B5EF4-FFF2-40B4-BE49-F238E27FC236}">
                  <a16:creationId xmlns:a16="http://schemas.microsoft.com/office/drawing/2014/main" id="{0CF76C8F-8DD1-1DE8-E24C-17FB6CF4516F}"/>
                </a:ext>
              </a:extLst>
            </p:cNvPr>
            <p:cNvSpPr/>
            <p:nvPr/>
          </p:nvSpPr>
          <p:spPr>
            <a:xfrm>
              <a:off x="838200" y="4208228"/>
              <a:ext cx="2687320" cy="119919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Advertising</a:t>
              </a:r>
            </a:p>
          </p:txBody>
        </p:sp>
        <p:sp>
          <p:nvSpPr>
            <p:cNvPr id="10" name="Rectangle 9">
              <a:extLst>
                <a:ext uri="{FF2B5EF4-FFF2-40B4-BE49-F238E27FC236}">
                  <a16:creationId xmlns:a16="http://schemas.microsoft.com/office/drawing/2014/main" id="{A93C2980-4F0C-62F7-0DFD-FCF07E3542B0}"/>
                </a:ext>
              </a:extLst>
            </p:cNvPr>
            <p:cNvSpPr/>
            <p:nvPr/>
          </p:nvSpPr>
          <p:spPr>
            <a:xfrm>
              <a:off x="7371080" y="3525361"/>
              <a:ext cx="2687320" cy="11991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Subscription Monthly</a:t>
              </a:r>
            </a:p>
          </p:txBody>
        </p:sp>
        <p:sp>
          <p:nvSpPr>
            <p:cNvPr id="15" name="Rectangle 14">
              <a:extLst>
                <a:ext uri="{FF2B5EF4-FFF2-40B4-BE49-F238E27FC236}">
                  <a16:creationId xmlns:a16="http://schemas.microsoft.com/office/drawing/2014/main" id="{F683E962-53BC-0B3C-0677-CBDE56C6EF01}"/>
                </a:ext>
              </a:extLst>
            </p:cNvPr>
            <p:cNvSpPr/>
            <p:nvPr/>
          </p:nvSpPr>
          <p:spPr>
            <a:xfrm>
              <a:off x="838200" y="5481320"/>
              <a:ext cx="2687320" cy="119919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Support/</a:t>
              </a:r>
            </a:p>
            <a:p>
              <a:pPr algn="ctr"/>
              <a:r>
                <a:rPr lang="en-US" sz="2000" dirty="0"/>
                <a:t>Customer care</a:t>
              </a:r>
            </a:p>
          </p:txBody>
        </p:sp>
        <p:cxnSp>
          <p:nvCxnSpPr>
            <p:cNvPr id="17" name="Straight Connector 16">
              <a:extLst>
                <a:ext uri="{FF2B5EF4-FFF2-40B4-BE49-F238E27FC236}">
                  <a16:creationId xmlns:a16="http://schemas.microsoft.com/office/drawing/2014/main" id="{F9165404-258B-AFA5-E786-D66BC4312DAB}"/>
                </a:ext>
              </a:extLst>
            </p:cNvPr>
            <p:cNvCxnSpPr/>
            <p:nvPr/>
          </p:nvCxnSpPr>
          <p:spPr>
            <a:xfrm>
              <a:off x="3525520" y="1673778"/>
              <a:ext cx="3845560" cy="1851583"/>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9A2767B-7D80-11B2-96AE-FE165AC88DAB}"/>
                </a:ext>
              </a:extLst>
            </p:cNvPr>
            <p:cNvCxnSpPr/>
            <p:nvPr/>
          </p:nvCxnSpPr>
          <p:spPr>
            <a:xfrm flipV="1">
              <a:off x="3525520" y="4724558"/>
              <a:ext cx="3845560" cy="1955959"/>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16692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61DC7-9EA5-CBEE-068D-524A47229F7E}"/>
              </a:ext>
            </a:extLst>
          </p:cNvPr>
          <p:cNvSpPr>
            <a:spLocks noGrp="1"/>
          </p:cNvSpPr>
          <p:nvPr>
            <p:ph type="title"/>
          </p:nvPr>
        </p:nvSpPr>
        <p:spPr/>
        <p:txBody>
          <a:bodyPr/>
          <a:lstStyle/>
          <a:p>
            <a:r>
              <a:rPr lang="en-US" b="1" dirty="0"/>
              <a:t>THE TIERED SUBSCRIPTION MODEL</a:t>
            </a:r>
            <a:endParaRPr lang="en-US" dirty="0"/>
          </a:p>
        </p:txBody>
      </p:sp>
      <p:sp>
        <p:nvSpPr>
          <p:cNvPr id="3" name="Content Placeholder 2">
            <a:extLst>
              <a:ext uri="{FF2B5EF4-FFF2-40B4-BE49-F238E27FC236}">
                <a16:creationId xmlns:a16="http://schemas.microsoft.com/office/drawing/2014/main" id="{43D2F808-C2DE-D502-EFF6-D72DB894F7C2}"/>
              </a:ext>
            </a:extLst>
          </p:cNvPr>
          <p:cNvSpPr>
            <a:spLocks noGrp="1"/>
          </p:cNvSpPr>
          <p:nvPr>
            <p:ph idx="1"/>
          </p:nvPr>
        </p:nvSpPr>
        <p:spPr/>
        <p:txBody>
          <a:bodyPr/>
          <a:lstStyle/>
          <a:p>
            <a:pPr marL="0" indent="0">
              <a:buNone/>
            </a:pPr>
            <a:r>
              <a:rPr lang="en-US"/>
              <a:t>Wassel takes a monthly subscription which changes based on the amount of money generated.</a:t>
            </a:r>
          </a:p>
        </p:txBody>
      </p:sp>
      <p:pic>
        <p:nvPicPr>
          <p:cNvPr id="7" name="Picture 6" descr="A close-up of a number&#10;&#10;AI-generated content may be incorrect.">
            <a:extLst>
              <a:ext uri="{FF2B5EF4-FFF2-40B4-BE49-F238E27FC236}">
                <a16:creationId xmlns:a16="http://schemas.microsoft.com/office/drawing/2014/main" id="{0AC3D2AD-988D-F2B8-7ABE-76700885ED8B}"/>
              </a:ext>
            </a:extLst>
          </p:cNvPr>
          <p:cNvPicPr>
            <a:picLocks noChangeAspect="1"/>
          </p:cNvPicPr>
          <p:nvPr/>
        </p:nvPicPr>
        <p:blipFill>
          <a:blip r:embed="rId2"/>
          <a:stretch>
            <a:fillRect/>
          </a:stretch>
        </p:blipFill>
        <p:spPr>
          <a:xfrm>
            <a:off x="639611" y="3536449"/>
            <a:ext cx="10912777" cy="2437008"/>
          </a:xfrm>
          <a:prstGeom prst="rect">
            <a:avLst/>
          </a:prstGeom>
        </p:spPr>
      </p:pic>
    </p:spTree>
    <p:extLst>
      <p:ext uri="{BB962C8B-B14F-4D97-AF65-F5344CB8AC3E}">
        <p14:creationId xmlns:p14="http://schemas.microsoft.com/office/powerpoint/2010/main" val="2252150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52066BD4-6617-5C5B-6E75-EFEC7EA564D0}"/>
              </a:ext>
            </a:extLst>
          </p:cNvPr>
          <p:cNvSpPr/>
          <p:nvPr/>
        </p:nvSpPr>
        <p:spPr>
          <a:xfrm>
            <a:off x="2807548" y="2074664"/>
            <a:ext cx="6441440" cy="105560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FA71177-21D8-AB67-C4B5-09A5D6E3D4A0}"/>
              </a:ext>
            </a:extLst>
          </p:cNvPr>
          <p:cNvSpPr/>
          <p:nvPr/>
        </p:nvSpPr>
        <p:spPr>
          <a:xfrm>
            <a:off x="2831254" y="3598948"/>
            <a:ext cx="6441440" cy="105560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9385910B-5268-27F5-61C3-712B063CFA81}"/>
              </a:ext>
            </a:extLst>
          </p:cNvPr>
          <p:cNvSpPr/>
          <p:nvPr/>
        </p:nvSpPr>
        <p:spPr>
          <a:xfrm>
            <a:off x="2760134" y="5083627"/>
            <a:ext cx="6593840" cy="105560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2D911D6-249D-9E60-5059-A43E67EC0FAB}"/>
              </a:ext>
            </a:extLst>
          </p:cNvPr>
          <p:cNvSpPr txBox="1"/>
          <p:nvPr/>
        </p:nvSpPr>
        <p:spPr>
          <a:xfrm>
            <a:off x="3166533" y="2195592"/>
            <a:ext cx="5689600" cy="3785652"/>
          </a:xfrm>
          <a:prstGeom prst="rect">
            <a:avLst/>
          </a:prstGeom>
          <a:noFill/>
        </p:spPr>
        <p:txBody>
          <a:bodyPr wrap="square">
            <a:spAutoFit/>
          </a:bodyPr>
          <a:lstStyle/>
          <a:p>
            <a:pPr algn="ctr"/>
            <a:r>
              <a:rPr lang="en-US" sz="4800" dirty="0"/>
              <a:t>Priority Customers </a:t>
            </a:r>
          </a:p>
          <a:p>
            <a:pPr algn="ctr"/>
            <a:r>
              <a:rPr lang="en-US" sz="4800" dirty="0"/>
              <a:t>– </a:t>
            </a:r>
          </a:p>
          <a:p>
            <a:pPr algn="ctr"/>
            <a:r>
              <a:rPr lang="en-US" sz="4800" dirty="0"/>
              <a:t> Care/Protection </a:t>
            </a:r>
          </a:p>
          <a:p>
            <a:pPr algn="ctr"/>
            <a:r>
              <a:rPr lang="en-US" sz="4800" dirty="0"/>
              <a:t> – </a:t>
            </a:r>
          </a:p>
          <a:p>
            <a:pPr algn="ctr"/>
            <a:r>
              <a:rPr lang="en-US" sz="4800" dirty="0"/>
              <a:t>Higher Rated Users </a:t>
            </a:r>
          </a:p>
        </p:txBody>
      </p:sp>
      <p:sp>
        <p:nvSpPr>
          <p:cNvPr id="6" name="Title 5">
            <a:extLst>
              <a:ext uri="{FF2B5EF4-FFF2-40B4-BE49-F238E27FC236}">
                <a16:creationId xmlns:a16="http://schemas.microsoft.com/office/drawing/2014/main" id="{2E2C7F74-212E-C295-9A6B-567D57E743E6}"/>
              </a:ext>
            </a:extLst>
          </p:cNvPr>
          <p:cNvSpPr>
            <a:spLocks noGrp="1"/>
          </p:cNvSpPr>
          <p:nvPr>
            <p:ph type="title"/>
          </p:nvPr>
        </p:nvSpPr>
        <p:spPr>
          <a:xfrm>
            <a:off x="280261" y="349627"/>
            <a:ext cx="10515600" cy="1325563"/>
          </a:xfrm>
        </p:spPr>
        <p:txBody>
          <a:bodyPr>
            <a:noAutofit/>
          </a:bodyPr>
          <a:lstStyle/>
          <a:p>
            <a:r>
              <a:rPr lang="en-US" sz="5000" b="1" dirty="0"/>
              <a:t>THE MORE THEY MAKE, THEY GET:</a:t>
            </a:r>
          </a:p>
        </p:txBody>
      </p:sp>
    </p:spTree>
    <p:extLst>
      <p:ext uri="{BB962C8B-B14F-4D97-AF65-F5344CB8AC3E}">
        <p14:creationId xmlns:p14="http://schemas.microsoft.com/office/powerpoint/2010/main" val="1801686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7BC67-21DA-7F00-D4D3-FD2263CBD108}"/>
              </a:ext>
            </a:extLst>
          </p:cNvPr>
          <p:cNvSpPr>
            <a:spLocks noGrp="1"/>
          </p:cNvSpPr>
          <p:nvPr>
            <p:ph type="title"/>
          </p:nvPr>
        </p:nvSpPr>
        <p:spPr/>
        <p:txBody>
          <a:bodyPr/>
          <a:lstStyle/>
          <a:p>
            <a:r>
              <a:rPr lang="en-US" b="1" dirty="0"/>
              <a:t>ROADMAP</a:t>
            </a:r>
          </a:p>
        </p:txBody>
      </p:sp>
      <p:sp>
        <p:nvSpPr>
          <p:cNvPr id="3" name="Content Placeholder 2">
            <a:extLst>
              <a:ext uri="{FF2B5EF4-FFF2-40B4-BE49-F238E27FC236}">
                <a16:creationId xmlns:a16="http://schemas.microsoft.com/office/drawing/2014/main" id="{A1A6EF85-DD12-C7E5-DA1C-E9BBB01499BC}"/>
              </a:ext>
            </a:extLst>
          </p:cNvPr>
          <p:cNvSpPr>
            <a:spLocks noGrp="1"/>
          </p:cNvSpPr>
          <p:nvPr>
            <p:ph idx="1"/>
          </p:nvPr>
        </p:nvSpPr>
        <p:spPr/>
        <p:txBody>
          <a:bodyPr/>
          <a:lstStyle/>
          <a:p>
            <a:pPr marL="0" indent="0">
              <a:buNone/>
            </a:pPr>
            <a:r>
              <a:rPr lang="en-US" dirty="0"/>
              <a:t>Fintech, financial tools, insurance incentives, car finances, maintenance connections etc. </a:t>
            </a:r>
          </a:p>
        </p:txBody>
      </p:sp>
    </p:spTree>
    <p:extLst>
      <p:ext uri="{BB962C8B-B14F-4D97-AF65-F5344CB8AC3E}">
        <p14:creationId xmlns:p14="http://schemas.microsoft.com/office/powerpoint/2010/main" val="1465983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B32E6-3759-7532-EB2B-219B7D54806C}"/>
              </a:ext>
            </a:extLst>
          </p:cNvPr>
          <p:cNvSpPr>
            <a:spLocks noGrp="1"/>
          </p:cNvSpPr>
          <p:nvPr>
            <p:ph type="title"/>
          </p:nvPr>
        </p:nvSpPr>
        <p:spPr>
          <a:xfrm>
            <a:off x="462280" y="365124"/>
            <a:ext cx="10515600" cy="1325563"/>
          </a:xfrm>
        </p:spPr>
        <p:txBody>
          <a:bodyPr/>
          <a:lstStyle/>
          <a:p>
            <a:r>
              <a:rPr lang="en-US" b="1" dirty="0"/>
              <a:t>PROOF OF CONCEPT…. NY, DC, MIAMI</a:t>
            </a:r>
          </a:p>
        </p:txBody>
      </p:sp>
      <p:pic>
        <p:nvPicPr>
          <p:cNvPr id="5" name="Picture 4" descr="A close-up of a logo&#10;&#10;AI-generated content may be incorrect.">
            <a:extLst>
              <a:ext uri="{FF2B5EF4-FFF2-40B4-BE49-F238E27FC236}">
                <a16:creationId xmlns:a16="http://schemas.microsoft.com/office/drawing/2014/main" id="{678E8D5A-6E93-C141-4866-045C8B929933}"/>
              </a:ext>
            </a:extLst>
          </p:cNvPr>
          <p:cNvPicPr>
            <a:picLocks noChangeAspect="1"/>
          </p:cNvPicPr>
          <p:nvPr/>
        </p:nvPicPr>
        <p:blipFill>
          <a:blip r:embed="rId2"/>
          <a:srcRect t="4079"/>
          <a:stretch>
            <a:fillRect/>
          </a:stretch>
        </p:blipFill>
        <p:spPr>
          <a:xfrm>
            <a:off x="706120" y="3141556"/>
            <a:ext cx="9445179" cy="1610851"/>
          </a:xfrm>
          <a:prstGeom prst="rect">
            <a:avLst/>
          </a:prstGeom>
        </p:spPr>
      </p:pic>
      <p:pic>
        <p:nvPicPr>
          <p:cNvPr id="8" name="Picture 7" descr="A close-up of a logo&#10;&#10;AI-generated content may be incorrect.">
            <a:extLst>
              <a:ext uri="{FF2B5EF4-FFF2-40B4-BE49-F238E27FC236}">
                <a16:creationId xmlns:a16="http://schemas.microsoft.com/office/drawing/2014/main" id="{6A47CAA5-80C0-A376-0089-C039F5C385A1}"/>
              </a:ext>
            </a:extLst>
          </p:cNvPr>
          <p:cNvPicPr>
            <a:picLocks noChangeAspect="1"/>
          </p:cNvPicPr>
          <p:nvPr/>
        </p:nvPicPr>
        <p:blipFill>
          <a:blip r:embed="rId3"/>
          <a:stretch>
            <a:fillRect/>
          </a:stretch>
        </p:blipFill>
        <p:spPr>
          <a:xfrm>
            <a:off x="8036967" y="6352081"/>
            <a:ext cx="2114332" cy="488381"/>
          </a:xfrm>
          <a:prstGeom prst="rect">
            <a:avLst/>
          </a:prstGeom>
        </p:spPr>
      </p:pic>
      <p:sp>
        <p:nvSpPr>
          <p:cNvPr id="9" name="TextBox 8">
            <a:extLst>
              <a:ext uri="{FF2B5EF4-FFF2-40B4-BE49-F238E27FC236}">
                <a16:creationId xmlns:a16="http://schemas.microsoft.com/office/drawing/2014/main" id="{D860E314-7E75-6A32-0733-49A866E96D24}"/>
              </a:ext>
            </a:extLst>
          </p:cNvPr>
          <p:cNvSpPr txBox="1"/>
          <p:nvPr/>
        </p:nvSpPr>
        <p:spPr>
          <a:xfrm>
            <a:off x="621924" y="1824544"/>
            <a:ext cx="10355956" cy="892552"/>
          </a:xfrm>
          <a:prstGeom prst="rect">
            <a:avLst/>
          </a:prstGeom>
          <a:noFill/>
        </p:spPr>
        <p:txBody>
          <a:bodyPr wrap="square" rtlCol="0">
            <a:spAutoFit/>
          </a:bodyPr>
          <a:lstStyle/>
          <a:p>
            <a:r>
              <a:rPr lang="en-US" sz="2600" dirty="0"/>
              <a:t>EMPOWER, is a similar company that found success in large cities proving the concept has traction in the world’s largest markets.</a:t>
            </a:r>
          </a:p>
        </p:txBody>
      </p:sp>
      <p:sp>
        <p:nvSpPr>
          <p:cNvPr id="10" name="TextBox 9">
            <a:extLst>
              <a:ext uri="{FF2B5EF4-FFF2-40B4-BE49-F238E27FC236}">
                <a16:creationId xmlns:a16="http://schemas.microsoft.com/office/drawing/2014/main" id="{AC4AB29C-E215-D7E6-0701-27C20E8A1E08}"/>
              </a:ext>
            </a:extLst>
          </p:cNvPr>
          <p:cNvSpPr txBox="1"/>
          <p:nvPr/>
        </p:nvSpPr>
        <p:spPr>
          <a:xfrm>
            <a:off x="706120" y="5053034"/>
            <a:ext cx="10355956" cy="892552"/>
          </a:xfrm>
          <a:prstGeom prst="rect">
            <a:avLst/>
          </a:prstGeom>
          <a:noFill/>
        </p:spPr>
        <p:txBody>
          <a:bodyPr wrap="square" rtlCol="0">
            <a:spAutoFit/>
          </a:bodyPr>
          <a:lstStyle/>
          <a:p>
            <a:r>
              <a:rPr lang="en-US" sz="2600" dirty="0"/>
              <a:t>Riders using Empower pay 20% less on average compared to Uber or Lyft.</a:t>
            </a:r>
          </a:p>
        </p:txBody>
      </p:sp>
      <p:sp>
        <p:nvSpPr>
          <p:cNvPr id="11" name="TextBox 10">
            <a:extLst>
              <a:ext uri="{FF2B5EF4-FFF2-40B4-BE49-F238E27FC236}">
                <a16:creationId xmlns:a16="http://schemas.microsoft.com/office/drawing/2014/main" id="{27A3943E-34C7-210A-CC27-A684FDD4045D}"/>
              </a:ext>
            </a:extLst>
          </p:cNvPr>
          <p:cNvSpPr txBox="1"/>
          <p:nvPr/>
        </p:nvSpPr>
        <p:spPr>
          <a:xfrm>
            <a:off x="10239116" y="6371131"/>
            <a:ext cx="1645920" cy="369332"/>
          </a:xfrm>
          <a:prstGeom prst="rect">
            <a:avLst/>
          </a:prstGeom>
          <a:noFill/>
        </p:spPr>
        <p:txBody>
          <a:bodyPr wrap="square" rtlCol="0">
            <a:spAutoFit/>
          </a:bodyPr>
          <a:lstStyle/>
          <a:p>
            <a:r>
              <a:rPr lang="en-US" dirty="0">
                <a:hlinkClick r:id="rId4"/>
              </a:rPr>
              <a:t>driveempower</a:t>
            </a:r>
            <a:endParaRPr lang="en-US" dirty="0"/>
          </a:p>
        </p:txBody>
      </p:sp>
    </p:spTree>
    <p:extLst>
      <p:ext uri="{BB962C8B-B14F-4D97-AF65-F5344CB8AC3E}">
        <p14:creationId xmlns:p14="http://schemas.microsoft.com/office/powerpoint/2010/main" val="390519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 descr="Picture">
            <a:extLst>
              <a:ext uri="{FF2B5EF4-FFF2-40B4-BE49-F238E27FC236}">
                <a16:creationId xmlns:a16="http://schemas.microsoft.com/office/drawing/2014/main" id="{00000000-0008-0000-0500-000002000000}"/>
              </a:ext>
            </a:extLst>
          </p:cNvPr>
          <p:cNvPicPr/>
          <p:nvPr/>
        </p:nvPicPr>
        <p:blipFill>
          <a:blip r:embed="rId2" cstate="print"/>
          <a:srcRect b="13836"/>
          <a:stretch>
            <a:fillRect/>
          </a:stretch>
        </p:blipFill>
        <p:spPr>
          <a:xfrm>
            <a:off x="19050" y="219710"/>
            <a:ext cx="12153900" cy="6638290"/>
          </a:xfrm>
          <a:prstGeom prst="rect">
            <a:avLst/>
          </a:prstGeom>
        </p:spPr>
      </p:pic>
    </p:spTree>
    <p:extLst>
      <p:ext uri="{BB962C8B-B14F-4D97-AF65-F5344CB8AC3E}">
        <p14:creationId xmlns:p14="http://schemas.microsoft.com/office/powerpoint/2010/main" val="459306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CDE75-7630-A667-1125-C7961C0F9F4F}"/>
              </a:ext>
            </a:extLst>
          </p:cNvPr>
          <p:cNvSpPr>
            <a:spLocks noGrp="1"/>
          </p:cNvSpPr>
          <p:nvPr>
            <p:ph type="title"/>
          </p:nvPr>
        </p:nvSpPr>
        <p:spPr>
          <a:xfrm>
            <a:off x="629920" y="365125"/>
            <a:ext cx="10723880" cy="1325563"/>
          </a:xfrm>
        </p:spPr>
        <p:txBody>
          <a:bodyPr/>
          <a:lstStyle/>
          <a:p>
            <a:r>
              <a:rPr lang="en-US" b="1"/>
              <a:t>PILOT </a:t>
            </a:r>
            <a:r>
              <a:rPr lang="en-US" b="1" dirty="0"/>
              <a:t>MARKET POTENTIAL</a:t>
            </a:r>
            <a:r>
              <a:rPr lang="en-US" b="1"/>
              <a:t> - AMMAN</a:t>
            </a:r>
            <a:r>
              <a:rPr lang="en-US" b="1" dirty="0"/>
              <a:t> </a:t>
            </a:r>
          </a:p>
        </p:txBody>
      </p:sp>
      <p:sp>
        <p:nvSpPr>
          <p:cNvPr id="3" name="Content Placeholder 2">
            <a:extLst>
              <a:ext uri="{FF2B5EF4-FFF2-40B4-BE49-F238E27FC236}">
                <a16:creationId xmlns:a16="http://schemas.microsoft.com/office/drawing/2014/main" id="{CEAC5ECE-BB8A-5666-7BC4-7B2F90A6F8BC}"/>
              </a:ext>
            </a:extLst>
          </p:cNvPr>
          <p:cNvSpPr>
            <a:spLocks noGrp="1"/>
          </p:cNvSpPr>
          <p:nvPr>
            <p:ph idx="1"/>
          </p:nvPr>
        </p:nvSpPr>
        <p:spPr>
          <a:xfrm>
            <a:off x="629920" y="4587556"/>
            <a:ext cx="10627360" cy="1325564"/>
          </a:xfrm>
        </p:spPr>
        <p:txBody>
          <a:bodyPr>
            <a:normAutofit/>
          </a:bodyPr>
          <a:lstStyle/>
          <a:p>
            <a:pPr marL="0" indent="0">
              <a:buNone/>
            </a:pPr>
            <a:r>
              <a:rPr lang="en-US" dirty="0"/>
              <a:t>By 2025, the revenue in this market is projected to reach US$63.36m and is expected to grow annually at a rate of 6.18%, resulting in a market volume of US$85.53m by 2030.</a:t>
            </a:r>
          </a:p>
        </p:txBody>
      </p:sp>
      <p:sp>
        <p:nvSpPr>
          <p:cNvPr id="4" name="TextBox 3">
            <a:extLst>
              <a:ext uri="{FF2B5EF4-FFF2-40B4-BE49-F238E27FC236}">
                <a16:creationId xmlns:a16="http://schemas.microsoft.com/office/drawing/2014/main" id="{3D6DB379-CDC9-0354-C83B-8EFC9C5A1ADE}"/>
              </a:ext>
            </a:extLst>
          </p:cNvPr>
          <p:cNvSpPr txBox="1"/>
          <p:nvPr/>
        </p:nvSpPr>
        <p:spPr>
          <a:xfrm>
            <a:off x="10782823" y="6308209"/>
            <a:ext cx="948914" cy="369332"/>
          </a:xfrm>
          <a:prstGeom prst="rect">
            <a:avLst/>
          </a:prstGeom>
          <a:noFill/>
        </p:spPr>
        <p:txBody>
          <a:bodyPr wrap="none" rtlCol="0">
            <a:spAutoFit/>
          </a:bodyPr>
          <a:lstStyle/>
          <a:p>
            <a:r>
              <a:rPr lang="en-US" dirty="0"/>
              <a:t>Statista</a:t>
            </a:r>
          </a:p>
        </p:txBody>
      </p:sp>
      <p:sp>
        <p:nvSpPr>
          <p:cNvPr id="5" name="Up Arrow 4">
            <a:extLst>
              <a:ext uri="{FF2B5EF4-FFF2-40B4-BE49-F238E27FC236}">
                <a16:creationId xmlns:a16="http://schemas.microsoft.com/office/drawing/2014/main" id="{676FBB1B-CC5A-E948-C9D2-9F0D2996B559}"/>
              </a:ext>
            </a:extLst>
          </p:cNvPr>
          <p:cNvSpPr/>
          <p:nvPr/>
        </p:nvSpPr>
        <p:spPr>
          <a:xfrm rot="3852278">
            <a:off x="3647997" y="794661"/>
            <a:ext cx="484632" cy="4709628"/>
          </a:xfrm>
          <a:prstGeom prst="up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96E93F3-4CBE-ECF2-7E6C-C6DF79AF407E}"/>
              </a:ext>
            </a:extLst>
          </p:cNvPr>
          <p:cNvSpPr/>
          <p:nvPr/>
        </p:nvSpPr>
        <p:spPr>
          <a:xfrm>
            <a:off x="6434667" y="1690688"/>
            <a:ext cx="914400" cy="914400"/>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FFB0196-FDC5-5855-4B59-4A00C0D55FE8}"/>
              </a:ext>
            </a:extLst>
          </p:cNvPr>
          <p:cNvSpPr txBox="1"/>
          <p:nvPr/>
        </p:nvSpPr>
        <p:spPr>
          <a:xfrm>
            <a:off x="5991860" y="2782669"/>
            <a:ext cx="2319868" cy="646331"/>
          </a:xfrm>
          <a:prstGeom prst="rect">
            <a:avLst/>
          </a:prstGeom>
          <a:noFill/>
        </p:spPr>
        <p:txBody>
          <a:bodyPr wrap="square">
            <a:spAutoFit/>
          </a:bodyPr>
          <a:lstStyle/>
          <a:p>
            <a:pPr algn="ctr"/>
            <a:r>
              <a:rPr lang="en-US" dirty="0"/>
              <a:t>Annual growth rate </a:t>
            </a:r>
          </a:p>
          <a:p>
            <a:pPr algn="ctr"/>
            <a:r>
              <a:rPr lang="en-US" dirty="0"/>
              <a:t>at a rate of 6.18%, </a:t>
            </a:r>
          </a:p>
        </p:txBody>
      </p:sp>
    </p:spTree>
    <p:extLst>
      <p:ext uri="{BB962C8B-B14F-4D97-AF65-F5344CB8AC3E}">
        <p14:creationId xmlns:p14="http://schemas.microsoft.com/office/powerpoint/2010/main" val="3959019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F581C-4DC1-873B-D247-AC9468051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A7272-7BD4-552B-0107-DEC562C7AEF6}"/>
              </a:ext>
            </a:extLst>
          </p:cNvPr>
          <p:cNvSpPr>
            <a:spLocks noGrp="1"/>
          </p:cNvSpPr>
          <p:nvPr>
            <p:ph type="title"/>
          </p:nvPr>
        </p:nvSpPr>
        <p:spPr>
          <a:xfrm>
            <a:off x="629920" y="365125"/>
            <a:ext cx="10723880" cy="1325563"/>
          </a:xfrm>
        </p:spPr>
        <p:txBody>
          <a:bodyPr/>
          <a:lstStyle/>
          <a:p>
            <a:r>
              <a:rPr lang="en-US" b="1"/>
              <a:t>PILOT </a:t>
            </a:r>
            <a:r>
              <a:rPr lang="en-US" b="1" dirty="0"/>
              <a:t>MARKET POTENTIAL</a:t>
            </a:r>
            <a:r>
              <a:rPr lang="en-US" b="1"/>
              <a:t> - AMMAN</a:t>
            </a:r>
            <a:r>
              <a:rPr lang="en-US" b="1" dirty="0"/>
              <a:t> </a:t>
            </a:r>
          </a:p>
        </p:txBody>
      </p:sp>
      <p:sp>
        <p:nvSpPr>
          <p:cNvPr id="3" name="Content Placeholder 2">
            <a:extLst>
              <a:ext uri="{FF2B5EF4-FFF2-40B4-BE49-F238E27FC236}">
                <a16:creationId xmlns:a16="http://schemas.microsoft.com/office/drawing/2014/main" id="{2CFDDAC8-A92E-5F94-ED79-06AE5B9ED257}"/>
              </a:ext>
            </a:extLst>
          </p:cNvPr>
          <p:cNvSpPr>
            <a:spLocks noGrp="1"/>
          </p:cNvSpPr>
          <p:nvPr>
            <p:ph idx="1"/>
          </p:nvPr>
        </p:nvSpPr>
        <p:spPr>
          <a:xfrm>
            <a:off x="629920" y="4452089"/>
            <a:ext cx="5855547" cy="1325564"/>
          </a:xfrm>
        </p:spPr>
        <p:txBody>
          <a:bodyPr>
            <a:normAutofit fontScale="92500" lnSpcReduction="20000"/>
          </a:bodyPr>
          <a:lstStyle/>
          <a:p>
            <a:pPr marL="0" indent="0">
              <a:buNone/>
            </a:pPr>
            <a:r>
              <a:rPr lang="en-US" dirty="0"/>
              <a:t>It is estimated that the number of users in this market will amount to 3.26m users by 2030, with user penetration projected to be 26.2% by 2030.</a:t>
            </a:r>
          </a:p>
        </p:txBody>
      </p:sp>
      <p:sp>
        <p:nvSpPr>
          <p:cNvPr id="4" name="TextBox 3">
            <a:extLst>
              <a:ext uri="{FF2B5EF4-FFF2-40B4-BE49-F238E27FC236}">
                <a16:creationId xmlns:a16="http://schemas.microsoft.com/office/drawing/2014/main" id="{4424D2BC-633E-00B3-5F56-B051A8BBD29B}"/>
              </a:ext>
            </a:extLst>
          </p:cNvPr>
          <p:cNvSpPr txBox="1"/>
          <p:nvPr/>
        </p:nvSpPr>
        <p:spPr>
          <a:xfrm>
            <a:off x="10782823" y="6308209"/>
            <a:ext cx="948914" cy="369332"/>
          </a:xfrm>
          <a:prstGeom prst="rect">
            <a:avLst/>
          </a:prstGeom>
          <a:noFill/>
        </p:spPr>
        <p:txBody>
          <a:bodyPr wrap="none" rtlCol="0">
            <a:spAutoFit/>
          </a:bodyPr>
          <a:lstStyle/>
          <a:p>
            <a:r>
              <a:rPr lang="en-US" dirty="0"/>
              <a:t>Statista</a:t>
            </a:r>
          </a:p>
        </p:txBody>
      </p:sp>
      <p:pic>
        <p:nvPicPr>
          <p:cNvPr id="1028" name="Picture 4" descr="Black and White Icon of a Driver Behind the Wheel Stock Vector -  Illustration of professional, taxi: 378577106">
            <a:hlinkClick r:id="rId2"/>
            <a:extLst>
              <a:ext uri="{FF2B5EF4-FFF2-40B4-BE49-F238E27FC236}">
                <a16:creationId xmlns:a16="http://schemas.microsoft.com/office/drawing/2014/main" id="{39BC66B6-F806-B34F-B2A9-287B17874E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9410" y="1690688"/>
            <a:ext cx="3990763" cy="3990763"/>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Black and White Icon of a Driver Behind the Wheel Stock Vector -  Illustration of professional, taxi: 378577106">
            <a:extLst>
              <a:ext uri="{FF2B5EF4-FFF2-40B4-BE49-F238E27FC236}">
                <a16:creationId xmlns:a16="http://schemas.microsoft.com/office/drawing/2014/main" id="{B08EEE3C-00DC-A7A4-08FF-3BDF63C765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6230" y="-2953809"/>
            <a:ext cx="866775" cy="86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024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CECAC-0E42-691D-BF5C-753139DE4E29}"/>
              </a:ext>
            </a:extLst>
          </p:cNvPr>
          <p:cNvSpPr>
            <a:spLocks noGrp="1"/>
          </p:cNvSpPr>
          <p:nvPr>
            <p:ph type="title"/>
          </p:nvPr>
        </p:nvSpPr>
        <p:spPr>
          <a:xfrm>
            <a:off x="353291" y="351270"/>
            <a:ext cx="5742709" cy="604693"/>
          </a:xfrm>
        </p:spPr>
        <p:txBody>
          <a:bodyPr>
            <a:normAutofit fontScale="90000"/>
          </a:bodyPr>
          <a:lstStyle/>
          <a:p>
            <a:r>
              <a:rPr lang="en-US" b="1" dirty="0"/>
              <a:t>FINANCIAL PROJECTIONS - AMMAN</a:t>
            </a:r>
          </a:p>
        </p:txBody>
      </p:sp>
      <p:graphicFrame>
        <p:nvGraphicFramePr>
          <p:cNvPr id="5" name="Chart 4">
            <a:extLst>
              <a:ext uri="{FF2B5EF4-FFF2-40B4-BE49-F238E27FC236}">
                <a16:creationId xmlns:a16="http://schemas.microsoft.com/office/drawing/2014/main" id="{1663CA9A-2D6F-BEF3-44F7-97AF5D6AC410}"/>
              </a:ext>
            </a:extLst>
          </p:cNvPr>
          <p:cNvGraphicFramePr>
            <a:graphicFrameLocks/>
          </p:cNvGraphicFramePr>
          <p:nvPr>
            <p:extLst>
              <p:ext uri="{D42A27DB-BD31-4B8C-83A1-F6EECF244321}">
                <p14:modId xmlns:p14="http://schemas.microsoft.com/office/powerpoint/2010/main" val="4017320104"/>
              </p:ext>
            </p:extLst>
          </p:nvPr>
        </p:nvGraphicFramePr>
        <p:xfrm>
          <a:off x="-203980" y="2159289"/>
          <a:ext cx="6677893" cy="43226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AFA657EA-96F6-2766-6E04-CD9053345DAE}"/>
              </a:ext>
            </a:extLst>
          </p:cNvPr>
          <p:cNvGraphicFramePr>
            <a:graphicFrameLocks/>
          </p:cNvGraphicFramePr>
          <p:nvPr>
            <p:extLst>
              <p:ext uri="{D42A27DB-BD31-4B8C-83A1-F6EECF244321}">
                <p14:modId xmlns:p14="http://schemas.microsoft.com/office/powerpoint/2010/main" val="1649948587"/>
              </p:ext>
            </p:extLst>
          </p:nvPr>
        </p:nvGraphicFramePr>
        <p:xfrm>
          <a:off x="6207213" y="222538"/>
          <a:ext cx="6082145" cy="404466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0376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2911-CCDB-02DF-C25C-506D4B36F4E9}"/>
              </a:ext>
            </a:extLst>
          </p:cNvPr>
          <p:cNvSpPr>
            <a:spLocks noGrp="1"/>
          </p:cNvSpPr>
          <p:nvPr>
            <p:ph type="title"/>
          </p:nvPr>
        </p:nvSpPr>
        <p:spPr/>
        <p:txBody>
          <a:bodyPr/>
          <a:lstStyle/>
          <a:p>
            <a:r>
              <a:rPr lang="en-US" b="1"/>
              <a:t>BROADER MARKET POTENTIAL </a:t>
            </a:r>
          </a:p>
        </p:txBody>
      </p:sp>
      <p:pic>
        <p:nvPicPr>
          <p:cNvPr id="5" name="Picture 4" descr="A screenshot of a graph&#10;&#10;AI-generated content may be incorrect.">
            <a:extLst>
              <a:ext uri="{FF2B5EF4-FFF2-40B4-BE49-F238E27FC236}">
                <a16:creationId xmlns:a16="http://schemas.microsoft.com/office/drawing/2014/main" id="{4392CE8F-B4F7-10F4-C077-AB2F241E8880}"/>
              </a:ext>
            </a:extLst>
          </p:cNvPr>
          <p:cNvPicPr>
            <a:picLocks noChangeAspect="1"/>
          </p:cNvPicPr>
          <p:nvPr/>
        </p:nvPicPr>
        <p:blipFill>
          <a:blip r:embed="rId2"/>
          <a:stretch>
            <a:fillRect/>
          </a:stretch>
        </p:blipFill>
        <p:spPr>
          <a:xfrm>
            <a:off x="301336" y="1690687"/>
            <a:ext cx="9695279" cy="4540281"/>
          </a:xfrm>
          <a:prstGeom prst="rect">
            <a:avLst/>
          </a:prstGeom>
        </p:spPr>
      </p:pic>
      <p:sp>
        <p:nvSpPr>
          <p:cNvPr id="6" name="TextBox 5">
            <a:extLst>
              <a:ext uri="{FF2B5EF4-FFF2-40B4-BE49-F238E27FC236}">
                <a16:creationId xmlns:a16="http://schemas.microsoft.com/office/drawing/2014/main" id="{2A560975-A1B2-0185-F167-1D2ACADA3DA2}"/>
              </a:ext>
            </a:extLst>
          </p:cNvPr>
          <p:cNvSpPr txBox="1"/>
          <p:nvPr/>
        </p:nvSpPr>
        <p:spPr>
          <a:xfrm>
            <a:off x="9301655" y="451945"/>
            <a:ext cx="2270235" cy="1200329"/>
          </a:xfrm>
          <a:prstGeom prst="rect">
            <a:avLst/>
          </a:prstGeom>
          <a:noFill/>
        </p:spPr>
        <p:txBody>
          <a:bodyPr wrap="square" rtlCol="0">
            <a:spAutoFit/>
          </a:bodyPr>
          <a:lstStyle/>
          <a:p>
            <a:r>
              <a:rPr lang="en-US" dirty="0">
                <a:hlinkClick r:id="rId3"/>
              </a:rPr>
              <a:t>https://www.mordorintelligence.com/industry-reports/qatar-taxi-market</a:t>
            </a:r>
            <a:r>
              <a:rPr lang="en-US" dirty="0"/>
              <a:t> </a:t>
            </a:r>
          </a:p>
        </p:txBody>
      </p:sp>
    </p:spTree>
    <p:extLst>
      <p:ext uri="{BB962C8B-B14F-4D97-AF65-F5344CB8AC3E}">
        <p14:creationId xmlns:p14="http://schemas.microsoft.com/office/powerpoint/2010/main" val="1850588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81FF-49A3-023F-A82B-F2C69FD65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20A40-4185-EB6A-777E-DD0B13ED509D}"/>
              </a:ext>
            </a:extLst>
          </p:cNvPr>
          <p:cNvSpPr>
            <a:spLocks noGrp="1"/>
          </p:cNvSpPr>
          <p:nvPr>
            <p:ph type="title"/>
          </p:nvPr>
        </p:nvSpPr>
        <p:spPr/>
        <p:txBody>
          <a:bodyPr/>
          <a:lstStyle/>
          <a:p>
            <a:r>
              <a:rPr lang="en-US" b="1" dirty="0"/>
              <a:t>BROADER MARKET POTENTIAL - GCC </a:t>
            </a:r>
          </a:p>
        </p:txBody>
      </p:sp>
      <p:pic>
        <p:nvPicPr>
          <p:cNvPr id="4" name="Picture 3" descr="A screenshot of a graph&#10;&#10;AI-generated content may be incorrect.">
            <a:extLst>
              <a:ext uri="{FF2B5EF4-FFF2-40B4-BE49-F238E27FC236}">
                <a16:creationId xmlns:a16="http://schemas.microsoft.com/office/drawing/2014/main" id="{E50B0F40-5BB9-25A2-FD37-A6CB4202CA25}"/>
              </a:ext>
            </a:extLst>
          </p:cNvPr>
          <p:cNvPicPr>
            <a:picLocks noChangeAspect="1"/>
          </p:cNvPicPr>
          <p:nvPr/>
        </p:nvPicPr>
        <p:blipFill>
          <a:blip r:embed="rId2"/>
          <a:srcRect t="11883"/>
          <a:stretch>
            <a:fillRect/>
          </a:stretch>
        </p:blipFill>
        <p:spPr>
          <a:xfrm>
            <a:off x="538017" y="1369078"/>
            <a:ext cx="10652992" cy="5442568"/>
          </a:xfrm>
          <a:prstGeom prst="rect">
            <a:avLst/>
          </a:prstGeom>
        </p:spPr>
      </p:pic>
      <p:sp>
        <p:nvSpPr>
          <p:cNvPr id="12" name="Rectangle 11">
            <a:extLst>
              <a:ext uri="{FF2B5EF4-FFF2-40B4-BE49-F238E27FC236}">
                <a16:creationId xmlns:a16="http://schemas.microsoft.com/office/drawing/2014/main" id="{B286469E-1888-9150-BF39-41F6114F2442}"/>
              </a:ext>
            </a:extLst>
          </p:cNvPr>
          <p:cNvSpPr/>
          <p:nvPr/>
        </p:nvSpPr>
        <p:spPr>
          <a:xfrm>
            <a:off x="6252519" y="4769711"/>
            <a:ext cx="4819135" cy="778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AA5DDE3-BB09-FD7A-0514-D6F769AF6B86}"/>
              </a:ext>
            </a:extLst>
          </p:cNvPr>
          <p:cNvPicPr>
            <a:picLocks noChangeAspect="1"/>
          </p:cNvPicPr>
          <p:nvPr/>
        </p:nvPicPr>
        <p:blipFill>
          <a:blip r:embed="rId3"/>
          <a:stretch>
            <a:fillRect/>
          </a:stretch>
        </p:blipFill>
        <p:spPr>
          <a:xfrm>
            <a:off x="8616626" y="5388077"/>
            <a:ext cx="2046510" cy="1245782"/>
          </a:xfrm>
          <a:prstGeom prst="rect">
            <a:avLst/>
          </a:prstGeom>
          <a:ln>
            <a:noFill/>
          </a:ln>
        </p:spPr>
      </p:pic>
      <p:pic>
        <p:nvPicPr>
          <p:cNvPr id="7" name="Picture 6">
            <a:extLst>
              <a:ext uri="{FF2B5EF4-FFF2-40B4-BE49-F238E27FC236}">
                <a16:creationId xmlns:a16="http://schemas.microsoft.com/office/drawing/2014/main" id="{E0BD1453-E21A-7AA4-3562-9634229FF206}"/>
              </a:ext>
            </a:extLst>
          </p:cNvPr>
          <p:cNvPicPr>
            <a:picLocks noChangeAspect="1"/>
          </p:cNvPicPr>
          <p:nvPr/>
        </p:nvPicPr>
        <p:blipFill>
          <a:blip r:embed="rId4"/>
          <a:stretch>
            <a:fillRect/>
          </a:stretch>
        </p:blipFill>
        <p:spPr>
          <a:xfrm>
            <a:off x="9214956" y="4687401"/>
            <a:ext cx="1736314" cy="904031"/>
          </a:xfrm>
          <a:prstGeom prst="rect">
            <a:avLst/>
          </a:prstGeom>
          <a:ln>
            <a:noFill/>
          </a:ln>
        </p:spPr>
      </p:pic>
      <p:pic>
        <p:nvPicPr>
          <p:cNvPr id="8" name="Picture 7">
            <a:extLst>
              <a:ext uri="{FF2B5EF4-FFF2-40B4-BE49-F238E27FC236}">
                <a16:creationId xmlns:a16="http://schemas.microsoft.com/office/drawing/2014/main" id="{FFBA3363-7042-175D-6CB6-1673C0EED062}"/>
              </a:ext>
            </a:extLst>
          </p:cNvPr>
          <p:cNvPicPr>
            <a:picLocks noChangeAspect="1"/>
          </p:cNvPicPr>
          <p:nvPr/>
        </p:nvPicPr>
        <p:blipFill>
          <a:blip r:embed="rId5"/>
          <a:stretch>
            <a:fillRect/>
          </a:stretch>
        </p:blipFill>
        <p:spPr>
          <a:xfrm>
            <a:off x="6089728" y="5442315"/>
            <a:ext cx="2526898" cy="957999"/>
          </a:xfrm>
          <a:prstGeom prst="rect">
            <a:avLst/>
          </a:prstGeom>
          <a:ln>
            <a:noFill/>
          </a:ln>
        </p:spPr>
      </p:pic>
      <p:pic>
        <p:nvPicPr>
          <p:cNvPr id="11" name="Picture 10">
            <a:extLst>
              <a:ext uri="{FF2B5EF4-FFF2-40B4-BE49-F238E27FC236}">
                <a16:creationId xmlns:a16="http://schemas.microsoft.com/office/drawing/2014/main" id="{9F40FADE-E54F-5E01-C942-C333CDC7D8F9}"/>
              </a:ext>
            </a:extLst>
          </p:cNvPr>
          <p:cNvPicPr>
            <a:picLocks noChangeAspect="1"/>
          </p:cNvPicPr>
          <p:nvPr/>
        </p:nvPicPr>
        <p:blipFill>
          <a:blip r:embed="rId6"/>
          <a:stretch>
            <a:fillRect/>
          </a:stretch>
        </p:blipFill>
        <p:spPr>
          <a:xfrm>
            <a:off x="6397616" y="4841753"/>
            <a:ext cx="2817340" cy="904032"/>
          </a:xfrm>
          <a:prstGeom prst="rect">
            <a:avLst/>
          </a:prstGeom>
          <a:ln>
            <a:noFill/>
          </a:ln>
        </p:spPr>
      </p:pic>
    </p:spTree>
    <p:extLst>
      <p:ext uri="{BB962C8B-B14F-4D97-AF65-F5344CB8AC3E}">
        <p14:creationId xmlns:p14="http://schemas.microsoft.com/office/powerpoint/2010/main" val="868528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7C036-F38D-FE5B-6F70-04642823C991}"/>
              </a:ext>
            </a:extLst>
          </p:cNvPr>
          <p:cNvSpPr>
            <a:spLocks noGrp="1"/>
          </p:cNvSpPr>
          <p:nvPr>
            <p:ph type="title"/>
          </p:nvPr>
        </p:nvSpPr>
        <p:spPr/>
        <p:txBody>
          <a:bodyPr/>
          <a:lstStyle/>
          <a:p>
            <a:r>
              <a:rPr lang="en-US" b="1" dirty="0"/>
              <a:t>INVESTMENT REQUIRED </a:t>
            </a:r>
          </a:p>
        </p:txBody>
      </p:sp>
      <p:sp>
        <p:nvSpPr>
          <p:cNvPr id="3" name="Content Placeholder 2">
            <a:extLst>
              <a:ext uri="{FF2B5EF4-FFF2-40B4-BE49-F238E27FC236}">
                <a16:creationId xmlns:a16="http://schemas.microsoft.com/office/drawing/2014/main" id="{5027C27E-E018-D9BE-45F9-46F395FCEB51}"/>
              </a:ext>
            </a:extLst>
          </p:cNvPr>
          <p:cNvSpPr>
            <a:spLocks noGrp="1"/>
          </p:cNvSpPr>
          <p:nvPr>
            <p:ph idx="1"/>
          </p:nvPr>
        </p:nvSpPr>
        <p:spPr/>
        <p:txBody>
          <a:bodyPr/>
          <a:lstStyle/>
          <a:p>
            <a:r>
              <a:rPr lang="en-US" dirty="0"/>
              <a:t>Local Offices: Management HQ, Customer Care, Onboarding Driver center</a:t>
            </a:r>
          </a:p>
          <a:p>
            <a:r>
              <a:rPr lang="en-US" dirty="0"/>
              <a:t>Legal and regulation: Permits, Insurance, Licensing</a:t>
            </a:r>
          </a:p>
          <a:p>
            <a:r>
              <a:rPr lang="en-US" dirty="0"/>
              <a:t>Workforce: Management employees, customer care employees, legal team, advertising team, strategic roles</a:t>
            </a:r>
          </a:p>
          <a:p>
            <a:r>
              <a:rPr lang="en-US" dirty="0"/>
              <a:t>Training centers: Quality control, safety standards, people skills training</a:t>
            </a:r>
          </a:p>
          <a:p>
            <a:r>
              <a:rPr lang="en-US" dirty="0"/>
              <a:t>Tech: Servers, maintenance workers, developers</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2085312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88A6-EF11-6AE5-4088-A595C92D9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F6027-BCD4-9AF5-9E60-98301F6EC277}"/>
              </a:ext>
            </a:extLst>
          </p:cNvPr>
          <p:cNvSpPr>
            <a:spLocks noGrp="1"/>
          </p:cNvSpPr>
          <p:nvPr>
            <p:ph type="title"/>
          </p:nvPr>
        </p:nvSpPr>
        <p:spPr/>
        <p:txBody>
          <a:bodyPr/>
          <a:lstStyle/>
          <a:p>
            <a:r>
              <a:rPr lang="en-US" b="1" dirty="0"/>
              <a:t>INVESTMENT REQUIRED </a:t>
            </a:r>
            <a:r>
              <a:rPr lang="en-US" b="1"/>
              <a:t>– AMMAN  </a:t>
            </a:r>
            <a:endParaRPr lang="en-US" b="1" dirty="0"/>
          </a:p>
        </p:txBody>
      </p:sp>
      <p:sp>
        <p:nvSpPr>
          <p:cNvPr id="5" name="Rectangle 4">
            <a:extLst>
              <a:ext uri="{FF2B5EF4-FFF2-40B4-BE49-F238E27FC236}">
                <a16:creationId xmlns:a16="http://schemas.microsoft.com/office/drawing/2014/main" id="{4D9E3C5A-4369-7280-54CB-56B5F7103383}"/>
              </a:ext>
            </a:extLst>
          </p:cNvPr>
          <p:cNvSpPr/>
          <p:nvPr/>
        </p:nvSpPr>
        <p:spPr>
          <a:xfrm>
            <a:off x="3759198" y="2760992"/>
            <a:ext cx="268393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 &amp; IT</a:t>
            </a:r>
          </a:p>
          <a:p>
            <a:pPr algn="ctr"/>
            <a:r>
              <a:rPr lang="en-US" dirty="0"/>
              <a:t>JD100,000</a:t>
            </a:r>
          </a:p>
        </p:txBody>
      </p:sp>
      <p:sp>
        <p:nvSpPr>
          <p:cNvPr id="6" name="Rectangle 5">
            <a:extLst>
              <a:ext uri="{FF2B5EF4-FFF2-40B4-BE49-F238E27FC236}">
                <a16:creationId xmlns:a16="http://schemas.microsoft.com/office/drawing/2014/main" id="{6031A7FA-ED7E-9BEE-9FDF-5FA9FF29C917}"/>
              </a:ext>
            </a:extLst>
          </p:cNvPr>
          <p:cNvSpPr/>
          <p:nvPr/>
        </p:nvSpPr>
        <p:spPr>
          <a:xfrm>
            <a:off x="838199" y="4062542"/>
            <a:ext cx="268393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OPEX&amp;</a:t>
            </a:r>
            <a:r>
              <a:rPr lang="en-US" dirty="0"/>
              <a:t>CAPEX</a:t>
            </a:r>
          </a:p>
        </p:txBody>
      </p:sp>
      <p:sp>
        <p:nvSpPr>
          <p:cNvPr id="7" name="Rectangle 6">
            <a:extLst>
              <a:ext uri="{FF2B5EF4-FFF2-40B4-BE49-F238E27FC236}">
                <a16:creationId xmlns:a16="http://schemas.microsoft.com/office/drawing/2014/main" id="{45BC6531-A6CF-C4E0-1336-ACE96EC4C8F0}"/>
              </a:ext>
            </a:extLst>
          </p:cNvPr>
          <p:cNvSpPr/>
          <p:nvPr/>
        </p:nvSpPr>
        <p:spPr>
          <a:xfrm>
            <a:off x="3759198" y="4062542"/>
            <a:ext cx="268393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LEGAL</a:t>
            </a:r>
          </a:p>
        </p:txBody>
      </p:sp>
      <p:sp>
        <p:nvSpPr>
          <p:cNvPr id="8" name="Rectangle 7">
            <a:extLst>
              <a:ext uri="{FF2B5EF4-FFF2-40B4-BE49-F238E27FC236}">
                <a16:creationId xmlns:a16="http://schemas.microsoft.com/office/drawing/2014/main" id="{8FB48703-EF35-5A6B-B75A-7582F57922B2}"/>
              </a:ext>
            </a:extLst>
          </p:cNvPr>
          <p:cNvSpPr/>
          <p:nvPr/>
        </p:nvSpPr>
        <p:spPr>
          <a:xfrm>
            <a:off x="821263" y="2761851"/>
            <a:ext cx="2683933" cy="9523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GOVT LICENSE</a:t>
            </a:r>
          </a:p>
          <a:p>
            <a:pPr algn="ctr"/>
            <a:r>
              <a:rPr lang="en-US" dirty="0"/>
              <a:t>JD100,000</a:t>
            </a:r>
          </a:p>
        </p:txBody>
      </p:sp>
      <p:sp>
        <p:nvSpPr>
          <p:cNvPr id="9" name="Rectangle 8">
            <a:extLst>
              <a:ext uri="{FF2B5EF4-FFF2-40B4-BE49-F238E27FC236}">
                <a16:creationId xmlns:a16="http://schemas.microsoft.com/office/drawing/2014/main" id="{A4752A36-B2CC-EBD4-10B9-F0FDB013EB7D}"/>
              </a:ext>
            </a:extLst>
          </p:cNvPr>
          <p:cNvSpPr/>
          <p:nvPr/>
        </p:nvSpPr>
        <p:spPr>
          <a:xfrm>
            <a:off x="6697133" y="2760992"/>
            <a:ext cx="268393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WORKING CAPITAL</a:t>
            </a:r>
          </a:p>
        </p:txBody>
      </p:sp>
      <p:sp>
        <p:nvSpPr>
          <p:cNvPr id="11" name="Rectangle 10">
            <a:extLst>
              <a:ext uri="{FF2B5EF4-FFF2-40B4-BE49-F238E27FC236}">
                <a16:creationId xmlns:a16="http://schemas.microsoft.com/office/drawing/2014/main" id="{D653859F-452A-C9E4-6A19-E6BE687DAEC3}"/>
              </a:ext>
            </a:extLst>
          </p:cNvPr>
          <p:cNvSpPr/>
          <p:nvPr/>
        </p:nvSpPr>
        <p:spPr>
          <a:xfrm>
            <a:off x="6697133" y="4062542"/>
            <a:ext cx="268393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ADVERTISING</a:t>
            </a:r>
          </a:p>
        </p:txBody>
      </p:sp>
    </p:spTree>
    <p:extLst>
      <p:ext uri="{BB962C8B-B14F-4D97-AF65-F5344CB8AC3E}">
        <p14:creationId xmlns:p14="http://schemas.microsoft.com/office/powerpoint/2010/main" val="4258441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AE777-65E2-E4BE-B67F-0ED3EEADCEA7}"/>
              </a:ext>
            </a:extLst>
          </p:cNvPr>
          <p:cNvSpPr>
            <a:spLocks noGrp="1"/>
          </p:cNvSpPr>
          <p:nvPr>
            <p:ph type="title"/>
          </p:nvPr>
        </p:nvSpPr>
        <p:spPr>
          <a:xfrm>
            <a:off x="589558" y="244742"/>
            <a:ext cx="7015498" cy="1235225"/>
          </a:xfrm>
        </p:spPr>
        <p:txBody>
          <a:bodyPr vert="horz" lIns="91440" tIns="45720" rIns="91440" bIns="45720" rtlCol="0" anchor="ctr">
            <a:normAutofit/>
          </a:bodyPr>
          <a:lstStyle/>
          <a:p>
            <a:r>
              <a:rPr lang="en-US" sz="3600" b="1" kern="1200">
                <a:solidFill>
                  <a:schemeClr val="tx1"/>
                </a:solidFill>
                <a:latin typeface="+mj-lt"/>
                <a:ea typeface="+mj-ea"/>
                <a:cs typeface="+mj-cs"/>
              </a:rPr>
              <a:t>EXIT STRATEGY</a:t>
            </a:r>
          </a:p>
        </p:txBody>
      </p:sp>
      <p:sp>
        <p:nvSpPr>
          <p:cNvPr id="3" name="Content Placeholder 2">
            <a:extLst>
              <a:ext uri="{FF2B5EF4-FFF2-40B4-BE49-F238E27FC236}">
                <a16:creationId xmlns:a16="http://schemas.microsoft.com/office/drawing/2014/main" id="{BCC919DA-EECC-F0A7-9486-4E2540F13E42}"/>
              </a:ext>
            </a:extLst>
          </p:cNvPr>
          <p:cNvSpPr>
            <a:spLocks noGrp="1"/>
          </p:cNvSpPr>
          <p:nvPr>
            <p:ph idx="1"/>
          </p:nvPr>
        </p:nvSpPr>
        <p:spPr>
          <a:xfrm>
            <a:off x="7605057" y="244741"/>
            <a:ext cx="4114801" cy="1235226"/>
          </a:xfrm>
        </p:spPr>
        <p:txBody>
          <a:bodyPr vert="horz" lIns="91440" tIns="45720" rIns="91440" bIns="45720" rtlCol="0" anchor="ctr">
            <a:normAutofit/>
          </a:bodyPr>
          <a:lstStyle/>
          <a:p>
            <a:pPr marL="0" indent="0" algn="r">
              <a:buNone/>
            </a:pPr>
            <a:r>
              <a:rPr lang="en-US" sz="2000" kern="1200">
                <a:solidFill>
                  <a:schemeClr val="tx1"/>
                </a:solidFill>
                <a:latin typeface="+mn-lt"/>
                <a:ea typeface="+mn-ea"/>
                <a:cs typeface="+mn-cs"/>
              </a:rPr>
              <a:t>*IDK if this slide is important</a:t>
            </a:r>
          </a:p>
        </p:txBody>
      </p:sp>
      <p:pic>
        <p:nvPicPr>
          <p:cNvPr id="5" name="Picture 4" descr="A screenshot of a computer screen&#10;&#10;AI-generated content may be incorrect.">
            <a:extLst>
              <a:ext uri="{FF2B5EF4-FFF2-40B4-BE49-F238E27FC236}">
                <a16:creationId xmlns:a16="http://schemas.microsoft.com/office/drawing/2014/main" id="{5082DC15-8583-E92A-7258-F19D9CDF6745}"/>
              </a:ext>
            </a:extLst>
          </p:cNvPr>
          <p:cNvPicPr>
            <a:picLocks noChangeAspect="1"/>
          </p:cNvPicPr>
          <p:nvPr/>
        </p:nvPicPr>
        <p:blipFill>
          <a:blip r:embed="rId2"/>
          <a:stretch>
            <a:fillRect/>
          </a:stretch>
        </p:blipFill>
        <p:spPr>
          <a:xfrm>
            <a:off x="761801" y="2377277"/>
            <a:ext cx="10668003" cy="3840480"/>
          </a:xfrm>
          <a:prstGeom prst="rect">
            <a:avLst/>
          </a:prstGeom>
          <a:effectLst/>
        </p:spPr>
      </p:pic>
    </p:spTree>
    <p:extLst>
      <p:ext uri="{BB962C8B-B14F-4D97-AF65-F5344CB8AC3E}">
        <p14:creationId xmlns:p14="http://schemas.microsoft.com/office/powerpoint/2010/main" val="3552706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58CC5-7EE5-786F-A20B-647EF567B3CD}"/>
              </a:ext>
            </a:extLst>
          </p:cNvPr>
          <p:cNvSpPr>
            <a:spLocks noGrp="1"/>
          </p:cNvSpPr>
          <p:nvPr>
            <p:ph type="title"/>
          </p:nvPr>
        </p:nvSpPr>
        <p:spPr/>
        <p:txBody>
          <a:bodyPr/>
          <a:lstStyle/>
          <a:p>
            <a:r>
              <a:rPr lang="en-US" b="1" dirty="0"/>
              <a:t>TEAM</a:t>
            </a:r>
          </a:p>
        </p:txBody>
      </p:sp>
      <p:sp>
        <p:nvSpPr>
          <p:cNvPr id="3" name="Content Placeholder 2">
            <a:extLst>
              <a:ext uri="{FF2B5EF4-FFF2-40B4-BE49-F238E27FC236}">
                <a16:creationId xmlns:a16="http://schemas.microsoft.com/office/drawing/2014/main" id="{0DB7BE6C-3E35-D190-36BF-DF8B61CCE638}"/>
              </a:ext>
            </a:extLst>
          </p:cNvPr>
          <p:cNvSpPr>
            <a:spLocks noGrp="1"/>
          </p:cNvSpPr>
          <p:nvPr>
            <p:ph idx="1"/>
          </p:nvPr>
        </p:nvSpPr>
        <p:spPr/>
        <p:txBody>
          <a:bodyPr/>
          <a:lstStyle/>
          <a:p>
            <a:pPr marL="0" indent="0">
              <a:buNone/>
            </a:pPr>
            <a:r>
              <a:rPr lang="en-US"/>
              <a:t>Us!</a:t>
            </a:r>
          </a:p>
        </p:txBody>
      </p:sp>
    </p:spTree>
    <p:extLst>
      <p:ext uri="{BB962C8B-B14F-4D97-AF65-F5344CB8AC3E}">
        <p14:creationId xmlns:p14="http://schemas.microsoft.com/office/powerpoint/2010/main" val="2521838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44240</TotalTime>
  <Words>639</Words>
  <Application>Microsoft Macintosh PowerPoint</Application>
  <PresentationFormat>Widescreen</PresentationFormat>
  <Paragraphs>96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Wasel</vt:lpstr>
      <vt:lpstr>OPERATING ENVIRONMENT</vt:lpstr>
      <vt:lpstr>OPERATING ENVIRONMENT</vt:lpstr>
      <vt:lpstr>COMPETITIVE LANDSCAPE</vt:lpstr>
      <vt:lpstr>MARKET CHALLENGE</vt:lpstr>
      <vt:lpstr>MARKET CHALLENGE</vt:lpstr>
      <vt:lpstr>MARKET OPPORTUNITY</vt:lpstr>
      <vt:lpstr>THE SOLUTION</vt:lpstr>
      <vt:lpstr>THE IDEA</vt:lpstr>
      <vt:lpstr>THE TIERED SUBSCRIPTION MODEL</vt:lpstr>
      <vt:lpstr>THE MORE THEY MAKE, THEY GET:</vt:lpstr>
      <vt:lpstr>ROADMAP</vt:lpstr>
      <vt:lpstr>PROOF OF CONCEPT…. NY, DC, MIAMI</vt:lpstr>
      <vt:lpstr>PowerPoint Presentation</vt:lpstr>
      <vt:lpstr>PILOT MARKET POTENTIAL - AMMAN </vt:lpstr>
      <vt:lpstr>PILOT MARKET POTENTIAL - AMMAN </vt:lpstr>
      <vt:lpstr>FINANCIAL PROJECTIONS - AMMAN</vt:lpstr>
      <vt:lpstr>BROADER MARKET POTENTIAL </vt:lpstr>
      <vt:lpstr>BROADER MARKET POTENTIAL - GCC </vt:lpstr>
      <vt:lpstr>INVESTMENT REQUIRED </vt:lpstr>
      <vt:lpstr>INVESTMENT REQUIRED – AMMAN  </vt:lpstr>
      <vt:lpstr>EXIT STRATEGY</vt:lpstr>
      <vt:lpstr>TEAM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Rad Al Zubi</dc:creator>
  <cp:lastModifiedBy>Rad Al Zubi</cp:lastModifiedBy>
  <cp:revision>7</cp:revision>
  <dcterms:created xsi:type="dcterms:W3CDTF">2026-01-07T16:15:13Z</dcterms:created>
  <dcterms:modified xsi:type="dcterms:W3CDTF">2026-02-18T21:28:59Z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7606f69-b0ae-4874-be30-7d43a3c7be10_Enabled">
    <vt:lpwstr>true</vt:lpwstr>
  </property>
  <property fmtid="{D5CDD505-2E9C-101B-9397-08002B2CF9AE}" pid="3" name="MSIP_Label_f7606f69-b0ae-4874-be30-7d43a3c7be10_SetDate">
    <vt:lpwstr>2026-01-14T13:34:47Z</vt:lpwstr>
  </property>
  <property fmtid="{D5CDD505-2E9C-101B-9397-08002B2CF9AE}" pid="4" name="MSIP_Label_f7606f69-b0ae-4874-be30-7d43a3c7be10_Method">
    <vt:lpwstr>Privileged</vt:lpwstr>
  </property>
  <property fmtid="{D5CDD505-2E9C-101B-9397-08002B2CF9AE}" pid="5" name="MSIP_Label_f7606f69-b0ae-4874-be30-7d43a3c7be10_Name">
    <vt:lpwstr>defa4170-0d19-0005-0001-bc88714345d2</vt:lpwstr>
  </property>
  <property fmtid="{D5CDD505-2E9C-101B-9397-08002B2CF9AE}" pid="6" name="MSIP_Label_f7606f69-b0ae-4874-be30-7d43a3c7be10_SiteId">
    <vt:lpwstr>4130bd39-7c53-419c-b1e5-8758d6d63f21</vt:lpwstr>
  </property>
  <property fmtid="{D5CDD505-2E9C-101B-9397-08002B2CF9AE}" pid="7" name="MSIP_Label_f7606f69-b0ae-4874-be30-7d43a3c7be10_ActionId">
    <vt:lpwstr>8e451fdc-0e42-42dd-84cc-dc154d3dc4fa</vt:lpwstr>
  </property>
  <property fmtid="{D5CDD505-2E9C-101B-9397-08002B2CF9AE}" pid="8" name="MSIP_Label_f7606f69-b0ae-4874-be30-7d43a3c7be10_ContentBits">
    <vt:lpwstr>0</vt:lpwstr>
  </property>
  <property fmtid="{D5CDD505-2E9C-101B-9397-08002B2CF9AE}" pid="9" name="MSIP_Label_f7606f69-b0ae-4874-be30-7d43a3c7be10_Tag">
    <vt:lpwstr>50, 0, 1, 1</vt:lpwstr>
  </property>
</Properties>
</file>